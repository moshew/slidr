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48" r:id="rId1"/>
  </p:sldMasterIdLst>
  <p:sldIdLst>
    <p:sldId id="256" r:id="rId2"/>
    <p:sldId id="257" r:id="rId3"/>
    <p:sldId id="300" r:id="rId4"/>
    <p:sldId id="302" r:id="rId5"/>
    <p:sldId id="301" r:id="rId6"/>
    <p:sldId id="303" r:id="rId7"/>
    <p:sldId id="304" r:id="rId8"/>
    <p:sldId id="305" r:id="rId9"/>
    <p:sldId id="308" r:id="rId10"/>
    <p:sldId id="307" r:id="rId11"/>
    <p:sldId id="309" r:id="rId12"/>
    <p:sldId id="306" r:id="rId13"/>
    <p:sldId id="310" r:id="rId14"/>
    <p:sldId id="311" r:id="rId15"/>
    <p:sldId id="320" r:id="rId16"/>
    <p:sldId id="313" r:id="rId17"/>
    <p:sldId id="322" r:id="rId18"/>
    <p:sldId id="321" r:id="rId19"/>
    <p:sldId id="314" r:id="rId20"/>
    <p:sldId id="326" r:id="rId21"/>
    <p:sldId id="323" r:id="rId22"/>
    <p:sldId id="325" r:id="rId23"/>
    <p:sldId id="315" r:id="rId24"/>
    <p:sldId id="316" r:id="rId25"/>
    <p:sldId id="317" r:id="rId26"/>
    <p:sldId id="318" r:id="rId27"/>
    <p:sldId id="319" r:id="rId28"/>
  </p:sldIdLst>
  <p:sldSz cx="12192000" cy="6858000"/>
  <p:notesSz cx="6858000" cy="9144000"/>
  <p:defaultText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C99"/>
  </p:clrMru>
  <p:extLst>
    <p:ext uri="{E76CE94A-603C-4142-B9EB-6D1370010A27}">
      <p14:discardImageEditData xmlns:p14="http://schemas.microsoft.com/office/powerpoint/2010/main" val="1"/>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7670" autoAdjust="0"/>
    <p:restoredTop sz="94660"/>
  </p:normalViewPr>
  <p:slideViewPr>
    <p:cSldViewPr snapToGrid="0">
      <p:cViewPr varScale="1">
        <p:scale>
          <a:sx n="78" d="100"/>
          <a:sy n="78" d="100"/>
        </p:scale>
        <p:origin x="1003"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130692B6-CEF3-3113-DFDB-7C500A58CBE3}"/>
              </a:ext>
            </a:extLst>
          </p:cNvPr>
          <p:cNvSpPr>
            <a:spLocks noGrp="1"/>
          </p:cNvSpPr>
          <p:nvPr>
            <p:ph type="ctrTitle"/>
          </p:nvPr>
        </p:nvSpPr>
        <p:spPr>
          <a:xfrm>
            <a:off x="1524000" y="1122363"/>
            <a:ext cx="9144000" cy="2387600"/>
          </a:xfrm>
        </p:spPr>
        <p:txBody>
          <a:bodyPr anchor="b"/>
          <a:lstStyle>
            <a:lvl1pPr algn="ctr">
              <a:defRPr sz="6000"/>
            </a:lvl1pPr>
          </a:lstStyle>
          <a:p>
            <a:r>
              <a:rPr lang="he-IL"/>
              <a:t>לחץ כדי לערוך סגנון כותרת של תבנית בסיס</a:t>
            </a:r>
          </a:p>
        </p:txBody>
      </p:sp>
      <p:sp>
        <p:nvSpPr>
          <p:cNvPr id="3" name="כותרת משנה 2">
            <a:extLst>
              <a:ext uri="{FF2B5EF4-FFF2-40B4-BE49-F238E27FC236}">
                <a16:creationId xmlns:a16="http://schemas.microsoft.com/office/drawing/2014/main" id="{5F0703A0-256B-EEF6-28FC-E8FBFBD8C9C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p>
        </p:txBody>
      </p:sp>
      <p:sp>
        <p:nvSpPr>
          <p:cNvPr id="4" name="מציין מיקום של תאריך 3">
            <a:extLst>
              <a:ext uri="{FF2B5EF4-FFF2-40B4-BE49-F238E27FC236}">
                <a16:creationId xmlns:a16="http://schemas.microsoft.com/office/drawing/2014/main" id="{6EADDA19-458C-995D-DF10-6729DAF667B6}"/>
              </a:ext>
            </a:extLst>
          </p:cNvPr>
          <p:cNvSpPr>
            <a:spLocks noGrp="1"/>
          </p:cNvSpPr>
          <p:nvPr>
            <p:ph type="dt" sz="half" idx="10"/>
          </p:nvPr>
        </p:nvSpPr>
        <p:spPr/>
        <p:txBody>
          <a:bodyPr/>
          <a:lstStyle/>
          <a:p>
            <a:fld id="{93A94A1E-D451-40F7-A36E-882C169B8DAF}" type="datetimeFigureOut">
              <a:rPr lang="he-IL" smtClean="0"/>
              <a:t>כ"ד/אלול/תשפ"ו</a:t>
            </a:fld>
            <a:endParaRPr lang="he-IL"/>
          </a:p>
        </p:txBody>
      </p:sp>
      <p:sp>
        <p:nvSpPr>
          <p:cNvPr id="5" name="מציין מיקום של כותרת תחתונה 4">
            <a:extLst>
              <a:ext uri="{FF2B5EF4-FFF2-40B4-BE49-F238E27FC236}">
                <a16:creationId xmlns:a16="http://schemas.microsoft.com/office/drawing/2014/main" id="{45DA343D-A347-6572-DEA4-33155C47DD81}"/>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7BEDD51E-4B94-1B30-308A-E3BEE3D00B8C}"/>
              </a:ext>
            </a:extLst>
          </p:cNvPr>
          <p:cNvSpPr>
            <a:spLocks noGrp="1"/>
          </p:cNvSpPr>
          <p:nvPr>
            <p:ph type="sldNum" sz="quarter" idx="12"/>
          </p:nvPr>
        </p:nvSpPr>
        <p:spPr/>
        <p:txBody>
          <a:bodyPr/>
          <a:lstStyle/>
          <a:p>
            <a:fld id="{D9471D36-8DC5-449C-AE2E-3283AD525100}" type="slidenum">
              <a:rPr lang="he-IL" smtClean="0"/>
              <a:t>‹#›</a:t>
            </a:fld>
            <a:endParaRPr lang="he-IL"/>
          </a:p>
        </p:txBody>
      </p:sp>
    </p:spTree>
    <p:extLst>
      <p:ext uri="{BB962C8B-B14F-4D97-AF65-F5344CB8AC3E}">
        <p14:creationId xmlns:p14="http://schemas.microsoft.com/office/powerpoint/2010/main" val="1302919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1DA8F299-33BD-87F8-3798-D583768E07DC}"/>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AACCD2F6-B91E-E7F4-0DCA-188D21BFA7F6}"/>
              </a:ext>
            </a:extLst>
          </p:cNvPr>
          <p:cNvSpPr>
            <a:spLocks noGrp="1"/>
          </p:cNvSpPr>
          <p:nvPr>
            <p:ph idx="1"/>
          </p:nvPr>
        </p:nvSpPr>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84B9C8AA-D815-78AE-8A80-11B366A7CB9D}"/>
              </a:ext>
            </a:extLst>
          </p:cNvPr>
          <p:cNvSpPr>
            <a:spLocks noGrp="1"/>
          </p:cNvSpPr>
          <p:nvPr>
            <p:ph type="dt" sz="half" idx="10"/>
          </p:nvPr>
        </p:nvSpPr>
        <p:spPr/>
        <p:txBody>
          <a:bodyPr/>
          <a:lstStyle/>
          <a:p>
            <a:fld id="{93A94A1E-D451-40F7-A36E-882C169B8DAF}" type="datetimeFigureOut">
              <a:rPr lang="he-IL" smtClean="0"/>
              <a:t>כ"ד/אלול/תשפ"ו</a:t>
            </a:fld>
            <a:endParaRPr lang="he-IL"/>
          </a:p>
        </p:txBody>
      </p:sp>
      <p:sp>
        <p:nvSpPr>
          <p:cNvPr id="5" name="מציין מיקום של כותרת תחתונה 4">
            <a:extLst>
              <a:ext uri="{FF2B5EF4-FFF2-40B4-BE49-F238E27FC236}">
                <a16:creationId xmlns:a16="http://schemas.microsoft.com/office/drawing/2014/main" id="{9D96B655-5D16-20B1-653B-7C2BF06F4092}"/>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8EAA63A3-924D-A6B8-0882-6F4E8E2BE261}"/>
              </a:ext>
            </a:extLst>
          </p:cNvPr>
          <p:cNvSpPr>
            <a:spLocks noGrp="1"/>
          </p:cNvSpPr>
          <p:nvPr>
            <p:ph type="sldNum" sz="quarter" idx="12"/>
          </p:nvPr>
        </p:nvSpPr>
        <p:spPr/>
        <p:txBody>
          <a:bodyPr/>
          <a:lstStyle/>
          <a:p>
            <a:fld id="{D9471D36-8DC5-449C-AE2E-3283AD525100}" type="slidenum">
              <a:rPr lang="he-IL" smtClean="0"/>
              <a:t>‹#›</a:t>
            </a:fld>
            <a:endParaRPr lang="he-IL"/>
          </a:p>
        </p:txBody>
      </p:sp>
    </p:spTree>
    <p:extLst>
      <p:ext uri="{BB962C8B-B14F-4D97-AF65-F5344CB8AC3E}">
        <p14:creationId xmlns:p14="http://schemas.microsoft.com/office/powerpoint/2010/main" val="28538724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91CB79AA-917D-6E9E-CF6A-266F03319AE9}"/>
              </a:ext>
            </a:extLst>
          </p:cNvPr>
          <p:cNvSpPr>
            <a:spLocks noGrp="1"/>
          </p:cNvSpPr>
          <p:nvPr>
            <p:ph type="title"/>
          </p:nvPr>
        </p:nvSpPr>
        <p:spPr>
          <a:xfrm>
            <a:off x="831850" y="1709738"/>
            <a:ext cx="10515600" cy="2852737"/>
          </a:xfrm>
        </p:spPr>
        <p:txBody>
          <a:bodyPr anchor="b"/>
          <a:lstStyle>
            <a:lvl1pPr>
              <a:defRPr sz="6000"/>
            </a:lvl1p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046BF831-BD22-8D0A-DF79-56FCDF51959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he-IL"/>
              <a:t>לחץ כדי לערוך סגנונות טקסט של תבנית בסיס</a:t>
            </a:r>
          </a:p>
        </p:txBody>
      </p:sp>
      <p:sp>
        <p:nvSpPr>
          <p:cNvPr id="4" name="מציין מיקום של תאריך 3">
            <a:extLst>
              <a:ext uri="{FF2B5EF4-FFF2-40B4-BE49-F238E27FC236}">
                <a16:creationId xmlns:a16="http://schemas.microsoft.com/office/drawing/2014/main" id="{B0DC4BC2-9493-C9AF-E29F-160E9820E4D2}"/>
              </a:ext>
            </a:extLst>
          </p:cNvPr>
          <p:cNvSpPr>
            <a:spLocks noGrp="1"/>
          </p:cNvSpPr>
          <p:nvPr>
            <p:ph type="dt" sz="half" idx="10"/>
          </p:nvPr>
        </p:nvSpPr>
        <p:spPr/>
        <p:txBody>
          <a:bodyPr/>
          <a:lstStyle/>
          <a:p>
            <a:fld id="{93A94A1E-D451-40F7-A36E-882C169B8DAF}" type="datetimeFigureOut">
              <a:rPr lang="he-IL" smtClean="0"/>
              <a:t>כ"ד/אלול/תשפ"ו</a:t>
            </a:fld>
            <a:endParaRPr lang="he-IL"/>
          </a:p>
        </p:txBody>
      </p:sp>
      <p:sp>
        <p:nvSpPr>
          <p:cNvPr id="5" name="מציין מיקום של כותרת תחתונה 4">
            <a:extLst>
              <a:ext uri="{FF2B5EF4-FFF2-40B4-BE49-F238E27FC236}">
                <a16:creationId xmlns:a16="http://schemas.microsoft.com/office/drawing/2014/main" id="{DD42C207-EC0A-DA69-19A1-D65B4B7EB210}"/>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8FD9CD19-FE38-1DAC-82ED-2281B51E6CDD}"/>
              </a:ext>
            </a:extLst>
          </p:cNvPr>
          <p:cNvSpPr>
            <a:spLocks noGrp="1"/>
          </p:cNvSpPr>
          <p:nvPr>
            <p:ph type="sldNum" sz="quarter" idx="12"/>
          </p:nvPr>
        </p:nvSpPr>
        <p:spPr/>
        <p:txBody>
          <a:bodyPr/>
          <a:lstStyle/>
          <a:p>
            <a:fld id="{D9471D36-8DC5-449C-AE2E-3283AD525100}" type="slidenum">
              <a:rPr lang="he-IL" smtClean="0"/>
              <a:t>‹#›</a:t>
            </a:fld>
            <a:endParaRPr lang="he-IL"/>
          </a:p>
        </p:txBody>
      </p:sp>
    </p:spTree>
    <p:extLst>
      <p:ext uri="{BB962C8B-B14F-4D97-AF65-F5344CB8AC3E}">
        <p14:creationId xmlns:p14="http://schemas.microsoft.com/office/powerpoint/2010/main" val="21224650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07E8A617-9E20-D185-5691-7BCB9D526838}"/>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C888E887-BB67-B3AB-A576-D10EA35D8B05}"/>
              </a:ext>
            </a:extLst>
          </p:cNvPr>
          <p:cNvSpPr>
            <a:spLocks noGrp="1"/>
          </p:cNvSpPr>
          <p:nvPr>
            <p:ph sz="half" idx="1"/>
          </p:nvPr>
        </p:nvSpPr>
        <p:spPr>
          <a:xfrm>
            <a:off x="838200" y="1825625"/>
            <a:ext cx="5181600" cy="435133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תוכן 3">
            <a:extLst>
              <a:ext uri="{FF2B5EF4-FFF2-40B4-BE49-F238E27FC236}">
                <a16:creationId xmlns:a16="http://schemas.microsoft.com/office/drawing/2014/main" id="{B3035EEB-B93C-8FAD-0BF8-4037DC8B113E}"/>
              </a:ext>
            </a:extLst>
          </p:cNvPr>
          <p:cNvSpPr>
            <a:spLocks noGrp="1"/>
          </p:cNvSpPr>
          <p:nvPr>
            <p:ph sz="half" idx="2"/>
          </p:nvPr>
        </p:nvSpPr>
        <p:spPr>
          <a:xfrm>
            <a:off x="6172200" y="1825625"/>
            <a:ext cx="5181600" cy="435133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5" name="מציין מיקום של תאריך 4">
            <a:extLst>
              <a:ext uri="{FF2B5EF4-FFF2-40B4-BE49-F238E27FC236}">
                <a16:creationId xmlns:a16="http://schemas.microsoft.com/office/drawing/2014/main" id="{30FE774A-C553-D612-07C5-176264962180}"/>
              </a:ext>
            </a:extLst>
          </p:cNvPr>
          <p:cNvSpPr>
            <a:spLocks noGrp="1"/>
          </p:cNvSpPr>
          <p:nvPr>
            <p:ph type="dt" sz="half" idx="10"/>
          </p:nvPr>
        </p:nvSpPr>
        <p:spPr/>
        <p:txBody>
          <a:bodyPr/>
          <a:lstStyle/>
          <a:p>
            <a:fld id="{93A94A1E-D451-40F7-A36E-882C169B8DAF}" type="datetimeFigureOut">
              <a:rPr lang="he-IL" smtClean="0"/>
              <a:t>כ"ד/אלול/תשפ"ו</a:t>
            </a:fld>
            <a:endParaRPr lang="he-IL"/>
          </a:p>
        </p:txBody>
      </p:sp>
      <p:sp>
        <p:nvSpPr>
          <p:cNvPr id="6" name="מציין מיקום של כותרת תחתונה 5">
            <a:extLst>
              <a:ext uri="{FF2B5EF4-FFF2-40B4-BE49-F238E27FC236}">
                <a16:creationId xmlns:a16="http://schemas.microsoft.com/office/drawing/2014/main" id="{15FFF55A-4317-3BCB-B95A-0FD31D505F7A}"/>
              </a:ext>
            </a:extLst>
          </p:cNvPr>
          <p:cNvSpPr>
            <a:spLocks noGrp="1"/>
          </p:cNvSpPr>
          <p:nvPr>
            <p:ph type="ftr" sz="quarter" idx="11"/>
          </p:nvPr>
        </p:nvSpPr>
        <p:spPr/>
        <p:txBody>
          <a:bodyPr/>
          <a:lstStyle/>
          <a:p>
            <a:endParaRPr lang="he-IL"/>
          </a:p>
        </p:txBody>
      </p:sp>
      <p:sp>
        <p:nvSpPr>
          <p:cNvPr id="7" name="מציין מיקום של מספר שקופית 6">
            <a:extLst>
              <a:ext uri="{FF2B5EF4-FFF2-40B4-BE49-F238E27FC236}">
                <a16:creationId xmlns:a16="http://schemas.microsoft.com/office/drawing/2014/main" id="{B90C6439-7C6E-3B05-1E6C-EE72CAE43C18}"/>
              </a:ext>
            </a:extLst>
          </p:cNvPr>
          <p:cNvSpPr>
            <a:spLocks noGrp="1"/>
          </p:cNvSpPr>
          <p:nvPr>
            <p:ph type="sldNum" sz="quarter" idx="12"/>
          </p:nvPr>
        </p:nvSpPr>
        <p:spPr/>
        <p:txBody>
          <a:bodyPr/>
          <a:lstStyle/>
          <a:p>
            <a:fld id="{D9471D36-8DC5-449C-AE2E-3283AD525100}" type="slidenum">
              <a:rPr lang="he-IL" smtClean="0"/>
              <a:t>‹#›</a:t>
            </a:fld>
            <a:endParaRPr lang="he-IL"/>
          </a:p>
        </p:txBody>
      </p:sp>
    </p:spTree>
    <p:extLst>
      <p:ext uri="{BB962C8B-B14F-4D97-AF65-F5344CB8AC3E}">
        <p14:creationId xmlns:p14="http://schemas.microsoft.com/office/powerpoint/2010/main" val="23431656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C1F6B9A2-97D9-6B76-E8BB-9C8784B51454}"/>
              </a:ext>
            </a:extLst>
          </p:cNvPr>
          <p:cNvSpPr>
            <a:spLocks noGrp="1"/>
          </p:cNvSpPr>
          <p:nvPr>
            <p:ph type="title"/>
          </p:nvPr>
        </p:nvSpPr>
        <p:spPr>
          <a:xfrm>
            <a:off x="839788" y="365125"/>
            <a:ext cx="10515600" cy="1325563"/>
          </a:xfrm>
        </p:spPr>
        <p:txBody>
          <a:body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FE78A440-4A42-FBAC-80C3-E702710436A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4" name="מציין מיקום תוכן 3">
            <a:extLst>
              <a:ext uri="{FF2B5EF4-FFF2-40B4-BE49-F238E27FC236}">
                <a16:creationId xmlns:a16="http://schemas.microsoft.com/office/drawing/2014/main" id="{95AF17A7-C8F2-DE92-B506-6F7E9945B73D}"/>
              </a:ext>
            </a:extLst>
          </p:cNvPr>
          <p:cNvSpPr>
            <a:spLocks noGrp="1"/>
          </p:cNvSpPr>
          <p:nvPr>
            <p:ph sz="half" idx="2"/>
          </p:nvPr>
        </p:nvSpPr>
        <p:spPr>
          <a:xfrm>
            <a:off x="839788" y="2505075"/>
            <a:ext cx="5157787" cy="368458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5" name="מציין מיקום טקסט 4">
            <a:extLst>
              <a:ext uri="{FF2B5EF4-FFF2-40B4-BE49-F238E27FC236}">
                <a16:creationId xmlns:a16="http://schemas.microsoft.com/office/drawing/2014/main" id="{28A0891B-14F3-B809-20BC-DF743B950C9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6" name="מציין מיקום תוכן 5">
            <a:extLst>
              <a:ext uri="{FF2B5EF4-FFF2-40B4-BE49-F238E27FC236}">
                <a16:creationId xmlns:a16="http://schemas.microsoft.com/office/drawing/2014/main" id="{526B29FE-A01F-2B8E-0EF5-CF97CCC46EBD}"/>
              </a:ext>
            </a:extLst>
          </p:cNvPr>
          <p:cNvSpPr>
            <a:spLocks noGrp="1"/>
          </p:cNvSpPr>
          <p:nvPr>
            <p:ph sz="quarter" idx="4"/>
          </p:nvPr>
        </p:nvSpPr>
        <p:spPr>
          <a:xfrm>
            <a:off x="6172200" y="2505075"/>
            <a:ext cx="5183188" cy="368458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7" name="מציין מיקום של תאריך 6">
            <a:extLst>
              <a:ext uri="{FF2B5EF4-FFF2-40B4-BE49-F238E27FC236}">
                <a16:creationId xmlns:a16="http://schemas.microsoft.com/office/drawing/2014/main" id="{6B63FA8A-A790-930B-4798-2F38A2C34D05}"/>
              </a:ext>
            </a:extLst>
          </p:cNvPr>
          <p:cNvSpPr>
            <a:spLocks noGrp="1"/>
          </p:cNvSpPr>
          <p:nvPr>
            <p:ph type="dt" sz="half" idx="10"/>
          </p:nvPr>
        </p:nvSpPr>
        <p:spPr/>
        <p:txBody>
          <a:bodyPr/>
          <a:lstStyle/>
          <a:p>
            <a:fld id="{93A94A1E-D451-40F7-A36E-882C169B8DAF}" type="datetimeFigureOut">
              <a:rPr lang="he-IL" smtClean="0"/>
              <a:t>כ"ד/אלול/תשפ"ו</a:t>
            </a:fld>
            <a:endParaRPr lang="he-IL"/>
          </a:p>
        </p:txBody>
      </p:sp>
      <p:sp>
        <p:nvSpPr>
          <p:cNvPr id="8" name="מציין מיקום של כותרת תחתונה 7">
            <a:extLst>
              <a:ext uri="{FF2B5EF4-FFF2-40B4-BE49-F238E27FC236}">
                <a16:creationId xmlns:a16="http://schemas.microsoft.com/office/drawing/2014/main" id="{B05B4181-194D-C7BB-CB44-178BEAFBF114}"/>
              </a:ext>
            </a:extLst>
          </p:cNvPr>
          <p:cNvSpPr>
            <a:spLocks noGrp="1"/>
          </p:cNvSpPr>
          <p:nvPr>
            <p:ph type="ftr" sz="quarter" idx="11"/>
          </p:nvPr>
        </p:nvSpPr>
        <p:spPr/>
        <p:txBody>
          <a:bodyPr/>
          <a:lstStyle/>
          <a:p>
            <a:endParaRPr lang="he-IL"/>
          </a:p>
        </p:txBody>
      </p:sp>
      <p:sp>
        <p:nvSpPr>
          <p:cNvPr id="9" name="מציין מיקום של מספר שקופית 8">
            <a:extLst>
              <a:ext uri="{FF2B5EF4-FFF2-40B4-BE49-F238E27FC236}">
                <a16:creationId xmlns:a16="http://schemas.microsoft.com/office/drawing/2014/main" id="{7900D17A-4EAE-7C31-49DC-4D537642BB38}"/>
              </a:ext>
            </a:extLst>
          </p:cNvPr>
          <p:cNvSpPr>
            <a:spLocks noGrp="1"/>
          </p:cNvSpPr>
          <p:nvPr>
            <p:ph type="sldNum" sz="quarter" idx="12"/>
          </p:nvPr>
        </p:nvSpPr>
        <p:spPr/>
        <p:txBody>
          <a:bodyPr/>
          <a:lstStyle/>
          <a:p>
            <a:fld id="{D9471D36-8DC5-449C-AE2E-3283AD525100}" type="slidenum">
              <a:rPr lang="he-IL" smtClean="0"/>
              <a:t>‹#›</a:t>
            </a:fld>
            <a:endParaRPr lang="he-IL"/>
          </a:p>
        </p:txBody>
      </p:sp>
    </p:spTree>
    <p:extLst>
      <p:ext uri="{BB962C8B-B14F-4D97-AF65-F5344CB8AC3E}">
        <p14:creationId xmlns:p14="http://schemas.microsoft.com/office/powerpoint/2010/main" val="17465858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B36E33A8-DB45-0E97-9D18-B7B69D2C22F4}"/>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של תאריך 2">
            <a:extLst>
              <a:ext uri="{FF2B5EF4-FFF2-40B4-BE49-F238E27FC236}">
                <a16:creationId xmlns:a16="http://schemas.microsoft.com/office/drawing/2014/main" id="{6044463D-3D07-2687-B348-09AE950E330E}"/>
              </a:ext>
            </a:extLst>
          </p:cNvPr>
          <p:cNvSpPr>
            <a:spLocks noGrp="1"/>
          </p:cNvSpPr>
          <p:nvPr>
            <p:ph type="dt" sz="half" idx="10"/>
          </p:nvPr>
        </p:nvSpPr>
        <p:spPr/>
        <p:txBody>
          <a:bodyPr/>
          <a:lstStyle/>
          <a:p>
            <a:fld id="{93A94A1E-D451-40F7-A36E-882C169B8DAF}" type="datetimeFigureOut">
              <a:rPr lang="he-IL" smtClean="0"/>
              <a:t>כ"ד/אלול/תשפ"ו</a:t>
            </a:fld>
            <a:endParaRPr lang="he-IL"/>
          </a:p>
        </p:txBody>
      </p:sp>
      <p:sp>
        <p:nvSpPr>
          <p:cNvPr id="4" name="מציין מיקום של כותרת תחתונה 3">
            <a:extLst>
              <a:ext uri="{FF2B5EF4-FFF2-40B4-BE49-F238E27FC236}">
                <a16:creationId xmlns:a16="http://schemas.microsoft.com/office/drawing/2014/main" id="{3533BFB4-42B9-3C91-E38B-B306E328AAAB}"/>
              </a:ext>
            </a:extLst>
          </p:cNvPr>
          <p:cNvSpPr>
            <a:spLocks noGrp="1"/>
          </p:cNvSpPr>
          <p:nvPr>
            <p:ph type="ftr" sz="quarter" idx="11"/>
          </p:nvPr>
        </p:nvSpPr>
        <p:spPr/>
        <p:txBody>
          <a:bodyPr/>
          <a:lstStyle/>
          <a:p>
            <a:endParaRPr lang="he-IL"/>
          </a:p>
        </p:txBody>
      </p:sp>
      <p:sp>
        <p:nvSpPr>
          <p:cNvPr id="5" name="מציין מיקום של מספר שקופית 4">
            <a:extLst>
              <a:ext uri="{FF2B5EF4-FFF2-40B4-BE49-F238E27FC236}">
                <a16:creationId xmlns:a16="http://schemas.microsoft.com/office/drawing/2014/main" id="{ED587446-AFFF-F4E1-E565-09ADC1DA67C6}"/>
              </a:ext>
            </a:extLst>
          </p:cNvPr>
          <p:cNvSpPr>
            <a:spLocks noGrp="1"/>
          </p:cNvSpPr>
          <p:nvPr>
            <p:ph type="sldNum" sz="quarter" idx="12"/>
          </p:nvPr>
        </p:nvSpPr>
        <p:spPr/>
        <p:txBody>
          <a:bodyPr/>
          <a:lstStyle/>
          <a:p>
            <a:fld id="{D9471D36-8DC5-449C-AE2E-3283AD525100}" type="slidenum">
              <a:rPr lang="he-IL" smtClean="0"/>
              <a:t>‹#›</a:t>
            </a:fld>
            <a:endParaRPr lang="he-IL"/>
          </a:p>
        </p:txBody>
      </p:sp>
    </p:spTree>
    <p:extLst>
      <p:ext uri="{BB962C8B-B14F-4D97-AF65-F5344CB8AC3E}">
        <p14:creationId xmlns:p14="http://schemas.microsoft.com/office/powerpoint/2010/main" val="37972954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מציין מיקום של תאריך 1">
            <a:extLst>
              <a:ext uri="{FF2B5EF4-FFF2-40B4-BE49-F238E27FC236}">
                <a16:creationId xmlns:a16="http://schemas.microsoft.com/office/drawing/2014/main" id="{03083E20-7527-A3C6-3A0C-59BACA587C56}"/>
              </a:ext>
            </a:extLst>
          </p:cNvPr>
          <p:cNvSpPr>
            <a:spLocks noGrp="1"/>
          </p:cNvSpPr>
          <p:nvPr>
            <p:ph type="dt" sz="half" idx="10"/>
          </p:nvPr>
        </p:nvSpPr>
        <p:spPr/>
        <p:txBody>
          <a:bodyPr/>
          <a:lstStyle/>
          <a:p>
            <a:fld id="{93A94A1E-D451-40F7-A36E-882C169B8DAF}" type="datetimeFigureOut">
              <a:rPr lang="he-IL" smtClean="0"/>
              <a:t>כ"ד/אלול/תשפ"ו</a:t>
            </a:fld>
            <a:endParaRPr lang="he-IL"/>
          </a:p>
        </p:txBody>
      </p:sp>
      <p:sp>
        <p:nvSpPr>
          <p:cNvPr id="3" name="מציין מיקום של כותרת תחתונה 2">
            <a:extLst>
              <a:ext uri="{FF2B5EF4-FFF2-40B4-BE49-F238E27FC236}">
                <a16:creationId xmlns:a16="http://schemas.microsoft.com/office/drawing/2014/main" id="{80B7A57D-DF60-6473-1FC6-FD11DF4303C3}"/>
              </a:ext>
            </a:extLst>
          </p:cNvPr>
          <p:cNvSpPr>
            <a:spLocks noGrp="1"/>
          </p:cNvSpPr>
          <p:nvPr>
            <p:ph type="ftr" sz="quarter" idx="11"/>
          </p:nvPr>
        </p:nvSpPr>
        <p:spPr/>
        <p:txBody>
          <a:bodyPr/>
          <a:lstStyle/>
          <a:p>
            <a:endParaRPr lang="he-IL"/>
          </a:p>
        </p:txBody>
      </p:sp>
      <p:sp>
        <p:nvSpPr>
          <p:cNvPr id="4" name="מציין מיקום של מספר שקופית 3">
            <a:extLst>
              <a:ext uri="{FF2B5EF4-FFF2-40B4-BE49-F238E27FC236}">
                <a16:creationId xmlns:a16="http://schemas.microsoft.com/office/drawing/2014/main" id="{B001E41E-0364-7C72-6C8A-964AC35654A1}"/>
              </a:ext>
            </a:extLst>
          </p:cNvPr>
          <p:cNvSpPr>
            <a:spLocks noGrp="1"/>
          </p:cNvSpPr>
          <p:nvPr>
            <p:ph type="sldNum" sz="quarter" idx="12"/>
          </p:nvPr>
        </p:nvSpPr>
        <p:spPr/>
        <p:txBody>
          <a:bodyPr/>
          <a:lstStyle/>
          <a:p>
            <a:fld id="{D9471D36-8DC5-449C-AE2E-3283AD525100}" type="slidenum">
              <a:rPr lang="he-IL" smtClean="0"/>
              <a:t>‹#›</a:t>
            </a:fld>
            <a:endParaRPr lang="he-IL"/>
          </a:p>
        </p:txBody>
      </p:sp>
    </p:spTree>
    <p:extLst>
      <p:ext uri="{BB962C8B-B14F-4D97-AF65-F5344CB8AC3E}">
        <p14:creationId xmlns:p14="http://schemas.microsoft.com/office/powerpoint/2010/main" val="24135841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FE9DFCD2-19BA-B26F-E264-18A95D7B10BD}"/>
              </a:ext>
            </a:extLst>
          </p:cNvPr>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5552E03E-EC7B-9A6C-9072-CAF6A835A99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טקסט 3">
            <a:extLst>
              <a:ext uri="{FF2B5EF4-FFF2-40B4-BE49-F238E27FC236}">
                <a16:creationId xmlns:a16="http://schemas.microsoft.com/office/drawing/2014/main" id="{08066F95-78C5-A108-96D2-373ACAD7FE2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מציין מיקום של תאריך 4">
            <a:extLst>
              <a:ext uri="{FF2B5EF4-FFF2-40B4-BE49-F238E27FC236}">
                <a16:creationId xmlns:a16="http://schemas.microsoft.com/office/drawing/2014/main" id="{92F9A0E3-6E85-AB98-FCC7-7D1D31C367A8}"/>
              </a:ext>
            </a:extLst>
          </p:cNvPr>
          <p:cNvSpPr>
            <a:spLocks noGrp="1"/>
          </p:cNvSpPr>
          <p:nvPr>
            <p:ph type="dt" sz="half" idx="10"/>
          </p:nvPr>
        </p:nvSpPr>
        <p:spPr/>
        <p:txBody>
          <a:bodyPr/>
          <a:lstStyle/>
          <a:p>
            <a:fld id="{93A94A1E-D451-40F7-A36E-882C169B8DAF}" type="datetimeFigureOut">
              <a:rPr lang="he-IL" smtClean="0"/>
              <a:t>כ"ד/אלול/תשפ"ו</a:t>
            </a:fld>
            <a:endParaRPr lang="he-IL"/>
          </a:p>
        </p:txBody>
      </p:sp>
      <p:sp>
        <p:nvSpPr>
          <p:cNvPr id="6" name="מציין מיקום של כותרת תחתונה 5">
            <a:extLst>
              <a:ext uri="{FF2B5EF4-FFF2-40B4-BE49-F238E27FC236}">
                <a16:creationId xmlns:a16="http://schemas.microsoft.com/office/drawing/2014/main" id="{D8A94EF1-BF68-E8E6-7860-06078857D79E}"/>
              </a:ext>
            </a:extLst>
          </p:cNvPr>
          <p:cNvSpPr>
            <a:spLocks noGrp="1"/>
          </p:cNvSpPr>
          <p:nvPr>
            <p:ph type="ftr" sz="quarter" idx="11"/>
          </p:nvPr>
        </p:nvSpPr>
        <p:spPr/>
        <p:txBody>
          <a:bodyPr/>
          <a:lstStyle/>
          <a:p>
            <a:endParaRPr lang="he-IL"/>
          </a:p>
        </p:txBody>
      </p:sp>
      <p:sp>
        <p:nvSpPr>
          <p:cNvPr id="7" name="מציין מיקום של מספר שקופית 6">
            <a:extLst>
              <a:ext uri="{FF2B5EF4-FFF2-40B4-BE49-F238E27FC236}">
                <a16:creationId xmlns:a16="http://schemas.microsoft.com/office/drawing/2014/main" id="{FB89B643-4E93-1939-CA8C-511D90C6D530}"/>
              </a:ext>
            </a:extLst>
          </p:cNvPr>
          <p:cNvSpPr>
            <a:spLocks noGrp="1"/>
          </p:cNvSpPr>
          <p:nvPr>
            <p:ph type="sldNum" sz="quarter" idx="12"/>
          </p:nvPr>
        </p:nvSpPr>
        <p:spPr/>
        <p:txBody>
          <a:bodyPr/>
          <a:lstStyle/>
          <a:p>
            <a:fld id="{D9471D36-8DC5-449C-AE2E-3283AD525100}" type="slidenum">
              <a:rPr lang="he-IL" smtClean="0"/>
              <a:t>‹#›</a:t>
            </a:fld>
            <a:endParaRPr lang="he-IL"/>
          </a:p>
        </p:txBody>
      </p:sp>
    </p:spTree>
    <p:extLst>
      <p:ext uri="{BB962C8B-B14F-4D97-AF65-F5344CB8AC3E}">
        <p14:creationId xmlns:p14="http://schemas.microsoft.com/office/powerpoint/2010/main" val="13365457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28AAEE02-12EB-2F80-EBF3-47B987A194A1}"/>
              </a:ext>
            </a:extLst>
          </p:cNvPr>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של תמונה 2">
            <a:extLst>
              <a:ext uri="{FF2B5EF4-FFF2-40B4-BE49-F238E27FC236}">
                <a16:creationId xmlns:a16="http://schemas.microsoft.com/office/drawing/2014/main" id="{03560CAC-5160-0C26-BA85-7282FAE66BB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e-IL"/>
          </a:p>
        </p:txBody>
      </p:sp>
      <p:sp>
        <p:nvSpPr>
          <p:cNvPr id="4" name="מציין מיקום טקסט 3">
            <a:extLst>
              <a:ext uri="{FF2B5EF4-FFF2-40B4-BE49-F238E27FC236}">
                <a16:creationId xmlns:a16="http://schemas.microsoft.com/office/drawing/2014/main" id="{541675ED-93BA-8FC4-B0AB-060E69406F1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מציין מיקום של תאריך 4">
            <a:extLst>
              <a:ext uri="{FF2B5EF4-FFF2-40B4-BE49-F238E27FC236}">
                <a16:creationId xmlns:a16="http://schemas.microsoft.com/office/drawing/2014/main" id="{018BC105-85D6-910E-DCBF-F741BC5D2735}"/>
              </a:ext>
            </a:extLst>
          </p:cNvPr>
          <p:cNvSpPr>
            <a:spLocks noGrp="1"/>
          </p:cNvSpPr>
          <p:nvPr>
            <p:ph type="dt" sz="half" idx="10"/>
          </p:nvPr>
        </p:nvSpPr>
        <p:spPr/>
        <p:txBody>
          <a:bodyPr/>
          <a:lstStyle/>
          <a:p>
            <a:fld id="{93A94A1E-D451-40F7-A36E-882C169B8DAF}" type="datetimeFigureOut">
              <a:rPr lang="he-IL" smtClean="0"/>
              <a:t>כ"ד/אלול/תשפ"ו</a:t>
            </a:fld>
            <a:endParaRPr lang="he-IL"/>
          </a:p>
        </p:txBody>
      </p:sp>
      <p:sp>
        <p:nvSpPr>
          <p:cNvPr id="6" name="מציין מיקום של כותרת תחתונה 5">
            <a:extLst>
              <a:ext uri="{FF2B5EF4-FFF2-40B4-BE49-F238E27FC236}">
                <a16:creationId xmlns:a16="http://schemas.microsoft.com/office/drawing/2014/main" id="{9A725708-5B86-2884-BDD7-794BF0CD1498}"/>
              </a:ext>
            </a:extLst>
          </p:cNvPr>
          <p:cNvSpPr>
            <a:spLocks noGrp="1"/>
          </p:cNvSpPr>
          <p:nvPr>
            <p:ph type="ftr" sz="quarter" idx="11"/>
          </p:nvPr>
        </p:nvSpPr>
        <p:spPr/>
        <p:txBody>
          <a:bodyPr/>
          <a:lstStyle/>
          <a:p>
            <a:endParaRPr lang="he-IL"/>
          </a:p>
        </p:txBody>
      </p:sp>
      <p:sp>
        <p:nvSpPr>
          <p:cNvPr id="7" name="מציין מיקום של מספר שקופית 6">
            <a:extLst>
              <a:ext uri="{FF2B5EF4-FFF2-40B4-BE49-F238E27FC236}">
                <a16:creationId xmlns:a16="http://schemas.microsoft.com/office/drawing/2014/main" id="{B095FEFC-C915-D690-6FC9-81B3CB4148F5}"/>
              </a:ext>
            </a:extLst>
          </p:cNvPr>
          <p:cNvSpPr>
            <a:spLocks noGrp="1"/>
          </p:cNvSpPr>
          <p:nvPr>
            <p:ph type="sldNum" sz="quarter" idx="12"/>
          </p:nvPr>
        </p:nvSpPr>
        <p:spPr/>
        <p:txBody>
          <a:bodyPr/>
          <a:lstStyle/>
          <a:p>
            <a:fld id="{D9471D36-8DC5-449C-AE2E-3283AD525100}" type="slidenum">
              <a:rPr lang="he-IL" smtClean="0"/>
              <a:t>‹#›</a:t>
            </a:fld>
            <a:endParaRPr lang="he-IL"/>
          </a:p>
        </p:txBody>
      </p:sp>
    </p:spTree>
    <p:extLst>
      <p:ext uri="{BB962C8B-B14F-4D97-AF65-F5344CB8AC3E}">
        <p14:creationId xmlns:p14="http://schemas.microsoft.com/office/powerpoint/2010/main" val="33801089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EAB2B513-612A-C612-C5D3-EBE14A6FBD14}"/>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של טקסט אנכי 2">
            <a:extLst>
              <a:ext uri="{FF2B5EF4-FFF2-40B4-BE49-F238E27FC236}">
                <a16:creationId xmlns:a16="http://schemas.microsoft.com/office/drawing/2014/main" id="{7770082D-2219-F6C1-8B6A-6E2F21E09055}"/>
              </a:ext>
            </a:extLst>
          </p:cNvPr>
          <p:cNvSpPr>
            <a:spLocks noGrp="1"/>
          </p:cNvSpPr>
          <p:nvPr>
            <p:ph type="body" orient="vert" idx="1"/>
          </p:nvPr>
        </p:nvSpPr>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19207880-EB2F-1B73-9141-C82E0A067E6F}"/>
              </a:ext>
            </a:extLst>
          </p:cNvPr>
          <p:cNvSpPr>
            <a:spLocks noGrp="1"/>
          </p:cNvSpPr>
          <p:nvPr>
            <p:ph type="dt" sz="half" idx="10"/>
          </p:nvPr>
        </p:nvSpPr>
        <p:spPr/>
        <p:txBody>
          <a:bodyPr/>
          <a:lstStyle/>
          <a:p>
            <a:fld id="{93A94A1E-D451-40F7-A36E-882C169B8DAF}" type="datetimeFigureOut">
              <a:rPr lang="he-IL" smtClean="0"/>
              <a:t>כ"ד/אלול/תשפ"ו</a:t>
            </a:fld>
            <a:endParaRPr lang="he-IL"/>
          </a:p>
        </p:txBody>
      </p:sp>
      <p:sp>
        <p:nvSpPr>
          <p:cNvPr id="5" name="מציין מיקום של כותרת תחתונה 4">
            <a:extLst>
              <a:ext uri="{FF2B5EF4-FFF2-40B4-BE49-F238E27FC236}">
                <a16:creationId xmlns:a16="http://schemas.microsoft.com/office/drawing/2014/main" id="{850E4CB4-8016-C1FF-48DA-04184138F1C0}"/>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7677789F-94B0-ACE9-EE58-B4B9E984666F}"/>
              </a:ext>
            </a:extLst>
          </p:cNvPr>
          <p:cNvSpPr>
            <a:spLocks noGrp="1"/>
          </p:cNvSpPr>
          <p:nvPr>
            <p:ph type="sldNum" sz="quarter" idx="12"/>
          </p:nvPr>
        </p:nvSpPr>
        <p:spPr/>
        <p:txBody>
          <a:bodyPr/>
          <a:lstStyle/>
          <a:p>
            <a:fld id="{D9471D36-8DC5-449C-AE2E-3283AD525100}" type="slidenum">
              <a:rPr lang="he-IL" smtClean="0"/>
              <a:t>‹#›</a:t>
            </a:fld>
            <a:endParaRPr lang="he-IL"/>
          </a:p>
        </p:txBody>
      </p:sp>
    </p:spTree>
    <p:extLst>
      <p:ext uri="{BB962C8B-B14F-4D97-AF65-F5344CB8AC3E}">
        <p14:creationId xmlns:p14="http://schemas.microsoft.com/office/powerpoint/2010/main" val="20000026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כותרת אנכית 1">
            <a:extLst>
              <a:ext uri="{FF2B5EF4-FFF2-40B4-BE49-F238E27FC236}">
                <a16:creationId xmlns:a16="http://schemas.microsoft.com/office/drawing/2014/main" id="{36B48C87-A893-29E3-6952-0F6019A20CC6}"/>
              </a:ext>
            </a:extLst>
          </p:cNvPr>
          <p:cNvSpPr>
            <a:spLocks noGrp="1"/>
          </p:cNvSpPr>
          <p:nvPr>
            <p:ph type="title" orient="vert"/>
          </p:nvPr>
        </p:nvSpPr>
        <p:spPr>
          <a:xfrm>
            <a:off x="8724900" y="365125"/>
            <a:ext cx="2628900" cy="5811838"/>
          </a:xfrm>
        </p:spPr>
        <p:txBody>
          <a:bodyPr vert="eaVert"/>
          <a:lstStyle/>
          <a:p>
            <a:r>
              <a:rPr lang="he-IL"/>
              <a:t>לחץ כדי לערוך סגנון כותרת של תבנית בסיס</a:t>
            </a:r>
          </a:p>
        </p:txBody>
      </p:sp>
      <p:sp>
        <p:nvSpPr>
          <p:cNvPr id="3" name="מציין מיקום של טקסט אנכי 2">
            <a:extLst>
              <a:ext uri="{FF2B5EF4-FFF2-40B4-BE49-F238E27FC236}">
                <a16:creationId xmlns:a16="http://schemas.microsoft.com/office/drawing/2014/main" id="{8E25FB3C-FB72-61C2-7211-76BFFD3D3C05}"/>
              </a:ext>
            </a:extLst>
          </p:cNvPr>
          <p:cNvSpPr>
            <a:spLocks noGrp="1"/>
          </p:cNvSpPr>
          <p:nvPr>
            <p:ph type="body" orient="vert" idx="1"/>
          </p:nvPr>
        </p:nvSpPr>
        <p:spPr>
          <a:xfrm>
            <a:off x="838200" y="365125"/>
            <a:ext cx="7734300" cy="5811838"/>
          </a:xfrm>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040568D3-25A2-C9A2-0D4B-84898B257AE8}"/>
              </a:ext>
            </a:extLst>
          </p:cNvPr>
          <p:cNvSpPr>
            <a:spLocks noGrp="1"/>
          </p:cNvSpPr>
          <p:nvPr>
            <p:ph type="dt" sz="half" idx="10"/>
          </p:nvPr>
        </p:nvSpPr>
        <p:spPr/>
        <p:txBody>
          <a:bodyPr/>
          <a:lstStyle/>
          <a:p>
            <a:fld id="{93A94A1E-D451-40F7-A36E-882C169B8DAF}" type="datetimeFigureOut">
              <a:rPr lang="he-IL" smtClean="0"/>
              <a:t>כ"ד/אלול/תשפ"ו</a:t>
            </a:fld>
            <a:endParaRPr lang="he-IL"/>
          </a:p>
        </p:txBody>
      </p:sp>
      <p:sp>
        <p:nvSpPr>
          <p:cNvPr id="5" name="מציין מיקום של כותרת תחתונה 4">
            <a:extLst>
              <a:ext uri="{FF2B5EF4-FFF2-40B4-BE49-F238E27FC236}">
                <a16:creationId xmlns:a16="http://schemas.microsoft.com/office/drawing/2014/main" id="{E26A649A-A594-E6CF-6EDB-BCA798DCD988}"/>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FD75AC6C-B785-2572-E4A3-71334BC01683}"/>
              </a:ext>
            </a:extLst>
          </p:cNvPr>
          <p:cNvSpPr>
            <a:spLocks noGrp="1"/>
          </p:cNvSpPr>
          <p:nvPr>
            <p:ph type="sldNum" sz="quarter" idx="12"/>
          </p:nvPr>
        </p:nvSpPr>
        <p:spPr/>
        <p:txBody>
          <a:bodyPr/>
          <a:lstStyle/>
          <a:p>
            <a:fld id="{D9471D36-8DC5-449C-AE2E-3283AD525100}" type="slidenum">
              <a:rPr lang="he-IL" smtClean="0"/>
              <a:t>‹#›</a:t>
            </a:fld>
            <a:endParaRPr lang="he-IL"/>
          </a:p>
        </p:txBody>
      </p:sp>
    </p:spTree>
    <p:extLst>
      <p:ext uri="{BB962C8B-B14F-4D97-AF65-F5344CB8AC3E}">
        <p14:creationId xmlns:p14="http://schemas.microsoft.com/office/powerpoint/2010/main" val="30428986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rgbClr val="FFCC99"/>
            </a:gs>
            <a:gs pos="74000">
              <a:schemeClr val="accent1">
                <a:lumMod val="45000"/>
                <a:lumOff val="55000"/>
              </a:schemeClr>
            </a:gs>
            <a:gs pos="83000">
              <a:schemeClr val="accent1">
                <a:lumMod val="45000"/>
                <a:lumOff val="55000"/>
              </a:schemeClr>
            </a:gs>
            <a:gs pos="100000">
              <a:schemeClr val="accent1">
                <a:lumMod val="30000"/>
                <a:lumOff val="70000"/>
              </a:schemeClr>
            </a:gs>
          </a:gsLst>
          <a:lin ang="13500000" scaled="1"/>
          <a:tileRect/>
        </a:gradFill>
        <a:effectLst/>
      </p:bgPr>
    </p:bg>
    <p:spTree>
      <p:nvGrpSpPr>
        <p:cNvPr id="1" name=""/>
        <p:cNvGrpSpPr/>
        <p:nvPr/>
      </p:nvGrpSpPr>
      <p:grpSpPr>
        <a:xfrm>
          <a:off x="0" y="0"/>
          <a:ext cx="0" cy="0"/>
          <a:chOff x="0" y="0"/>
          <a:chExt cx="0" cy="0"/>
        </a:xfrm>
      </p:grpSpPr>
      <p:sp>
        <p:nvSpPr>
          <p:cNvPr id="2" name="מציין מיקום של כותרת 1">
            <a:extLst>
              <a:ext uri="{FF2B5EF4-FFF2-40B4-BE49-F238E27FC236}">
                <a16:creationId xmlns:a16="http://schemas.microsoft.com/office/drawing/2014/main" id="{7B99D11B-6986-6C92-A817-F57FF339B6E5}"/>
              </a:ext>
            </a:extLst>
          </p:cNvPr>
          <p:cNvSpPr>
            <a:spLocks noGrp="1"/>
          </p:cNvSpPr>
          <p:nvPr>
            <p:ph type="title"/>
          </p:nvPr>
        </p:nvSpPr>
        <p:spPr>
          <a:xfrm>
            <a:off x="838200" y="365125"/>
            <a:ext cx="10515600" cy="1325563"/>
          </a:xfrm>
          <a:prstGeom prst="rect">
            <a:avLst/>
          </a:prstGeom>
        </p:spPr>
        <p:txBody>
          <a:bodyPr vert="horz" lIns="91440" tIns="45720" rIns="91440" bIns="45720" rtlCol="1" anchor="ctr">
            <a:normAutofit/>
          </a:body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25656024-3B08-9322-99A9-E44A7720BBD4}"/>
              </a:ext>
            </a:extLst>
          </p:cNvPr>
          <p:cNvSpPr>
            <a:spLocks noGrp="1"/>
          </p:cNvSpPr>
          <p:nvPr>
            <p:ph type="body" idx="1"/>
          </p:nvPr>
        </p:nvSpPr>
        <p:spPr>
          <a:xfrm>
            <a:off x="838200" y="1825625"/>
            <a:ext cx="10515600" cy="4351338"/>
          </a:xfrm>
          <a:prstGeom prst="rect">
            <a:avLst/>
          </a:prstGeom>
        </p:spPr>
        <p:txBody>
          <a:bodyPr vert="horz" lIns="91440" tIns="45720" rIns="91440" bIns="45720" rtlCol="1">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4C59C4FB-DAC4-D533-6126-E468FCFD5FD5}"/>
              </a:ext>
            </a:extLst>
          </p:cNvPr>
          <p:cNvSpPr>
            <a:spLocks noGrp="1"/>
          </p:cNvSpPr>
          <p:nvPr>
            <p:ph type="dt" sz="half" idx="2"/>
          </p:nvPr>
        </p:nvSpPr>
        <p:spPr>
          <a:xfrm>
            <a:off x="8610600" y="6356350"/>
            <a:ext cx="2743200" cy="365125"/>
          </a:xfrm>
          <a:prstGeom prst="rect">
            <a:avLst/>
          </a:prstGeom>
        </p:spPr>
        <p:txBody>
          <a:bodyPr vert="horz" lIns="91440" tIns="45720" rIns="91440" bIns="45720" rtlCol="1" anchor="ctr"/>
          <a:lstStyle>
            <a:lvl1pPr algn="r">
              <a:defRPr sz="1200">
                <a:solidFill>
                  <a:schemeClr val="tx1">
                    <a:tint val="75000"/>
                  </a:schemeClr>
                </a:solidFill>
              </a:defRPr>
            </a:lvl1pPr>
          </a:lstStyle>
          <a:p>
            <a:fld id="{93A94A1E-D451-40F7-A36E-882C169B8DAF}" type="datetimeFigureOut">
              <a:rPr lang="he-IL" smtClean="0"/>
              <a:t>כ"ד/אלול/תשפ"ו</a:t>
            </a:fld>
            <a:endParaRPr lang="he-IL"/>
          </a:p>
        </p:txBody>
      </p:sp>
      <p:sp>
        <p:nvSpPr>
          <p:cNvPr id="5" name="מציין מיקום של כותרת תחתונה 4">
            <a:extLst>
              <a:ext uri="{FF2B5EF4-FFF2-40B4-BE49-F238E27FC236}">
                <a16:creationId xmlns:a16="http://schemas.microsoft.com/office/drawing/2014/main" id="{C3ADDA13-75C0-4B54-7533-FF3EF73869D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1" anchor="ctr"/>
          <a:lstStyle>
            <a:lvl1pPr algn="ctr">
              <a:defRPr sz="1200">
                <a:solidFill>
                  <a:schemeClr val="tx1">
                    <a:tint val="75000"/>
                  </a:schemeClr>
                </a:solidFill>
              </a:defRPr>
            </a:lvl1pPr>
          </a:lstStyle>
          <a:p>
            <a:endParaRPr lang="he-IL"/>
          </a:p>
        </p:txBody>
      </p:sp>
      <p:sp>
        <p:nvSpPr>
          <p:cNvPr id="6" name="מציין מיקום של מספר שקופית 5">
            <a:extLst>
              <a:ext uri="{FF2B5EF4-FFF2-40B4-BE49-F238E27FC236}">
                <a16:creationId xmlns:a16="http://schemas.microsoft.com/office/drawing/2014/main" id="{21B43FA2-0D37-8951-7432-58E557A6F21E}"/>
              </a:ext>
            </a:extLst>
          </p:cNvPr>
          <p:cNvSpPr>
            <a:spLocks noGrp="1"/>
          </p:cNvSpPr>
          <p:nvPr>
            <p:ph type="sldNum" sz="quarter" idx="4"/>
          </p:nvPr>
        </p:nvSpPr>
        <p:spPr>
          <a:xfrm>
            <a:off x="838200" y="6356350"/>
            <a:ext cx="2743200" cy="365125"/>
          </a:xfrm>
          <a:prstGeom prst="rect">
            <a:avLst/>
          </a:prstGeom>
        </p:spPr>
        <p:txBody>
          <a:bodyPr vert="horz" lIns="91440" tIns="45720" rIns="91440" bIns="45720" rtlCol="1" anchor="ctr"/>
          <a:lstStyle>
            <a:lvl1pPr algn="l">
              <a:defRPr sz="1200">
                <a:solidFill>
                  <a:schemeClr val="tx1">
                    <a:tint val="75000"/>
                  </a:schemeClr>
                </a:solidFill>
              </a:defRPr>
            </a:lvl1pPr>
          </a:lstStyle>
          <a:p>
            <a:fld id="{D9471D36-8DC5-449C-AE2E-3283AD525100}" type="slidenum">
              <a:rPr lang="he-IL" smtClean="0"/>
              <a:t>‹#›</a:t>
            </a:fld>
            <a:endParaRPr lang="he-IL"/>
          </a:p>
        </p:txBody>
      </p:sp>
    </p:spTree>
    <p:extLst>
      <p:ext uri="{BB962C8B-B14F-4D97-AF65-F5344CB8AC3E}">
        <p14:creationId xmlns:p14="http://schemas.microsoft.com/office/powerpoint/2010/main" val="31040789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1.xml"/><Relationship Id="rId4" Type="http://schemas.openxmlformats.org/officeDocument/2006/relationships/image" Target="../media/image6.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0" name="Picture 6" descr="קראון פלזה חיפה (37)">
            <a:extLst>
              <a:ext uri="{FF2B5EF4-FFF2-40B4-BE49-F238E27FC236}">
                <a16:creationId xmlns:a16="http://schemas.microsoft.com/office/drawing/2014/main" id="{08025077-A8B6-73F7-B25B-48462236F20B}"/>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2668644" y="304745"/>
            <a:ext cx="6854711" cy="3855775"/>
          </a:xfrm>
          <a:prstGeom prst="rect">
            <a:avLst/>
          </a:prstGeom>
          <a:noFill/>
          <a:extLst>
            <a:ext uri="{909E8E84-426E-40DD-AFC4-6F175D3DCCD1}">
              <a14:hiddenFill xmlns:a14="http://schemas.microsoft.com/office/drawing/2010/main">
                <a:solidFill>
                  <a:srgbClr val="FFFFFF"/>
                </a:solidFill>
              </a14:hiddenFill>
            </a:ext>
          </a:extLst>
        </p:spPr>
      </p:pic>
      <p:sp>
        <p:nvSpPr>
          <p:cNvPr id="8" name="תיבת טקסט 7">
            <a:extLst>
              <a:ext uri="{FF2B5EF4-FFF2-40B4-BE49-F238E27FC236}">
                <a16:creationId xmlns:a16="http://schemas.microsoft.com/office/drawing/2014/main" id="{1C725F08-FBA9-B0AB-1B75-25DFD3EC1E0A}"/>
              </a:ext>
            </a:extLst>
          </p:cNvPr>
          <p:cNvSpPr txBox="1"/>
          <p:nvPr/>
        </p:nvSpPr>
        <p:spPr>
          <a:xfrm>
            <a:off x="264684" y="4242478"/>
            <a:ext cx="11662630" cy="2246769"/>
          </a:xfrm>
          <a:prstGeom prst="rect">
            <a:avLst/>
          </a:prstGeom>
          <a:noFill/>
        </p:spPr>
        <p:txBody>
          <a:bodyPr wrap="square">
            <a:spAutoFit/>
          </a:bodyPr>
          <a:lstStyle/>
          <a:p>
            <a:pPr algn="ctr">
              <a:buNone/>
            </a:pPr>
            <a:r>
              <a:rPr lang="he-IL" sz="7000" b="1" u="sng" dirty="0">
                <a:ln w="9525">
                  <a:solidFill>
                    <a:schemeClr val="accent2"/>
                  </a:solidFill>
                  <a:prstDash val="solid"/>
                </a:ln>
                <a:effectLst>
                  <a:outerShdw blurRad="12700" dist="38100" dir="2700000" algn="tl" rotWithShape="0">
                    <a:schemeClr val="bg1">
                      <a:lumMod val="50000"/>
                    </a:schemeClr>
                  </a:outerShdw>
                </a:effectLst>
                <a:latin typeface="David" panose="020E0502060401010101" pitchFamily="34" charset="-79"/>
                <a:cs typeface="David" panose="020E0502060401010101" pitchFamily="34" charset="-79"/>
              </a:rPr>
              <a:t>אסיפה כללית שנתית</a:t>
            </a:r>
          </a:p>
          <a:p>
            <a:pPr algn="ctr">
              <a:buNone/>
            </a:pPr>
            <a:r>
              <a:rPr lang="he-IL" sz="7000" b="1" u="sng" dirty="0">
                <a:ln w="9525">
                  <a:solidFill>
                    <a:schemeClr val="accent2"/>
                  </a:solidFill>
                  <a:prstDash val="solid"/>
                </a:ln>
                <a:effectLst>
                  <a:outerShdw blurRad="12700" dist="38100" dir="2700000" algn="tl" rotWithShape="0">
                    <a:schemeClr val="bg1">
                      <a:lumMod val="50000"/>
                    </a:schemeClr>
                  </a:outerShdw>
                </a:effectLst>
                <a:latin typeface="David" panose="020E0502060401010101" pitchFamily="34" charset="-79"/>
                <a:cs typeface="David" panose="020E0502060401010101" pitchFamily="34" charset="-79"/>
              </a:rPr>
              <a:t>רח' יפה נוף 111-111 א׳ חיפה</a:t>
            </a:r>
          </a:p>
        </p:txBody>
      </p:sp>
    </p:spTree>
    <p:extLst>
      <p:ext uri="{BB962C8B-B14F-4D97-AF65-F5344CB8AC3E}">
        <p14:creationId xmlns:p14="http://schemas.microsoft.com/office/powerpoint/2010/main" val="26910276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כותרת משנה 2">
            <a:extLst>
              <a:ext uri="{FF2B5EF4-FFF2-40B4-BE49-F238E27FC236}">
                <a16:creationId xmlns:a16="http://schemas.microsoft.com/office/drawing/2014/main" id="{657E93AD-B905-DE6B-96F5-A22DD159FA05}"/>
              </a:ext>
            </a:extLst>
          </p:cNvPr>
          <p:cNvSpPr>
            <a:spLocks noGrp="1"/>
          </p:cNvSpPr>
          <p:nvPr>
            <p:ph type="subTitle" idx="1"/>
          </p:nvPr>
        </p:nvSpPr>
        <p:spPr>
          <a:xfrm>
            <a:off x="592266" y="1477328"/>
            <a:ext cx="11007467" cy="5072908"/>
          </a:xfrm>
        </p:spPr>
        <p:txBody>
          <a:bodyPr>
            <a:noAutofit/>
          </a:bodyPr>
          <a:lstStyle/>
          <a:p>
            <a:pPr algn="just" rtl="1"/>
            <a:r>
              <a:rPr lang="he-IL" sz="3200" b="1" dirty="0">
                <a:effectLst/>
                <a:latin typeface="David" panose="020E0502060401010101" pitchFamily="34" charset="-79"/>
                <a:ea typeface="Calibri" panose="020F0502020204030204" pitchFamily="34" charset="0"/>
                <a:cs typeface="David" panose="020E0502060401010101" pitchFamily="34" charset="-79"/>
              </a:rPr>
              <a:t>האספה הכללית השנתית האחרונה התקיימה ביום 8/1/25.</a:t>
            </a:r>
            <a:endParaRPr lang="en-US" sz="3200" dirty="0">
              <a:effectLst/>
              <a:latin typeface="David" panose="020E0502060401010101" pitchFamily="34" charset="-79"/>
              <a:ea typeface="Calibri" panose="020F0502020204030204" pitchFamily="34" charset="0"/>
              <a:cs typeface="David" panose="020E0502060401010101" pitchFamily="34" charset="-79"/>
            </a:endParaRPr>
          </a:p>
          <a:p>
            <a:pPr algn="just" rtl="1"/>
            <a:r>
              <a:rPr lang="he-IL" sz="3200" b="1" dirty="0">
                <a:effectLst/>
                <a:latin typeface="David" panose="020E0502060401010101" pitchFamily="34" charset="-79"/>
                <a:ea typeface="Calibri" panose="020F0502020204030204" pitchFamily="34" charset="0"/>
                <a:cs typeface="David" panose="020E0502060401010101" pitchFamily="34" charset="-79"/>
              </a:rPr>
              <a:t>בתאריך 1/4/25 התקיימה אספה כללית שלא מן המניין לצורך בחירת ועד בלבד. </a:t>
            </a:r>
            <a:endParaRPr lang="en-US" sz="3200" dirty="0">
              <a:effectLst/>
              <a:latin typeface="David" panose="020E0502060401010101" pitchFamily="34" charset="-79"/>
              <a:ea typeface="Calibri" panose="020F0502020204030204" pitchFamily="34" charset="0"/>
              <a:cs typeface="David" panose="020E0502060401010101" pitchFamily="34" charset="-79"/>
            </a:endParaRPr>
          </a:p>
          <a:p>
            <a:pPr algn="just" rtl="1"/>
            <a:r>
              <a:rPr lang="he-IL" sz="3200" b="1" dirty="0">
                <a:effectLst/>
                <a:latin typeface="David" panose="020E0502060401010101" pitchFamily="34" charset="-79"/>
                <a:ea typeface="Calibri" panose="020F0502020204030204" pitchFamily="34" charset="0"/>
                <a:cs typeface="David" panose="020E0502060401010101" pitchFamily="34" charset="-79"/>
              </a:rPr>
              <a:t>אספה כללית זו נדחתה ומתקיימת רק היום בשל המצב הבטחוני ששרר בארץ. </a:t>
            </a:r>
            <a:endParaRPr lang="en-US" sz="3200" dirty="0">
              <a:effectLst/>
              <a:latin typeface="David" panose="020E0502060401010101" pitchFamily="34" charset="-79"/>
              <a:ea typeface="Calibri" panose="020F0502020204030204" pitchFamily="34" charset="0"/>
              <a:cs typeface="David" panose="020E0502060401010101" pitchFamily="34" charset="-79"/>
            </a:endParaRPr>
          </a:p>
          <a:p>
            <a:pPr algn="just" rtl="1"/>
            <a:r>
              <a:rPr lang="he-IL" sz="3200" b="1" dirty="0">
                <a:effectLst/>
                <a:latin typeface="David" panose="020E0502060401010101" pitchFamily="34" charset="-79"/>
                <a:ea typeface="Calibri" panose="020F0502020204030204" pitchFamily="34" charset="0"/>
                <a:cs typeface="David" panose="020E0502060401010101" pitchFamily="34" charset="-79"/>
              </a:rPr>
              <a:t>כפי שפורט בסדר יום האספה שפורסם בהזמנה לאספה זו, באספה זו נפרט את הפעילות שהתקיימה מאז האספה הכללית השנתית,  נעדכן את הדיירים בסטטוס הליכים שונים, נתונים כספיים ונדון בנושאים חשובים שלגביהם תתקיים הצבעה - מתקני המיזוג במגדל ושיפוץ כביש המעבר, וגם נבחר ב- 3 חברי ועד. </a:t>
            </a:r>
            <a:endParaRPr lang="en-US" sz="3200" dirty="0">
              <a:effectLst/>
              <a:latin typeface="David" panose="020E0502060401010101" pitchFamily="34" charset="-79"/>
              <a:ea typeface="Calibri" panose="020F0502020204030204" pitchFamily="34" charset="0"/>
              <a:cs typeface="David" panose="020E0502060401010101" pitchFamily="34" charset="-79"/>
            </a:endParaRPr>
          </a:p>
        </p:txBody>
      </p:sp>
      <p:sp useBgFill="1">
        <p:nvSpPr>
          <p:cNvPr id="4" name="מלבן 3">
            <a:extLst>
              <a:ext uri="{FF2B5EF4-FFF2-40B4-BE49-F238E27FC236}">
                <a16:creationId xmlns:a16="http://schemas.microsoft.com/office/drawing/2014/main" id="{D1C691A2-E008-7A1F-FBC5-B9A68D244641}"/>
              </a:ext>
            </a:extLst>
          </p:cNvPr>
          <p:cNvSpPr/>
          <p:nvPr/>
        </p:nvSpPr>
        <p:spPr>
          <a:xfrm>
            <a:off x="2439558" y="0"/>
            <a:ext cx="7039897" cy="1477328"/>
          </a:xfrm>
          <a:prstGeom prst="rect">
            <a:avLst/>
          </a:prstGeom>
        </p:spPr>
        <p:txBody>
          <a:bodyPr wrap="square" lIns="91440" tIns="45720" rIns="91440" bIns="45720">
            <a:spAutoFit/>
          </a:bodyPr>
          <a:lstStyle/>
          <a:p>
            <a:pPr algn="ctr"/>
            <a:r>
              <a:rPr lang="he-IL" sz="9000" b="1" i="0" u="sng" dirty="0">
                <a:ln w="9525">
                  <a:solidFill>
                    <a:schemeClr val="accent2"/>
                  </a:solidFill>
                  <a:prstDash val="solid"/>
                </a:ln>
                <a:effectLst>
                  <a:outerShdw blurRad="38100" dist="38100" dir="2700000" algn="tl">
                    <a:srgbClr val="000000">
                      <a:alpha val="43137"/>
                    </a:srgbClr>
                  </a:outerShdw>
                </a:effectLst>
                <a:latin typeface="David" panose="020E0502060401010101" pitchFamily="34" charset="-79"/>
                <a:cs typeface="David" panose="020E0502060401010101" pitchFamily="34" charset="-79"/>
              </a:rPr>
              <a:t>הקדמה</a:t>
            </a:r>
            <a:endParaRPr lang="he-IL" sz="9000" b="1" u="sng" dirty="0">
              <a:ln w="9525">
                <a:solidFill>
                  <a:schemeClr val="accent2"/>
                </a:solidFill>
                <a:prstDash val="solid"/>
              </a:ln>
              <a:solidFill>
                <a:sysClr val="windowText" lastClr="000000"/>
              </a:solidFill>
              <a:effectLst>
                <a:outerShdw blurRad="38100" dist="38100" dir="2700000" algn="tl">
                  <a:srgbClr val="000000">
                    <a:alpha val="43137"/>
                  </a:srgbClr>
                </a:outerShdw>
              </a:effectLst>
              <a:latin typeface="David" panose="020E0502060401010101" pitchFamily="34" charset="-79"/>
              <a:cs typeface="David" panose="020E0502060401010101" pitchFamily="34" charset="-79"/>
            </a:endParaRPr>
          </a:p>
        </p:txBody>
      </p:sp>
    </p:spTree>
    <p:extLst>
      <p:ext uri="{BB962C8B-B14F-4D97-AF65-F5344CB8AC3E}">
        <p14:creationId xmlns:p14="http://schemas.microsoft.com/office/powerpoint/2010/main" val="3005144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כותרת משנה 2">
            <a:extLst>
              <a:ext uri="{FF2B5EF4-FFF2-40B4-BE49-F238E27FC236}">
                <a16:creationId xmlns:a16="http://schemas.microsoft.com/office/drawing/2014/main" id="{657E93AD-B905-DE6B-96F5-A22DD159FA05}"/>
              </a:ext>
            </a:extLst>
          </p:cNvPr>
          <p:cNvSpPr>
            <a:spLocks noGrp="1"/>
          </p:cNvSpPr>
          <p:nvPr>
            <p:ph type="subTitle" idx="1"/>
          </p:nvPr>
        </p:nvSpPr>
        <p:spPr>
          <a:xfrm>
            <a:off x="592265" y="1477328"/>
            <a:ext cx="11007467" cy="4658296"/>
          </a:xfrm>
        </p:spPr>
        <p:txBody>
          <a:bodyPr>
            <a:noAutofit/>
          </a:bodyPr>
          <a:lstStyle/>
          <a:p>
            <a:pPr marL="228600" algn="just" rtl="1"/>
            <a:r>
              <a:rPr lang="he-IL" sz="3400" b="1" dirty="0">
                <a:effectLst/>
                <a:latin typeface="David" panose="020E0502060401010101" pitchFamily="34" charset="-79"/>
                <a:ea typeface="Calibri" panose="020F0502020204030204" pitchFamily="34" charset="0"/>
                <a:cs typeface="David" panose="020E0502060401010101" pitchFamily="34" charset="-79"/>
              </a:rPr>
              <a:t>בחודש 10/25 הסתיים פרויקט שהחל בשנת 2024 לצביעת וחידוש כל הרכוש המשותף, כולל צביעה וחידוש של כל המעברים, מסדרונות, החלפת תקרות, חודשו והוסתרו רמקולי הכריזה של מערכת האש מעל התקרות החדשות</a:t>
            </a:r>
            <a:r>
              <a:rPr lang="en-US" sz="3400" b="1" dirty="0">
                <a:effectLst/>
                <a:latin typeface="David" panose="020E0502060401010101" pitchFamily="34" charset="-79"/>
                <a:ea typeface="Calibri" panose="020F0502020204030204" pitchFamily="34" charset="0"/>
                <a:cs typeface="David" panose="020E0502060401010101" pitchFamily="34" charset="-79"/>
              </a:rPr>
              <a:t>.</a:t>
            </a:r>
          </a:p>
          <a:p>
            <a:pPr marL="228600" algn="just" rtl="1"/>
            <a:r>
              <a:rPr lang="he-IL" sz="3400" b="1" dirty="0">
                <a:effectLst/>
                <a:latin typeface="David" panose="020E0502060401010101" pitchFamily="34" charset="-79"/>
                <a:ea typeface="Calibri" panose="020F0502020204030204" pitchFamily="34" charset="0"/>
                <a:cs typeface="David" panose="020E0502060401010101" pitchFamily="34" charset="-79"/>
              </a:rPr>
              <a:t>ברצוננו להבהיר כי זהו החידוש הראשון שבוצע בבניין מאז בנייתו (לפני כ – 25 שנה) והעלויות הכרוכות בכך היו גבוהות ביותר והגיעו לסך של 230,000 ש"ח</a:t>
            </a:r>
            <a:r>
              <a:rPr lang="en-US" sz="3400" b="1" dirty="0">
                <a:effectLst/>
                <a:latin typeface="David" panose="020E0502060401010101" pitchFamily="34" charset="-79"/>
                <a:ea typeface="Calibri" panose="020F0502020204030204" pitchFamily="34" charset="0"/>
                <a:cs typeface="David" panose="020E0502060401010101" pitchFamily="34" charset="-79"/>
              </a:rPr>
              <a:t>.</a:t>
            </a:r>
            <a:endParaRPr lang="en-US" sz="3400" b="1" dirty="0">
              <a:latin typeface="David" panose="020E0502060401010101" pitchFamily="34" charset="-79"/>
              <a:ea typeface="Calibri" panose="020F0502020204030204" pitchFamily="34" charset="0"/>
              <a:cs typeface="David" panose="020E0502060401010101" pitchFamily="34" charset="-79"/>
            </a:endParaRPr>
          </a:p>
          <a:p>
            <a:pPr marL="228600" algn="just" rtl="1"/>
            <a:r>
              <a:rPr lang="he-IL" sz="3400" b="1" dirty="0">
                <a:effectLst/>
                <a:latin typeface="David" panose="020E0502060401010101" pitchFamily="34" charset="-79"/>
                <a:ea typeface="Calibri" panose="020F0502020204030204" pitchFamily="34" charset="0"/>
                <a:cs typeface="David" panose="020E0502060401010101" pitchFamily="34" charset="-79"/>
              </a:rPr>
              <a:t>נבקש מהדיירים לשמור על ניקיונו, תקינות ומצבו החדש של הרכוש המשותף</a:t>
            </a:r>
            <a:r>
              <a:rPr lang="en-US" sz="3400" b="1" dirty="0">
                <a:effectLst/>
                <a:latin typeface="David" panose="020E0502060401010101" pitchFamily="34" charset="-79"/>
                <a:ea typeface="Calibri" panose="020F0502020204030204" pitchFamily="34" charset="0"/>
                <a:cs typeface="David" panose="020E0502060401010101" pitchFamily="34" charset="-79"/>
              </a:rPr>
              <a:t>. </a:t>
            </a:r>
          </a:p>
        </p:txBody>
      </p:sp>
      <p:sp>
        <p:nvSpPr>
          <p:cNvPr id="4" name="מלבן 3">
            <a:extLst>
              <a:ext uri="{FF2B5EF4-FFF2-40B4-BE49-F238E27FC236}">
                <a16:creationId xmlns:a16="http://schemas.microsoft.com/office/drawing/2014/main" id="{D1C691A2-E008-7A1F-FBC5-B9A68D244641}"/>
              </a:ext>
            </a:extLst>
          </p:cNvPr>
          <p:cNvSpPr/>
          <p:nvPr/>
        </p:nvSpPr>
        <p:spPr>
          <a:xfrm>
            <a:off x="-1" y="0"/>
            <a:ext cx="12192000" cy="1323439"/>
          </a:xfrm>
          <a:prstGeom prst="rect">
            <a:avLst/>
          </a:prstGeom>
          <a:noFill/>
        </p:spPr>
        <p:txBody>
          <a:bodyPr wrap="square" lIns="91440" tIns="45720" rIns="91440" bIns="45720">
            <a:spAutoFit/>
          </a:bodyPr>
          <a:lstStyle/>
          <a:p>
            <a:pPr algn="ctr"/>
            <a:r>
              <a:rPr lang="he-IL" sz="8000" b="1" u="sng" dirty="0">
                <a:ln w="9525">
                  <a:solidFill>
                    <a:schemeClr val="accent2"/>
                  </a:solidFill>
                  <a:prstDash val="solid"/>
                </a:ln>
                <a:effectLst>
                  <a:outerShdw blurRad="12700" dist="38100" dir="2700000" algn="tl" rotWithShape="0">
                    <a:schemeClr val="bg1">
                      <a:lumMod val="50000"/>
                    </a:schemeClr>
                  </a:outerShdw>
                </a:effectLst>
                <a:latin typeface="David" panose="020E0502060401010101" pitchFamily="34" charset="-79"/>
                <a:cs typeface="David" panose="020E0502060401010101" pitchFamily="34" charset="-79"/>
              </a:rPr>
              <a:t>שיפוץ וחידוש הרכוש המשותף</a:t>
            </a:r>
          </a:p>
        </p:txBody>
      </p:sp>
    </p:spTree>
    <p:extLst>
      <p:ext uri="{BB962C8B-B14F-4D97-AF65-F5344CB8AC3E}">
        <p14:creationId xmlns:p14="http://schemas.microsoft.com/office/powerpoint/2010/main" val="30320176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כותרת משנה 2">
            <a:extLst>
              <a:ext uri="{FF2B5EF4-FFF2-40B4-BE49-F238E27FC236}">
                <a16:creationId xmlns:a16="http://schemas.microsoft.com/office/drawing/2014/main" id="{657E93AD-B905-DE6B-96F5-A22DD159FA05}"/>
              </a:ext>
            </a:extLst>
          </p:cNvPr>
          <p:cNvSpPr>
            <a:spLocks noGrp="1"/>
          </p:cNvSpPr>
          <p:nvPr>
            <p:ph type="subTitle" idx="1"/>
          </p:nvPr>
        </p:nvSpPr>
        <p:spPr>
          <a:xfrm>
            <a:off x="592265" y="1426476"/>
            <a:ext cx="11007467" cy="2280856"/>
          </a:xfrm>
        </p:spPr>
        <p:txBody>
          <a:bodyPr>
            <a:noAutofit/>
          </a:bodyPr>
          <a:lstStyle/>
          <a:p>
            <a:pPr marL="228600" algn="just" rtl="1"/>
            <a:r>
              <a:rPr lang="he-IL" sz="4000" b="1" dirty="0">
                <a:effectLst/>
                <a:latin typeface="Times New Roman" panose="02020603050405020304" pitchFamily="18" charset="0"/>
                <a:ea typeface="Calibri" panose="020F0502020204030204" pitchFamily="34" charset="0"/>
                <a:cs typeface="David" panose="020E0502060401010101" pitchFamily="34" charset="-79"/>
              </a:rPr>
              <a:t>בוצע שיקום הגינה התחתונה (הסמוכה לשביל המגיע מרח' הנרייטה סאלד) – כולל גיזום, התקנת קו הזמנת מים ומערכת השקיה חדשה ושתילת צמחים בעלות של כ- 11,000 ש"ח</a:t>
            </a:r>
            <a:r>
              <a:rPr lang="en-US" sz="4000" b="1" dirty="0">
                <a:effectLst/>
                <a:latin typeface="David" panose="020E0502060401010101" pitchFamily="34" charset="-79"/>
                <a:ea typeface="Calibri" panose="020F0502020204030204" pitchFamily="34" charset="0"/>
              </a:rPr>
              <a:t>.</a:t>
            </a:r>
            <a:endParaRPr lang="en-US" sz="4000" b="1" dirty="0">
              <a:effectLst/>
              <a:latin typeface="Times New Roman" panose="02020603050405020304" pitchFamily="18" charset="0"/>
              <a:ea typeface="Calibri" panose="020F0502020204030204" pitchFamily="34" charset="0"/>
            </a:endParaRPr>
          </a:p>
        </p:txBody>
      </p:sp>
      <p:sp>
        <p:nvSpPr>
          <p:cNvPr id="4" name="מלבן 3">
            <a:extLst>
              <a:ext uri="{FF2B5EF4-FFF2-40B4-BE49-F238E27FC236}">
                <a16:creationId xmlns:a16="http://schemas.microsoft.com/office/drawing/2014/main" id="{D1C691A2-E008-7A1F-FBC5-B9A68D244641}"/>
              </a:ext>
            </a:extLst>
          </p:cNvPr>
          <p:cNvSpPr/>
          <p:nvPr/>
        </p:nvSpPr>
        <p:spPr>
          <a:xfrm>
            <a:off x="-2" y="0"/>
            <a:ext cx="12192000" cy="1261884"/>
          </a:xfrm>
          <a:prstGeom prst="rect">
            <a:avLst/>
          </a:prstGeom>
          <a:noFill/>
        </p:spPr>
        <p:txBody>
          <a:bodyPr wrap="square" lIns="91440" tIns="45720" rIns="91440" bIns="45720">
            <a:spAutoFit/>
          </a:bodyPr>
          <a:lstStyle/>
          <a:p>
            <a:pPr algn="ctr"/>
            <a:r>
              <a:rPr lang="he-IL" sz="7600" b="1" u="sng" dirty="0">
                <a:ln w="9525">
                  <a:solidFill>
                    <a:schemeClr val="accent2"/>
                  </a:solidFill>
                  <a:prstDash val="solid"/>
                </a:ln>
                <a:effectLst>
                  <a:outerShdw blurRad="12700" dist="38100" dir="2700000" algn="tl" rotWithShape="0">
                    <a:schemeClr val="bg1">
                      <a:lumMod val="50000"/>
                    </a:schemeClr>
                  </a:outerShdw>
                </a:effectLst>
                <a:latin typeface="David" panose="020E0502060401010101" pitchFamily="34" charset="-79"/>
                <a:cs typeface="David" panose="020E0502060401010101" pitchFamily="34" charset="-79"/>
              </a:rPr>
              <a:t>שיקום הגינה במתחם המדורגים</a:t>
            </a:r>
          </a:p>
        </p:txBody>
      </p:sp>
    </p:spTree>
    <p:extLst>
      <p:ext uri="{BB962C8B-B14F-4D97-AF65-F5344CB8AC3E}">
        <p14:creationId xmlns:p14="http://schemas.microsoft.com/office/powerpoint/2010/main" val="11064180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כותרת משנה 2">
            <a:extLst>
              <a:ext uri="{FF2B5EF4-FFF2-40B4-BE49-F238E27FC236}">
                <a16:creationId xmlns:a16="http://schemas.microsoft.com/office/drawing/2014/main" id="{657E93AD-B905-DE6B-96F5-A22DD159FA05}"/>
              </a:ext>
            </a:extLst>
          </p:cNvPr>
          <p:cNvSpPr>
            <a:spLocks noGrp="1"/>
          </p:cNvSpPr>
          <p:nvPr>
            <p:ph type="subTitle" idx="1"/>
          </p:nvPr>
        </p:nvSpPr>
        <p:spPr>
          <a:xfrm>
            <a:off x="592265" y="1257872"/>
            <a:ext cx="11007467" cy="1796224"/>
          </a:xfrm>
        </p:spPr>
        <p:txBody>
          <a:bodyPr>
            <a:noAutofit/>
          </a:bodyPr>
          <a:lstStyle/>
          <a:p>
            <a:pPr marL="457200" algn="just" rtl="1"/>
            <a:r>
              <a:rPr lang="he-IL" sz="4000" b="1" dirty="0">
                <a:effectLst/>
                <a:latin typeface="Times New Roman" panose="02020603050405020304" pitchFamily="18" charset="0"/>
                <a:ea typeface="Times New Roman" panose="02020603050405020304" pitchFamily="18" charset="0"/>
                <a:cs typeface="David" panose="020E0502060401010101" pitchFamily="34" charset="-79"/>
              </a:rPr>
              <a:t>בוצע שיקום וצביעת כל המעקות והקשתות בשביל המגיע מרח' הנרייטה סאלד בניין המדורגים</a:t>
            </a:r>
            <a:r>
              <a:rPr lang="en-US" sz="4000" b="1" dirty="0">
                <a:effectLst/>
                <a:latin typeface="David" panose="020E0502060401010101" pitchFamily="34" charset="-79"/>
                <a:ea typeface="Times New Roman" panose="02020603050405020304" pitchFamily="18" charset="0"/>
              </a:rPr>
              <a:t>.</a:t>
            </a:r>
            <a:r>
              <a:rPr lang="he-IL" sz="4000" b="1" dirty="0">
                <a:effectLst/>
                <a:latin typeface="Times New Roman" panose="02020603050405020304" pitchFamily="18" charset="0"/>
                <a:ea typeface="Times New Roman" panose="02020603050405020304" pitchFamily="18" charset="0"/>
                <a:cs typeface="David" panose="020E0502060401010101" pitchFamily="34" charset="-79"/>
              </a:rPr>
              <a:t> לבקשת הועד, השיקום בוצע על ידי חברת הניהול. </a:t>
            </a:r>
            <a:endParaRPr lang="en-US" sz="4000" b="1" dirty="0">
              <a:effectLst/>
              <a:latin typeface="Times New Roman" panose="02020603050405020304" pitchFamily="18" charset="0"/>
              <a:ea typeface="Times New Roman" panose="02020603050405020304" pitchFamily="18" charset="0"/>
            </a:endParaRPr>
          </a:p>
        </p:txBody>
      </p:sp>
      <p:sp>
        <p:nvSpPr>
          <p:cNvPr id="4" name="מלבן 3">
            <a:extLst>
              <a:ext uri="{FF2B5EF4-FFF2-40B4-BE49-F238E27FC236}">
                <a16:creationId xmlns:a16="http://schemas.microsoft.com/office/drawing/2014/main" id="{D1C691A2-E008-7A1F-FBC5-B9A68D244641}"/>
              </a:ext>
            </a:extLst>
          </p:cNvPr>
          <p:cNvSpPr/>
          <p:nvPr/>
        </p:nvSpPr>
        <p:spPr>
          <a:xfrm>
            <a:off x="-1" y="0"/>
            <a:ext cx="12192000" cy="1046440"/>
          </a:xfrm>
          <a:prstGeom prst="rect">
            <a:avLst/>
          </a:prstGeom>
          <a:noFill/>
        </p:spPr>
        <p:txBody>
          <a:bodyPr wrap="square" lIns="91440" tIns="45720" rIns="91440" bIns="45720">
            <a:spAutoFit/>
          </a:bodyPr>
          <a:lstStyle/>
          <a:p>
            <a:pPr algn="ctr"/>
            <a:r>
              <a:rPr lang="he-IL" sz="6000" b="1" u="sng" dirty="0">
                <a:ln w="9525">
                  <a:solidFill>
                    <a:schemeClr val="accent2"/>
                  </a:solidFill>
                  <a:prstDash val="solid"/>
                </a:ln>
                <a:effectLst>
                  <a:outerShdw blurRad="12700" dist="38100" dir="2700000" algn="tl" rotWithShape="0">
                    <a:schemeClr val="bg1">
                      <a:lumMod val="50000"/>
                    </a:schemeClr>
                  </a:outerShdw>
                </a:effectLst>
                <a:latin typeface="David" panose="020E0502060401010101" pitchFamily="34" charset="-79"/>
                <a:cs typeface="David" panose="020E0502060401010101" pitchFamily="34" charset="-79"/>
              </a:rPr>
              <a:t>שיקום וצביעת קשתות במתחם המדורגים</a:t>
            </a:r>
          </a:p>
        </p:txBody>
      </p:sp>
    </p:spTree>
    <p:extLst>
      <p:ext uri="{BB962C8B-B14F-4D97-AF65-F5344CB8AC3E}">
        <p14:creationId xmlns:p14="http://schemas.microsoft.com/office/powerpoint/2010/main" val="4279135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כותרת משנה 2">
            <a:extLst>
              <a:ext uri="{FF2B5EF4-FFF2-40B4-BE49-F238E27FC236}">
                <a16:creationId xmlns:a16="http://schemas.microsoft.com/office/drawing/2014/main" id="{657E93AD-B905-DE6B-96F5-A22DD159FA05}"/>
              </a:ext>
            </a:extLst>
          </p:cNvPr>
          <p:cNvSpPr>
            <a:spLocks noGrp="1"/>
          </p:cNvSpPr>
          <p:nvPr>
            <p:ph type="subTitle" idx="1"/>
          </p:nvPr>
        </p:nvSpPr>
        <p:spPr>
          <a:xfrm>
            <a:off x="592265" y="1323438"/>
            <a:ext cx="11007467" cy="4400706"/>
          </a:xfrm>
        </p:spPr>
        <p:txBody>
          <a:bodyPr>
            <a:noAutofit/>
          </a:bodyPr>
          <a:lstStyle/>
          <a:p>
            <a:pPr marL="228600" algn="just" rtl="1"/>
            <a:r>
              <a:rPr lang="he-IL" sz="4000" b="1" dirty="0">
                <a:effectLst/>
                <a:latin typeface="Times New Roman" panose="02020603050405020304" pitchFamily="18" charset="0"/>
                <a:ea typeface="Calibri" panose="020F0502020204030204" pitchFamily="34" charset="0"/>
                <a:cs typeface="David" panose="020E0502060401010101" pitchFamily="34" charset="-79"/>
              </a:rPr>
              <a:t>בבניינים חווינו הפסקות חשמל קצרות ותכופות, ולעיתים אף מספר פעמים בכל יום. </a:t>
            </a:r>
          </a:p>
          <a:p>
            <a:pPr marL="228600" algn="just" rtl="1"/>
            <a:r>
              <a:rPr lang="he-IL" sz="4000" b="1" dirty="0">
                <a:effectLst/>
                <a:latin typeface="Times New Roman" panose="02020603050405020304" pitchFamily="18" charset="0"/>
                <a:ea typeface="Calibri" panose="020F0502020204030204" pitchFamily="34" charset="0"/>
                <a:cs typeface="David" panose="020E0502060401010101" pitchFamily="34" charset="-79"/>
              </a:rPr>
              <a:t>הועד פנה לחברת החשמל, ובעקבותיה נקטה חברת חשמל צעדים לצמצום התקלות, לרבות </a:t>
            </a:r>
            <a:r>
              <a:rPr lang="he-IL" sz="4000" b="1" dirty="0">
                <a:effectLst/>
                <a:ea typeface="Calibri" panose="020F0502020204030204" pitchFamily="34" charset="0"/>
                <a:cs typeface="David" panose="020E0502060401010101" pitchFamily="34" charset="-79"/>
              </a:rPr>
              <a:t>החלפת כל מגשי התקרה, כולל ניקוי רשתות האוויר בתקרות</a:t>
            </a:r>
            <a:r>
              <a:rPr lang="en-US" sz="4000" b="1" dirty="0">
                <a:effectLst/>
                <a:latin typeface="David" panose="020E0502060401010101" pitchFamily="34" charset="-79"/>
                <a:ea typeface="Calibri" panose="020F0502020204030204" pitchFamily="34" charset="0"/>
              </a:rPr>
              <a:t>.</a:t>
            </a:r>
            <a:endParaRPr lang="he-IL" sz="4000" b="1" dirty="0">
              <a:effectLst/>
              <a:latin typeface="David" panose="020E0502060401010101" pitchFamily="34" charset="-79"/>
              <a:ea typeface="Calibri" panose="020F0502020204030204" pitchFamily="34" charset="0"/>
              <a:cs typeface="David" panose="020E0502060401010101" pitchFamily="34" charset="-79"/>
            </a:endParaRPr>
          </a:p>
          <a:p>
            <a:pPr marL="228600" algn="just" rtl="1"/>
            <a:r>
              <a:rPr lang="he-IL" sz="4000" b="1" dirty="0">
                <a:effectLst/>
                <a:latin typeface="Times New Roman" panose="02020603050405020304" pitchFamily="18" charset="0"/>
                <a:ea typeface="Calibri" panose="020F0502020204030204" pitchFamily="34" charset="0"/>
                <a:cs typeface="David" panose="020E0502060401010101" pitchFamily="34" charset="-79"/>
              </a:rPr>
              <a:t> אירועי הפסקות החשמל פחתו באופן ניכר אך עדיין לא באופן מוחלט. </a:t>
            </a:r>
          </a:p>
        </p:txBody>
      </p:sp>
      <p:sp>
        <p:nvSpPr>
          <p:cNvPr id="4" name="מלבן 3">
            <a:extLst>
              <a:ext uri="{FF2B5EF4-FFF2-40B4-BE49-F238E27FC236}">
                <a16:creationId xmlns:a16="http://schemas.microsoft.com/office/drawing/2014/main" id="{D1C691A2-E008-7A1F-FBC5-B9A68D244641}"/>
              </a:ext>
            </a:extLst>
          </p:cNvPr>
          <p:cNvSpPr/>
          <p:nvPr/>
        </p:nvSpPr>
        <p:spPr>
          <a:xfrm>
            <a:off x="-1" y="0"/>
            <a:ext cx="12192000" cy="1323439"/>
          </a:xfrm>
          <a:prstGeom prst="rect">
            <a:avLst/>
          </a:prstGeom>
          <a:noFill/>
        </p:spPr>
        <p:txBody>
          <a:bodyPr wrap="square" lIns="91440" tIns="45720" rIns="91440" bIns="45720">
            <a:spAutoFit/>
          </a:bodyPr>
          <a:lstStyle/>
          <a:p>
            <a:pPr algn="ctr"/>
            <a:r>
              <a:rPr lang="he-IL" sz="8000" b="1" u="sng" dirty="0">
                <a:ln w="9525">
                  <a:solidFill>
                    <a:schemeClr val="accent2"/>
                  </a:solidFill>
                  <a:prstDash val="solid"/>
                </a:ln>
                <a:effectLst>
                  <a:outerShdw blurRad="12700" dist="38100" dir="2700000" algn="tl" rotWithShape="0">
                    <a:schemeClr val="bg1">
                      <a:lumMod val="50000"/>
                    </a:schemeClr>
                  </a:outerShdw>
                </a:effectLst>
                <a:latin typeface="David" panose="020E0502060401010101" pitchFamily="34" charset="-79"/>
                <a:cs typeface="David" panose="020E0502060401010101" pitchFamily="34" charset="-79"/>
              </a:rPr>
              <a:t>חברת חשמל</a:t>
            </a:r>
          </a:p>
        </p:txBody>
      </p:sp>
    </p:spTree>
    <p:extLst>
      <p:ext uri="{BB962C8B-B14F-4D97-AF65-F5344CB8AC3E}">
        <p14:creationId xmlns:p14="http://schemas.microsoft.com/office/powerpoint/2010/main" val="34488380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כותרת משנה 2">
            <a:extLst>
              <a:ext uri="{FF2B5EF4-FFF2-40B4-BE49-F238E27FC236}">
                <a16:creationId xmlns:a16="http://schemas.microsoft.com/office/drawing/2014/main" id="{657E93AD-B905-DE6B-96F5-A22DD159FA05}"/>
              </a:ext>
            </a:extLst>
          </p:cNvPr>
          <p:cNvSpPr>
            <a:spLocks noGrp="1"/>
          </p:cNvSpPr>
          <p:nvPr>
            <p:ph type="subTitle" idx="1"/>
          </p:nvPr>
        </p:nvSpPr>
        <p:spPr>
          <a:xfrm>
            <a:off x="592265" y="1433167"/>
            <a:ext cx="11007467" cy="3213544"/>
          </a:xfrm>
        </p:spPr>
        <p:txBody>
          <a:bodyPr>
            <a:noAutofit/>
          </a:bodyPr>
          <a:lstStyle/>
          <a:p>
            <a:pPr marL="228600" algn="just" rtl="1"/>
            <a:r>
              <a:rPr lang="he-IL" sz="4000" b="1" dirty="0">
                <a:effectLst/>
                <a:latin typeface="Times New Roman" panose="02020603050405020304" pitchFamily="18" charset="0"/>
                <a:ea typeface="Calibri" panose="020F0502020204030204" pitchFamily="34" charset="0"/>
                <a:cs typeface="David" panose="020E0502060401010101" pitchFamily="34" charset="-79"/>
              </a:rPr>
              <a:t>בבניינים לא מותקנים סיבים אופטיים לצורך גלישה מהירה.</a:t>
            </a:r>
            <a:endParaRPr lang="en-US" sz="4000" b="1" dirty="0">
              <a:effectLst/>
              <a:latin typeface="Times New Roman" panose="02020603050405020304" pitchFamily="18" charset="0"/>
              <a:ea typeface="Calibri" panose="020F0502020204030204" pitchFamily="34" charset="0"/>
            </a:endParaRPr>
          </a:p>
          <a:p>
            <a:pPr marL="228600" algn="just" rtl="1"/>
            <a:r>
              <a:rPr lang="he-IL" sz="4000" b="1" dirty="0">
                <a:effectLst/>
                <a:latin typeface="Times New Roman" panose="02020603050405020304" pitchFamily="18" charset="0"/>
                <a:ea typeface="Calibri" panose="020F0502020204030204" pitchFamily="34" charset="0"/>
                <a:cs typeface="David" panose="020E0502060401010101" pitchFamily="34" charset="-79"/>
              </a:rPr>
              <a:t>הועד מטפל בנושא מול חברת בזק ונעשתה פנייה לגורמים בכירים. הננו ממתינים למענה והתקנת הסיבים האופטיים.</a:t>
            </a:r>
            <a:endParaRPr lang="en-US" sz="4000" b="1" dirty="0">
              <a:effectLst/>
              <a:latin typeface="Times New Roman" panose="02020603050405020304" pitchFamily="18" charset="0"/>
              <a:ea typeface="Calibri" panose="020F0502020204030204" pitchFamily="34" charset="0"/>
            </a:endParaRPr>
          </a:p>
        </p:txBody>
      </p:sp>
      <p:sp>
        <p:nvSpPr>
          <p:cNvPr id="4" name="מלבן 3">
            <a:extLst>
              <a:ext uri="{FF2B5EF4-FFF2-40B4-BE49-F238E27FC236}">
                <a16:creationId xmlns:a16="http://schemas.microsoft.com/office/drawing/2014/main" id="{D1C691A2-E008-7A1F-FBC5-B9A68D244641}"/>
              </a:ext>
            </a:extLst>
          </p:cNvPr>
          <p:cNvSpPr/>
          <p:nvPr/>
        </p:nvSpPr>
        <p:spPr>
          <a:xfrm>
            <a:off x="-1" y="0"/>
            <a:ext cx="12192000" cy="1323439"/>
          </a:xfrm>
          <a:prstGeom prst="rect">
            <a:avLst/>
          </a:prstGeom>
          <a:noFill/>
        </p:spPr>
        <p:txBody>
          <a:bodyPr wrap="square" lIns="91440" tIns="45720" rIns="91440" bIns="45720">
            <a:spAutoFit/>
          </a:bodyPr>
          <a:lstStyle/>
          <a:p>
            <a:pPr algn="ctr"/>
            <a:r>
              <a:rPr lang="he-IL" sz="8000" b="1" u="sng" dirty="0">
                <a:ln w="9525">
                  <a:solidFill>
                    <a:schemeClr val="accent2"/>
                  </a:solidFill>
                  <a:prstDash val="solid"/>
                </a:ln>
                <a:effectLst>
                  <a:outerShdw blurRad="12700" dist="38100" dir="2700000" algn="tl" rotWithShape="0">
                    <a:schemeClr val="bg1">
                      <a:lumMod val="50000"/>
                    </a:schemeClr>
                  </a:outerShdw>
                </a:effectLst>
                <a:latin typeface="David" panose="020E0502060401010101" pitchFamily="34" charset="-79"/>
                <a:cs typeface="David" panose="020E0502060401010101" pitchFamily="34" charset="-79"/>
              </a:rPr>
              <a:t>בזק</a:t>
            </a:r>
          </a:p>
        </p:txBody>
      </p:sp>
    </p:spTree>
    <p:extLst>
      <p:ext uri="{BB962C8B-B14F-4D97-AF65-F5344CB8AC3E}">
        <p14:creationId xmlns:p14="http://schemas.microsoft.com/office/powerpoint/2010/main" val="14457703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כותרת משנה 2">
            <a:extLst>
              <a:ext uri="{FF2B5EF4-FFF2-40B4-BE49-F238E27FC236}">
                <a16:creationId xmlns:a16="http://schemas.microsoft.com/office/drawing/2014/main" id="{657E93AD-B905-DE6B-96F5-A22DD159FA05}"/>
              </a:ext>
            </a:extLst>
          </p:cNvPr>
          <p:cNvSpPr>
            <a:spLocks noGrp="1"/>
          </p:cNvSpPr>
          <p:nvPr>
            <p:ph type="subTitle" idx="1"/>
          </p:nvPr>
        </p:nvSpPr>
        <p:spPr>
          <a:xfrm>
            <a:off x="592265" y="1424023"/>
            <a:ext cx="11007467" cy="3213544"/>
          </a:xfrm>
        </p:spPr>
        <p:txBody>
          <a:bodyPr>
            <a:noAutofit/>
          </a:bodyPr>
          <a:lstStyle/>
          <a:p>
            <a:pPr algn="just" rtl="1"/>
            <a:r>
              <a:rPr lang="he-IL" sz="4000" b="1" dirty="0">
                <a:effectLst/>
                <a:latin typeface="Times New Roman" panose="02020603050405020304" pitchFamily="18" charset="0"/>
                <a:ea typeface="Calibri" panose="020F0502020204030204" pitchFamily="34" charset="0"/>
                <a:cs typeface="David" panose="020E0502060401010101" pitchFamily="34" charset="-79"/>
              </a:rPr>
              <a:t>בשנת 2023 הוגשו תביעות כנגד דיירים שפגעו ברכוש המשותף.</a:t>
            </a:r>
            <a:endParaRPr lang="en-US" sz="4000" dirty="0">
              <a:effectLst/>
              <a:latin typeface="Times New Roman" panose="02020603050405020304" pitchFamily="18" charset="0"/>
              <a:ea typeface="Calibri" panose="020F0502020204030204" pitchFamily="34" charset="0"/>
            </a:endParaRPr>
          </a:p>
          <a:p>
            <a:pPr algn="just" rtl="1"/>
            <a:r>
              <a:rPr lang="he-IL" sz="4000" b="1" dirty="0">
                <a:effectLst/>
                <a:latin typeface="Times New Roman" panose="02020603050405020304" pitchFamily="18" charset="0"/>
                <a:ea typeface="Calibri" panose="020F0502020204030204" pitchFamily="34" charset="0"/>
                <a:cs typeface="David" panose="020E0502060401010101" pitchFamily="34" charset="-79"/>
              </a:rPr>
              <a:t>ההליך המשפטי התנהל עד לחודש 1/26. בהמלצת בית המשפט, הועד הגיע להסכמים עם כל הדיירים באופן שהוסרו הפגיעות המהותיות ברכוש המשותף.</a:t>
            </a:r>
            <a:endParaRPr lang="en-US" sz="4000" dirty="0">
              <a:effectLst/>
              <a:latin typeface="Times New Roman" panose="02020603050405020304" pitchFamily="18" charset="0"/>
              <a:ea typeface="Calibri" panose="020F0502020204030204" pitchFamily="34" charset="0"/>
            </a:endParaRPr>
          </a:p>
        </p:txBody>
      </p:sp>
      <p:sp>
        <p:nvSpPr>
          <p:cNvPr id="4" name="מלבן 3">
            <a:extLst>
              <a:ext uri="{FF2B5EF4-FFF2-40B4-BE49-F238E27FC236}">
                <a16:creationId xmlns:a16="http://schemas.microsoft.com/office/drawing/2014/main" id="{D1C691A2-E008-7A1F-FBC5-B9A68D244641}"/>
              </a:ext>
            </a:extLst>
          </p:cNvPr>
          <p:cNvSpPr/>
          <p:nvPr/>
        </p:nvSpPr>
        <p:spPr>
          <a:xfrm>
            <a:off x="-1" y="0"/>
            <a:ext cx="12192000" cy="1323439"/>
          </a:xfrm>
          <a:prstGeom prst="rect">
            <a:avLst/>
          </a:prstGeom>
          <a:noFill/>
        </p:spPr>
        <p:txBody>
          <a:bodyPr wrap="square" lIns="91440" tIns="45720" rIns="91440" bIns="45720">
            <a:spAutoFit/>
          </a:bodyPr>
          <a:lstStyle/>
          <a:p>
            <a:pPr algn="ctr"/>
            <a:r>
              <a:rPr lang="he-IL" sz="8000" b="1" u="sng" dirty="0">
                <a:ln w="9525">
                  <a:solidFill>
                    <a:schemeClr val="accent2"/>
                  </a:solidFill>
                  <a:prstDash val="solid"/>
                </a:ln>
                <a:effectLst>
                  <a:outerShdw blurRad="12700" dist="38100" dir="2700000" algn="tl" rotWithShape="0">
                    <a:schemeClr val="bg1">
                      <a:lumMod val="50000"/>
                    </a:schemeClr>
                  </a:outerShdw>
                </a:effectLst>
                <a:latin typeface="David" panose="020E0502060401010101" pitchFamily="34" charset="-79"/>
                <a:cs typeface="David" panose="020E0502060401010101" pitchFamily="34" charset="-79"/>
              </a:rPr>
              <a:t>הליכים משפטיים</a:t>
            </a:r>
          </a:p>
        </p:txBody>
      </p:sp>
    </p:spTree>
    <p:extLst>
      <p:ext uri="{BB962C8B-B14F-4D97-AF65-F5344CB8AC3E}">
        <p14:creationId xmlns:p14="http://schemas.microsoft.com/office/powerpoint/2010/main" val="36437722"/>
      </p:ext>
    </p:extLst>
  </p:cSld>
  <p:clrMapOvr>
    <a:overrideClrMapping bg1="lt1" tx1="dk1" bg2="lt2" tx2="dk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כותרת משנה 2">
            <a:extLst>
              <a:ext uri="{FF2B5EF4-FFF2-40B4-BE49-F238E27FC236}">
                <a16:creationId xmlns:a16="http://schemas.microsoft.com/office/drawing/2014/main" id="{657E93AD-B905-DE6B-96F5-A22DD159FA05}"/>
              </a:ext>
            </a:extLst>
          </p:cNvPr>
          <p:cNvSpPr>
            <a:spLocks noGrp="1"/>
          </p:cNvSpPr>
          <p:nvPr>
            <p:ph type="subTitle" idx="1"/>
          </p:nvPr>
        </p:nvSpPr>
        <p:spPr>
          <a:xfrm>
            <a:off x="592266" y="1507229"/>
            <a:ext cx="11007467" cy="2480465"/>
          </a:xfrm>
        </p:spPr>
        <p:txBody>
          <a:bodyPr>
            <a:noAutofit/>
          </a:bodyPr>
          <a:lstStyle/>
          <a:p>
            <a:pPr algn="just" rtl="1"/>
            <a:r>
              <a:rPr lang="he-IL" sz="4000" b="1" dirty="0">
                <a:effectLst/>
                <a:latin typeface="Times New Roman" panose="02020603050405020304" pitchFamily="18" charset="0"/>
                <a:ea typeface="Calibri" panose="020F0502020204030204" pitchFamily="34" charset="0"/>
                <a:cs typeface="David" panose="020E0502060401010101" pitchFamily="34" charset="-79"/>
              </a:rPr>
              <a:t>תיק הבית המשותף הוגש לרישום בטאבו ביום 12/11/25 ע"י משרד עורכי הדין המטפל. התיק חזר עם ליקויים, אולם מאז ועד היום התיק לא הוגש שוב לרישום. </a:t>
            </a:r>
            <a:endParaRPr lang="en-US" sz="4000" b="1" dirty="0">
              <a:effectLst/>
              <a:latin typeface="Times New Roman" panose="02020603050405020304" pitchFamily="18" charset="0"/>
              <a:ea typeface="Calibri" panose="020F0502020204030204" pitchFamily="34" charset="0"/>
            </a:endParaRPr>
          </a:p>
          <a:p>
            <a:pPr algn="just" rtl="1"/>
            <a:r>
              <a:rPr lang="he-IL" sz="4000" b="1" dirty="0">
                <a:effectLst/>
                <a:latin typeface="Times New Roman" panose="02020603050405020304" pitchFamily="18" charset="0"/>
                <a:ea typeface="Calibri" panose="020F0502020204030204" pitchFamily="34" charset="0"/>
                <a:cs typeface="David" panose="020E0502060401010101" pitchFamily="34" charset="-79"/>
              </a:rPr>
              <a:t>הסיבות לכך לא ברורות, והן יבחנו ויטופלו בהקדם. </a:t>
            </a:r>
            <a:endParaRPr lang="en-US" sz="4000" b="1" dirty="0">
              <a:effectLst/>
              <a:latin typeface="Times New Roman" panose="02020603050405020304" pitchFamily="18" charset="0"/>
              <a:ea typeface="Calibri" panose="020F0502020204030204" pitchFamily="34" charset="0"/>
            </a:endParaRPr>
          </a:p>
        </p:txBody>
      </p:sp>
      <p:sp>
        <p:nvSpPr>
          <p:cNvPr id="4" name="מלבן 3">
            <a:extLst>
              <a:ext uri="{FF2B5EF4-FFF2-40B4-BE49-F238E27FC236}">
                <a16:creationId xmlns:a16="http://schemas.microsoft.com/office/drawing/2014/main" id="{D1C691A2-E008-7A1F-FBC5-B9A68D244641}"/>
              </a:ext>
            </a:extLst>
          </p:cNvPr>
          <p:cNvSpPr/>
          <p:nvPr/>
        </p:nvSpPr>
        <p:spPr>
          <a:xfrm>
            <a:off x="-1" y="0"/>
            <a:ext cx="12192000" cy="1323439"/>
          </a:xfrm>
          <a:prstGeom prst="rect">
            <a:avLst/>
          </a:prstGeom>
          <a:noFill/>
        </p:spPr>
        <p:txBody>
          <a:bodyPr wrap="square" lIns="91440" tIns="45720" rIns="91440" bIns="45720">
            <a:spAutoFit/>
          </a:bodyPr>
          <a:lstStyle/>
          <a:p>
            <a:pPr algn="ctr"/>
            <a:r>
              <a:rPr lang="he-IL" sz="8000" b="1" u="sng" dirty="0">
                <a:ln w="9525">
                  <a:solidFill>
                    <a:schemeClr val="accent2"/>
                  </a:solidFill>
                  <a:prstDash val="solid"/>
                </a:ln>
                <a:effectLst>
                  <a:outerShdw blurRad="12700" dist="38100" dir="2700000" algn="tl" rotWithShape="0">
                    <a:schemeClr val="bg1">
                      <a:lumMod val="50000"/>
                    </a:schemeClr>
                  </a:outerShdw>
                </a:effectLst>
                <a:latin typeface="David" panose="020E0502060401010101" pitchFamily="34" charset="-79"/>
                <a:cs typeface="David" panose="020E0502060401010101" pitchFamily="34" charset="-79"/>
              </a:rPr>
              <a:t>רישום בית משותף</a:t>
            </a:r>
          </a:p>
        </p:txBody>
      </p:sp>
    </p:spTree>
    <p:extLst>
      <p:ext uri="{BB962C8B-B14F-4D97-AF65-F5344CB8AC3E}">
        <p14:creationId xmlns:p14="http://schemas.microsoft.com/office/powerpoint/2010/main" val="12961794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מלבן 3">
            <a:extLst>
              <a:ext uri="{FF2B5EF4-FFF2-40B4-BE49-F238E27FC236}">
                <a16:creationId xmlns:a16="http://schemas.microsoft.com/office/drawing/2014/main" id="{D1C691A2-E008-7A1F-FBC5-B9A68D244641}"/>
              </a:ext>
            </a:extLst>
          </p:cNvPr>
          <p:cNvSpPr/>
          <p:nvPr/>
        </p:nvSpPr>
        <p:spPr>
          <a:xfrm>
            <a:off x="-1" y="0"/>
            <a:ext cx="12192000" cy="1323439"/>
          </a:xfrm>
          <a:prstGeom prst="rect">
            <a:avLst/>
          </a:prstGeom>
          <a:noFill/>
        </p:spPr>
        <p:txBody>
          <a:bodyPr wrap="square" lIns="91440" tIns="45720" rIns="91440" bIns="45720">
            <a:spAutoFit/>
          </a:bodyPr>
          <a:lstStyle/>
          <a:p>
            <a:pPr algn="ctr"/>
            <a:r>
              <a:rPr lang="he-IL" sz="8000" b="1" u="sng" dirty="0">
                <a:ln w="9525">
                  <a:solidFill>
                    <a:schemeClr val="accent2"/>
                  </a:solidFill>
                  <a:prstDash val="solid"/>
                </a:ln>
                <a:effectLst>
                  <a:outerShdw blurRad="12700" dist="38100" dir="2700000" algn="tl" rotWithShape="0">
                    <a:schemeClr val="bg1">
                      <a:lumMod val="50000"/>
                    </a:schemeClr>
                  </a:outerShdw>
                </a:effectLst>
                <a:latin typeface="David" panose="020E0502060401010101" pitchFamily="34" charset="-79"/>
                <a:cs typeface="David" panose="020E0502060401010101" pitchFamily="34" charset="-79"/>
              </a:rPr>
              <a:t>תקציב </a:t>
            </a:r>
            <a:r>
              <a:rPr lang="he-IL" sz="8000" b="1" u="sng">
                <a:ln w="9525">
                  <a:solidFill>
                    <a:schemeClr val="accent2"/>
                  </a:solidFill>
                  <a:prstDash val="solid"/>
                </a:ln>
                <a:effectLst>
                  <a:outerShdw blurRad="12700" dist="38100" dir="2700000" algn="tl" rotWithShape="0">
                    <a:schemeClr val="bg1">
                      <a:lumMod val="50000"/>
                    </a:schemeClr>
                  </a:outerShdw>
                </a:effectLst>
                <a:latin typeface="David" panose="020E0502060401010101" pitchFamily="34" charset="-79"/>
                <a:cs typeface="David" panose="020E0502060401010101" pitchFamily="34" charset="-79"/>
              </a:rPr>
              <a:t>חברת הניהול – 2025</a:t>
            </a:r>
            <a:endParaRPr lang="he-IL" sz="8000" b="1" u="sng" dirty="0">
              <a:ln w="9525">
                <a:solidFill>
                  <a:schemeClr val="accent2"/>
                </a:solidFill>
                <a:prstDash val="solid"/>
              </a:ln>
              <a:effectLst>
                <a:outerShdw blurRad="12700" dist="38100" dir="2700000" algn="tl" rotWithShape="0">
                  <a:schemeClr val="bg1">
                    <a:lumMod val="50000"/>
                  </a:schemeClr>
                </a:outerShdw>
              </a:effectLst>
              <a:latin typeface="David" panose="020E0502060401010101" pitchFamily="34" charset="-79"/>
              <a:cs typeface="David" panose="020E0502060401010101" pitchFamily="34" charset="-79"/>
            </a:endParaRPr>
          </a:p>
        </p:txBody>
      </p:sp>
      <p:pic>
        <p:nvPicPr>
          <p:cNvPr id="7" name="Picture 6">
            <a:extLst>
              <a:ext uri="{FF2B5EF4-FFF2-40B4-BE49-F238E27FC236}">
                <a16:creationId xmlns:a16="http://schemas.microsoft.com/office/drawing/2014/main" id="{61FC3804-4933-1891-6821-A9CC3DEF0303}"/>
              </a:ext>
            </a:extLst>
          </p:cNvPr>
          <p:cNvPicPr>
            <a:picLocks noChangeAspect="1"/>
          </p:cNvPicPr>
          <p:nvPr/>
        </p:nvPicPr>
        <p:blipFill>
          <a:blip r:embed="rId2"/>
          <a:stretch>
            <a:fillRect/>
          </a:stretch>
        </p:blipFill>
        <p:spPr>
          <a:xfrm>
            <a:off x="2839512" y="1323439"/>
            <a:ext cx="6512976" cy="5330600"/>
          </a:xfrm>
          <a:prstGeom prst="rect">
            <a:avLst/>
          </a:prstGeom>
        </p:spPr>
      </p:pic>
    </p:spTree>
    <p:extLst>
      <p:ext uri="{BB962C8B-B14F-4D97-AF65-F5344CB8AC3E}">
        <p14:creationId xmlns:p14="http://schemas.microsoft.com/office/powerpoint/2010/main" val="18851628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מלבן 3">
            <a:extLst>
              <a:ext uri="{FF2B5EF4-FFF2-40B4-BE49-F238E27FC236}">
                <a16:creationId xmlns:a16="http://schemas.microsoft.com/office/drawing/2014/main" id="{D1C691A2-E008-7A1F-FBC5-B9A68D244641}"/>
              </a:ext>
            </a:extLst>
          </p:cNvPr>
          <p:cNvSpPr/>
          <p:nvPr/>
        </p:nvSpPr>
        <p:spPr>
          <a:xfrm>
            <a:off x="-1" y="0"/>
            <a:ext cx="12192000" cy="1323439"/>
          </a:xfrm>
          <a:prstGeom prst="rect">
            <a:avLst/>
          </a:prstGeom>
          <a:noFill/>
        </p:spPr>
        <p:txBody>
          <a:bodyPr wrap="square" lIns="91440" tIns="45720" rIns="91440" bIns="45720">
            <a:spAutoFit/>
          </a:bodyPr>
          <a:lstStyle/>
          <a:p>
            <a:pPr algn="ctr"/>
            <a:r>
              <a:rPr lang="he-IL" sz="8000" b="1" u="sng" dirty="0">
                <a:ln w="9525">
                  <a:solidFill>
                    <a:schemeClr val="accent2"/>
                  </a:solidFill>
                  <a:prstDash val="solid"/>
                </a:ln>
                <a:effectLst>
                  <a:outerShdw blurRad="12700" dist="38100" dir="2700000" algn="tl" rotWithShape="0">
                    <a:schemeClr val="bg1">
                      <a:lumMod val="50000"/>
                    </a:schemeClr>
                  </a:outerShdw>
                </a:effectLst>
                <a:latin typeface="David" panose="020E0502060401010101" pitchFamily="34" charset="-79"/>
                <a:cs typeface="David" panose="020E0502060401010101" pitchFamily="34" charset="-79"/>
              </a:rPr>
              <a:t>תקציב חברת הניהול – 2026</a:t>
            </a:r>
          </a:p>
        </p:txBody>
      </p:sp>
      <p:pic>
        <p:nvPicPr>
          <p:cNvPr id="3" name="Picture 2">
            <a:extLst>
              <a:ext uri="{FF2B5EF4-FFF2-40B4-BE49-F238E27FC236}">
                <a16:creationId xmlns:a16="http://schemas.microsoft.com/office/drawing/2014/main" id="{09F2DDB7-DB5F-A8E7-0AF3-363514DE35FF}"/>
              </a:ext>
            </a:extLst>
          </p:cNvPr>
          <p:cNvPicPr>
            <a:picLocks noChangeAspect="1"/>
          </p:cNvPicPr>
          <p:nvPr/>
        </p:nvPicPr>
        <p:blipFill>
          <a:blip r:embed="rId2"/>
          <a:stretch>
            <a:fillRect/>
          </a:stretch>
        </p:blipFill>
        <p:spPr>
          <a:xfrm>
            <a:off x="3231540" y="1323439"/>
            <a:ext cx="5728918" cy="5407397"/>
          </a:xfrm>
          <a:prstGeom prst="rect">
            <a:avLst/>
          </a:prstGeom>
        </p:spPr>
      </p:pic>
    </p:spTree>
    <p:extLst>
      <p:ext uri="{BB962C8B-B14F-4D97-AF65-F5344CB8AC3E}">
        <p14:creationId xmlns:p14="http://schemas.microsoft.com/office/powerpoint/2010/main" val="29461921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מלבן 3">
            <a:extLst>
              <a:ext uri="{FF2B5EF4-FFF2-40B4-BE49-F238E27FC236}">
                <a16:creationId xmlns:a16="http://schemas.microsoft.com/office/drawing/2014/main" id="{D1C691A2-E008-7A1F-FBC5-B9A68D244641}"/>
              </a:ext>
            </a:extLst>
          </p:cNvPr>
          <p:cNvSpPr/>
          <p:nvPr/>
        </p:nvSpPr>
        <p:spPr>
          <a:xfrm>
            <a:off x="-1" y="0"/>
            <a:ext cx="12192000" cy="1323439"/>
          </a:xfrm>
          <a:prstGeom prst="rect">
            <a:avLst/>
          </a:prstGeom>
          <a:noFill/>
        </p:spPr>
        <p:txBody>
          <a:bodyPr wrap="square" lIns="91440" tIns="45720" rIns="91440" bIns="45720">
            <a:spAutoFit/>
          </a:bodyPr>
          <a:lstStyle/>
          <a:p>
            <a:pPr algn="ctr"/>
            <a:r>
              <a:rPr lang="he-IL" sz="8000" b="1" u="sng" dirty="0">
                <a:ln w="9525">
                  <a:solidFill>
                    <a:schemeClr val="accent2"/>
                  </a:solidFill>
                  <a:prstDash val="solid"/>
                </a:ln>
                <a:effectLst>
                  <a:outerShdw blurRad="12700" dist="38100" dir="2700000" algn="tl" rotWithShape="0">
                    <a:schemeClr val="bg1">
                      <a:lumMod val="50000"/>
                    </a:schemeClr>
                  </a:outerShdw>
                </a:effectLst>
                <a:latin typeface="David" panose="020E0502060401010101" pitchFamily="34" charset="-79"/>
                <a:cs typeface="David" panose="020E0502060401010101" pitchFamily="34" charset="-79"/>
              </a:rPr>
              <a:t>תקציב ועד הבית</a:t>
            </a:r>
          </a:p>
        </p:txBody>
      </p:sp>
      <p:graphicFrame>
        <p:nvGraphicFramePr>
          <p:cNvPr id="7" name="Table 6">
            <a:extLst>
              <a:ext uri="{FF2B5EF4-FFF2-40B4-BE49-F238E27FC236}">
                <a16:creationId xmlns:a16="http://schemas.microsoft.com/office/drawing/2014/main" id="{BE8E83B1-BCD9-3BF5-BDF9-5711DB0D055E}"/>
              </a:ext>
            </a:extLst>
          </p:cNvPr>
          <p:cNvGraphicFramePr>
            <a:graphicFrameLocks noGrp="1"/>
          </p:cNvGraphicFramePr>
          <p:nvPr>
            <p:extLst>
              <p:ext uri="{D42A27DB-BD31-4B8C-83A1-F6EECF244321}">
                <p14:modId xmlns:p14="http://schemas.microsoft.com/office/powerpoint/2010/main" val="3741072299"/>
              </p:ext>
            </p:extLst>
          </p:nvPr>
        </p:nvGraphicFramePr>
        <p:xfrm>
          <a:off x="1720088" y="1823008"/>
          <a:ext cx="8751823" cy="3211984"/>
        </p:xfrm>
        <a:graphic>
          <a:graphicData uri="http://schemas.openxmlformats.org/drawingml/2006/table">
            <a:tbl>
              <a:tblPr rtl="1" firstRow="1" bandRow="1">
                <a:tableStyleId>{9DCAF9ED-07DC-4A11-8D7F-57B35C25682E}</a:tableStyleId>
              </a:tblPr>
              <a:tblGrid>
                <a:gridCol w="3358511">
                  <a:extLst>
                    <a:ext uri="{9D8B030D-6E8A-4147-A177-3AD203B41FA5}">
                      <a16:colId xmlns:a16="http://schemas.microsoft.com/office/drawing/2014/main" val="2511993412"/>
                    </a:ext>
                  </a:extLst>
                </a:gridCol>
                <a:gridCol w="5393312">
                  <a:extLst>
                    <a:ext uri="{9D8B030D-6E8A-4147-A177-3AD203B41FA5}">
                      <a16:colId xmlns:a16="http://schemas.microsoft.com/office/drawing/2014/main" val="2267492344"/>
                    </a:ext>
                  </a:extLst>
                </a:gridCol>
              </a:tblGrid>
              <a:tr h="802996">
                <a:tc>
                  <a:txBody>
                    <a:bodyPr/>
                    <a:lstStyle/>
                    <a:p>
                      <a:pPr algn="ctr" rtl="1"/>
                      <a:r>
                        <a:rPr lang="he-IL" sz="3600" b="1" kern="1200" dirty="0">
                          <a:solidFill>
                            <a:schemeClr val="lt1"/>
                          </a:solidFill>
                          <a:effectLst/>
                          <a:latin typeface="David" panose="020E0502060401010101" pitchFamily="34" charset="-79"/>
                          <a:cs typeface="David" panose="020E0502060401010101" pitchFamily="34" charset="-79"/>
                        </a:rPr>
                        <a:t>הכנסות</a:t>
                      </a:r>
                      <a:endParaRPr lang="he-IL" sz="3600" b="1" dirty="0">
                        <a:latin typeface="David" panose="020E0502060401010101" pitchFamily="34" charset="-79"/>
                        <a:cs typeface="David" panose="020E0502060401010101" pitchFamily="34" charset="-79"/>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sz="3600" b="1" dirty="0">
                          <a:latin typeface="David" panose="020E0502060401010101" pitchFamily="34" charset="-79"/>
                          <a:cs typeface="David" panose="020E0502060401010101" pitchFamily="34" charset="-79"/>
                        </a:rPr>
                        <a:t>סכום</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15666087"/>
                  </a:ext>
                </a:extLst>
              </a:tr>
              <a:tr h="802996">
                <a:tc>
                  <a:txBody>
                    <a:bodyPr/>
                    <a:lstStyle/>
                    <a:p>
                      <a:pPr algn="ctr" rtl="1"/>
                      <a:r>
                        <a:rPr lang="he-IL" sz="3600" b="1" dirty="0">
                          <a:latin typeface="David" panose="020E0502060401010101" pitchFamily="34" charset="-79"/>
                          <a:cs typeface="David" panose="020E0502060401010101" pitchFamily="34" charset="-79"/>
                        </a:rPr>
                        <a:t>שנת 2025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sz="3600" b="1" kern="1200" dirty="0">
                          <a:solidFill>
                            <a:schemeClr val="dk1"/>
                          </a:solidFill>
                          <a:effectLst/>
                          <a:latin typeface="David" panose="020E0502060401010101" pitchFamily="34" charset="-79"/>
                          <a:cs typeface="David" panose="020E0502060401010101" pitchFamily="34" charset="-79"/>
                        </a:rPr>
                        <a:t>199,887 ₪</a:t>
                      </a:r>
                      <a:endParaRPr lang="he-IL" sz="3600" b="1" dirty="0">
                        <a:latin typeface="David" panose="020E0502060401010101" pitchFamily="34" charset="-79"/>
                        <a:cs typeface="David" panose="020E0502060401010101" pitchFamily="34" charset="-79"/>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00111812"/>
                  </a:ext>
                </a:extLst>
              </a:tr>
              <a:tr h="802996">
                <a:tc>
                  <a:txBody>
                    <a:bodyPr/>
                    <a:lstStyle/>
                    <a:p>
                      <a:pPr algn="ctr" rtl="1"/>
                      <a:r>
                        <a:rPr lang="he-IL" sz="3600" b="1" dirty="0">
                          <a:latin typeface="David" panose="020E0502060401010101" pitchFamily="34" charset="-79"/>
                          <a:cs typeface="David" panose="020E0502060401010101" pitchFamily="34" charset="-79"/>
                        </a:rPr>
                        <a:t>שנת 2026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he-IL" sz="3600" b="1" kern="1200" dirty="0">
                          <a:solidFill>
                            <a:schemeClr val="dk1"/>
                          </a:solidFill>
                          <a:effectLst/>
                          <a:latin typeface="David" panose="020E0502060401010101" pitchFamily="34" charset="-79"/>
                          <a:cs typeface="David" panose="020E0502060401010101" pitchFamily="34" charset="-79"/>
                        </a:rPr>
                        <a:t>113,172 ₪ (עד ליום 7/9/26) </a:t>
                      </a:r>
                      <a:endParaRPr lang="en-US" sz="3600" b="1" kern="1200" dirty="0">
                        <a:solidFill>
                          <a:schemeClr val="dk1"/>
                        </a:solidFill>
                        <a:effectLst/>
                        <a:latin typeface="David" panose="020E0502060401010101" pitchFamily="34" charset="-79"/>
                        <a:ea typeface="+mn-ea"/>
                        <a:cs typeface="David" panose="020E0502060401010101" pitchFamily="34" charset="-79"/>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22322329"/>
                  </a:ext>
                </a:extLst>
              </a:tr>
              <a:tr h="802996">
                <a:tc>
                  <a:txBody>
                    <a:bodyPr/>
                    <a:lstStyle/>
                    <a:p>
                      <a:pPr algn="ctr" rtl="1"/>
                      <a:r>
                        <a:rPr lang="he-IL" sz="3600" b="1" dirty="0">
                          <a:latin typeface="David" panose="020E0502060401010101" pitchFamily="34" charset="-79"/>
                          <a:cs typeface="David" panose="020E0502060401010101" pitchFamily="34" charset="-79"/>
                        </a:rPr>
                        <a:t>סה"כ</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he-IL" sz="3600" b="1" kern="1200" dirty="0">
                          <a:solidFill>
                            <a:schemeClr val="dk1"/>
                          </a:solidFill>
                          <a:effectLst/>
                          <a:latin typeface="David" panose="020E0502060401010101" pitchFamily="34" charset="-79"/>
                          <a:cs typeface="David" panose="020E0502060401010101" pitchFamily="34" charset="-79"/>
                        </a:rPr>
                        <a:t>313,059 ₪ </a:t>
                      </a:r>
                      <a:endParaRPr lang="en-US" sz="3600" b="1" kern="1200" dirty="0">
                        <a:solidFill>
                          <a:schemeClr val="dk1"/>
                        </a:solidFill>
                        <a:effectLst/>
                        <a:latin typeface="David" panose="020E0502060401010101" pitchFamily="34" charset="-79"/>
                        <a:ea typeface="+mn-ea"/>
                        <a:cs typeface="David" panose="020E0502060401010101" pitchFamily="34" charset="-79"/>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01351650"/>
                  </a:ext>
                </a:extLst>
              </a:tr>
            </a:tbl>
          </a:graphicData>
        </a:graphic>
      </p:graphicFrame>
      <p:sp>
        <p:nvSpPr>
          <p:cNvPr id="9" name="TextBox 8">
            <a:extLst>
              <a:ext uri="{FF2B5EF4-FFF2-40B4-BE49-F238E27FC236}">
                <a16:creationId xmlns:a16="http://schemas.microsoft.com/office/drawing/2014/main" id="{BA6FDB80-07B1-9E50-ACCF-852E8B99C53E}"/>
              </a:ext>
            </a:extLst>
          </p:cNvPr>
          <p:cNvSpPr txBox="1"/>
          <p:nvPr/>
        </p:nvSpPr>
        <p:spPr>
          <a:xfrm>
            <a:off x="321563" y="5262479"/>
            <a:ext cx="11548872" cy="1015663"/>
          </a:xfrm>
          <a:prstGeom prst="rect">
            <a:avLst/>
          </a:prstGeom>
          <a:noFill/>
        </p:spPr>
        <p:txBody>
          <a:bodyPr wrap="square">
            <a:spAutoFit/>
          </a:bodyPr>
          <a:lstStyle/>
          <a:p>
            <a:pPr marL="457200" algn="just" rtl="1"/>
            <a:r>
              <a:rPr lang="he-IL" sz="3000" b="1" dirty="0">
                <a:effectLst/>
                <a:latin typeface="Times New Roman" panose="02020603050405020304" pitchFamily="18" charset="0"/>
                <a:ea typeface="Calibri" panose="020F0502020204030204" pitchFamily="34" charset="0"/>
                <a:cs typeface="David" panose="020E0502060401010101" pitchFamily="34" charset="-79"/>
              </a:rPr>
              <a:t>סטטוס גביית התשלום בשנת 2026 הינו כ- 55%. </a:t>
            </a:r>
          </a:p>
          <a:p>
            <a:pPr marL="457200" algn="just" rtl="1"/>
            <a:r>
              <a:rPr lang="he-IL" sz="3000" b="1" dirty="0">
                <a:effectLst/>
                <a:latin typeface="Times New Roman" panose="02020603050405020304" pitchFamily="18" charset="0"/>
                <a:ea typeface="Calibri" panose="020F0502020204030204" pitchFamily="34" charset="0"/>
                <a:cs typeface="David" panose="020E0502060401010101" pitchFamily="34" charset="-79"/>
              </a:rPr>
              <a:t>מבוקש מהדיירים שטרם שילמו, לשלם את התשלומים לשנת 2026 בהקדם.</a:t>
            </a:r>
            <a:endParaRPr lang="en-US" sz="3000" b="1" dirty="0">
              <a:effectLst/>
              <a:latin typeface="Times New Roman" panose="02020603050405020304" pitchFamily="18" charset="0"/>
              <a:ea typeface="Calibri" panose="020F0502020204030204" pitchFamily="34" charset="0"/>
            </a:endParaRPr>
          </a:p>
        </p:txBody>
      </p:sp>
    </p:spTree>
    <p:extLst>
      <p:ext uri="{BB962C8B-B14F-4D97-AF65-F5344CB8AC3E}">
        <p14:creationId xmlns:p14="http://schemas.microsoft.com/office/powerpoint/2010/main" val="27562206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מלבן 3">
            <a:extLst>
              <a:ext uri="{FF2B5EF4-FFF2-40B4-BE49-F238E27FC236}">
                <a16:creationId xmlns:a16="http://schemas.microsoft.com/office/drawing/2014/main" id="{D1C691A2-E008-7A1F-FBC5-B9A68D244641}"/>
              </a:ext>
            </a:extLst>
          </p:cNvPr>
          <p:cNvSpPr/>
          <p:nvPr/>
        </p:nvSpPr>
        <p:spPr>
          <a:xfrm>
            <a:off x="-1" y="0"/>
            <a:ext cx="12192000" cy="1323439"/>
          </a:xfrm>
          <a:prstGeom prst="rect">
            <a:avLst/>
          </a:prstGeom>
          <a:noFill/>
        </p:spPr>
        <p:txBody>
          <a:bodyPr wrap="square" lIns="91440" tIns="45720" rIns="91440" bIns="45720">
            <a:spAutoFit/>
          </a:bodyPr>
          <a:lstStyle/>
          <a:p>
            <a:pPr algn="ctr"/>
            <a:r>
              <a:rPr lang="he-IL" sz="8000" b="1" u="sng" dirty="0">
                <a:ln w="9525">
                  <a:solidFill>
                    <a:schemeClr val="accent2"/>
                  </a:solidFill>
                  <a:prstDash val="solid"/>
                </a:ln>
                <a:effectLst>
                  <a:outerShdw blurRad="12700" dist="38100" dir="2700000" algn="tl" rotWithShape="0">
                    <a:schemeClr val="bg1">
                      <a:lumMod val="50000"/>
                    </a:schemeClr>
                  </a:outerShdw>
                </a:effectLst>
                <a:latin typeface="David" panose="020E0502060401010101" pitchFamily="34" charset="-79"/>
                <a:cs typeface="David" panose="020E0502060401010101" pitchFamily="34" charset="-79"/>
              </a:rPr>
              <a:t>תקציב ועד הבית</a:t>
            </a:r>
          </a:p>
        </p:txBody>
      </p:sp>
      <p:graphicFrame>
        <p:nvGraphicFramePr>
          <p:cNvPr id="7" name="Table 6">
            <a:extLst>
              <a:ext uri="{FF2B5EF4-FFF2-40B4-BE49-F238E27FC236}">
                <a16:creationId xmlns:a16="http://schemas.microsoft.com/office/drawing/2014/main" id="{BE8E83B1-BCD9-3BF5-BDF9-5711DB0D055E}"/>
              </a:ext>
            </a:extLst>
          </p:cNvPr>
          <p:cNvGraphicFramePr>
            <a:graphicFrameLocks noGrp="1"/>
          </p:cNvGraphicFramePr>
          <p:nvPr>
            <p:extLst>
              <p:ext uri="{D42A27DB-BD31-4B8C-83A1-F6EECF244321}">
                <p14:modId xmlns:p14="http://schemas.microsoft.com/office/powerpoint/2010/main" val="156639936"/>
              </p:ext>
            </p:extLst>
          </p:nvPr>
        </p:nvGraphicFramePr>
        <p:xfrm>
          <a:off x="1811020" y="1323438"/>
          <a:ext cx="8814308" cy="5214517"/>
        </p:xfrm>
        <a:graphic>
          <a:graphicData uri="http://schemas.openxmlformats.org/drawingml/2006/table">
            <a:tbl>
              <a:tblPr rtl="1" firstRow="1" bandRow="1">
                <a:tableStyleId>{21E4AEA4-8DFA-4A89-87EB-49C32662AFE0}</a:tableStyleId>
              </a:tblPr>
              <a:tblGrid>
                <a:gridCol w="6341390">
                  <a:extLst>
                    <a:ext uri="{9D8B030D-6E8A-4147-A177-3AD203B41FA5}">
                      <a16:colId xmlns:a16="http://schemas.microsoft.com/office/drawing/2014/main" val="2511993412"/>
                    </a:ext>
                  </a:extLst>
                </a:gridCol>
                <a:gridCol w="2472918">
                  <a:extLst>
                    <a:ext uri="{9D8B030D-6E8A-4147-A177-3AD203B41FA5}">
                      <a16:colId xmlns:a16="http://schemas.microsoft.com/office/drawing/2014/main" val="2267492344"/>
                    </a:ext>
                  </a:extLst>
                </a:gridCol>
              </a:tblGrid>
              <a:tr h="474047">
                <a:tc>
                  <a:txBody>
                    <a:bodyPr/>
                    <a:lstStyle/>
                    <a:p>
                      <a:pPr marL="0" algn="ctr" defTabSz="914400" rtl="1" eaLnBrk="1" latinLnBrk="0" hangingPunct="1"/>
                      <a:r>
                        <a:rPr lang="he-IL" sz="2000" b="1" kern="1200" dirty="0">
                          <a:solidFill>
                            <a:schemeClr val="tx1"/>
                          </a:solidFill>
                          <a:effectLst/>
                          <a:latin typeface="David" panose="020E0502060401010101" pitchFamily="34" charset="-79"/>
                          <a:ea typeface="+mn-ea"/>
                          <a:cs typeface="David" panose="020E0502060401010101" pitchFamily="34" charset="-79"/>
                        </a:rPr>
                        <a:t>הוצאה</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1" eaLnBrk="1" latinLnBrk="0" hangingPunct="1"/>
                      <a:r>
                        <a:rPr lang="he-IL" sz="2000" b="1" kern="1200" dirty="0">
                          <a:solidFill>
                            <a:schemeClr val="tx1"/>
                          </a:solidFill>
                          <a:effectLst/>
                          <a:latin typeface="David" panose="020E0502060401010101" pitchFamily="34" charset="-79"/>
                          <a:ea typeface="+mn-ea"/>
                          <a:cs typeface="David" panose="020E0502060401010101" pitchFamily="34" charset="-79"/>
                        </a:rPr>
                        <a:t>סכום</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15666087"/>
                  </a:ext>
                </a:extLst>
              </a:tr>
              <a:tr h="474047">
                <a:tc>
                  <a:txBody>
                    <a:bodyPr/>
                    <a:lstStyle/>
                    <a:p>
                      <a:pPr marL="0" algn="ctr" defTabSz="914400" rtl="1" eaLnBrk="1" latinLnBrk="0" hangingPunct="1"/>
                      <a:r>
                        <a:rPr lang="he-IL" sz="2000" b="1" kern="1200" dirty="0">
                          <a:solidFill>
                            <a:schemeClr val="tx1"/>
                          </a:solidFill>
                          <a:effectLst/>
                          <a:latin typeface="David" panose="020E0502060401010101" pitchFamily="34" charset="-79"/>
                          <a:ea typeface="+mn-ea"/>
                          <a:cs typeface="David" panose="020E0502060401010101" pitchFamily="34" charset="-79"/>
                        </a:rPr>
                        <a:t>שיפוץ וחידוש רכוש משותף (צביעת כל המתחם וכו')</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1" eaLnBrk="1" latinLnBrk="0" hangingPunct="1"/>
                      <a:r>
                        <a:rPr lang="he-IL" sz="2000" b="1" kern="1200" dirty="0">
                          <a:solidFill>
                            <a:schemeClr val="tx1"/>
                          </a:solidFill>
                          <a:effectLst/>
                          <a:latin typeface="David" panose="020E0502060401010101" pitchFamily="34" charset="-79"/>
                          <a:ea typeface="+mn-ea"/>
                          <a:cs typeface="David" panose="020E0502060401010101" pitchFamily="34" charset="-79"/>
                        </a:rPr>
                        <a:t>155,000 ₪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00111812"/>
                  </a:ext>
                </a:extLst>
              </a:tr>
              <a:tr h="474047">
                <a:tc>
                  <a:txBody>
                    <a:bodyPr/>
                    <a:lstStyle/>
                    <a:p>
                      <a:pPr marL="0" algn="ctr" defTabSz="914400" rtl="1" eaLnBrk="1" latinLnBrk="0" hangingPunct="1"/>
                      <a:r>
                        <a:rPr lang="he-IL" sz="2000" b="1" kern="1200" dirty="0">
                          <a:solidFill>
                            <a:schemeClr val="tx1"/>
                          </a:solidFill>
                          <a:effectLst/>
                          <a:latin typeface="David" panose="020E0502060401010101" pitchFamily="34" charset="-79"/>
                          <a:ea typeface="+mn-ea"/>
                          <a:cs typeface="David" panose="020E0502060401010101" pitchFamily="34" charset="-79"/>
                        </a:rPr>
                        <a:t>הוצאות משפטיות (תביעת הדיירים שפגעו ברכוש המשותף)</a:t>
                      </a:r>
                      <a:endParaRPr lang="en-US" sz="2000" b="1" kern="1200" dirty="0">
                        <a:solidFill>
                          <a:schemeClr val="tx1"/>
                        </a:solidFill>
                        <a:effectLst/>
                        <a:latin typeface="David" panose="020E0502060401010101" pitchFamily="34" charset="-79"/>
                        <a:ea typeface="+mn-ea"/>
                        <a:cs typeface="David" panose="020E0502060401010101" pitchFamily="34" charset="-79"/>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he-IL" sz="2000" b="1" kern="1200" dirty="0">
                          <a:solidFill>
                            <a:schemeClr val="tx1"/>
                          </a:solidFill>
                          <a:effectLst/>
                          <a:latin typeface="David" panose="020E0502060401010101" pitchFamily="34" charset="-79"/>
                          <a:ea typeface="+mn-ea"/>
                          <a:cs typeface="David" panose="020E0502060401010101" pitchFamily="34" charset="-79"/>
                        </a:rPr>
                        <a:t>12,545 ₪</a:t>
                      </a:r>
                      <a:endParaRPr lang="en-US" sz="2000" b="1" kern="1200" dirty="0">
                        <a:solidFill>
                          <a:schemeClr val="tx1"/>
                        </a:solidFill>
                        <a:effectLst/>
                        <a:latin typeface="David" panose="020E0502060401010101" pitchFamily="34" charset="-79"/>
                        <a:ea typeface="+mn-ea"/>
                        <a:cs typeface="David" panose="020E0502060401010101" pitchFamily="34" charset="-79"/>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22322329"/>
                  </a:ext>
                </a:extLst>
              </a:tr>
              <a:tr h="474047">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he-IL" sz="2000" b="1" kern="1200" dirty="0">
                          <a:solidFill>
                            <a:schemeClr val="tx1"/>
                          </a:solidFill>
                          <a:effectLst/>
                          <a:latin typeface="David" panose="020E0502060401010101" pitchFamily="34" charset="-79"/>
                          <a:ea typeface="+mn-ea"/>
                          <a:cs typeface="David" panose="020E0502060401010101" pitchFamily="34" charset="-79"/>
                        </a:rPr>
                        <a:t>שיקום הגינה התחתונה (הסמוכה לשביל מרח' הנרייטה סאלד)</a:t>
                      </a:r>
                      <a:endParaRPr lang="en-US" sz="2000" b="1" kern="1200" dirty="0">
                        <a:solidFill>
                          <a:schemeClr val="tx1"/>
                        </a:solidFill>
                        <a:effectLst/>
                        <a:latin typeface="David" panose="020E0502060401010101" pitchFamily="34" charset="-79"/>
                        <a:ea typeface="+mn-ea"/>
                        <a:cs typeface="David" panose="020E0502060401010101" pitchFamily="34" charset="-79"/>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he-IL" sz="2000" b="1" kern="1200" dirty="0">
                          <a:solidFill>
                            <a:schemeClr val="tx1"/>
                          </a:solidFill>
                          <a:effectLst/>
                          <a:latin typeface="David" panose="020E0502060401010101" pitchFamily="34" charset="-79"/>
                          <a:ea typeface="+mn-ea"/>
                          <a:cs typeface="David" panose="020E0502060401010101" pitchFamily="34" charset="-79"/>
                        </a:rPr>
                        <a:t>10,829 ₪</a:t>
                      </a:r>
                      <a:endParaRPr lang="en-US" sz="2000" b="1" kern="1200" dirty="0">
                        <a:solidFill>
                          <a:schemeClr val="tx1"/>
                        </a:solidFill>
                        <a:effectLst/>
                        <a:latin typeface="David" panose="020E0502060401010101" pitchFamily="34" charset="-79"/>
                        <a:ea typeface="+mn-ea"/>
                        <a:cs typeface="David" panose="020E0502060401010101" pitchFamily="34" charset="-79"/>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01351650"/>
                  </a:ext>
                </a:extLst>
              </a:tr>
              <a:tr h="474047">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he-IL" sz="2000" b="1" kern="1200" dirty="0">
                          <a:solidFill>
                            <a:schemeClr val="tx1"/>
                          </a:solidFill>
                          <a:effectLst/>
                          <a:latin typeface="David" panose="020E0502060401010101" pitchFamily="34" charset="-79"/>
                          <a:ea typeface="+mn-ea"/>
                          <a:cs typeface="David" panose="020E0502060401010101" pitchFamily="34" charset="-79"/>
                        </a:rPr>
                        <a:t>שיקום אדניות</a:t>
                      </a:r>
                      <a:endParaRPr lang="en-US" sz="2000" b="1" kern="1200" dirty="0">
                        <a:solidFill>
                          <a:schemeClr val="tx1"/>
                        </a:solidFill>
                        <a:effectLst/>
                        <a:latin typeface="David" panose="020E0502060401010101" pitchFamily="34" charset="-79"/>
                        <a:ea typeface="+mn-ea"/>
                        <a:cs typeface="David" panose="020E0502060401010101" pitchFamily="34" charset="-79"/>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he-IL" sz="2000" b="1" kern="1200" dirty="0">
                          <a:solidFill>
                            <a:schemeClr val="tx1"/>
                          </a:solidFill>
                          <a:effectLst/>
                          <a:latin typeface="David" panose="020E0502060401010101" pitchFamily="34" charset="-79"/>
                          <a:ea typeface="+mn-ea"/>
                          <a:cs typeface="David" panose="020E0502060401010101" pitchFamily="34" charset="-79"/>
                        </a:rPr>
                        <a:t>13,000 ₪</a:t>
                      </a:r>
                      <a:endParaRPr lang="en-US" sz="2000" b="1" kern="1200" dirty="0">
                        <a:solidFill>
                          <a:schemeClr val="tx1"/>
                        </a:solidFill>
                        <a:effectLst/>
                        <a:latin typeface="David" panose="020E0502060401010101" pitchFamily="34" charset="-79"/>
                        <a:ea typeface="+mn-ea"/>
                        <a:cs typeface="David" panose="020E0502060401010101" pitchFamily="34" charset="-79"/>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85320521"/>
                  </a:ext>
                </a:extLst>
              </a:tr>
              <a:tr h="474047">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he-IL" sz="2000" b="1" kern="1200" dirty="0">
                          <a:solidFill>
                            <a:schemeClr val="tx1"/>
                          </a:solidFill>
                          <a:effectLst/>
                          <a:latin typeface="David" panose="020E0502060401010101" pitchFamily="34" charset="-79"/>
                          <a:ea typeface="+mn-ea"/>
                          <a:cs typeface="David" panose="020E0502060401010101" pitchFamily="34" charset="-79"/>
                        </a:rPr>
                        <a:t>תיקון מעליות</a:t>
                      </a:r>
                      <a:endParaRPr lang="en-US" sz="2000" b="1" kern="1200" dirty="0">
                        <a:solidFill>
                          <a:schemeClr val="tx1"/>
                        </a:solidFill>
                        <a:effectLst/>
                        <a:latin typeface="David" panose="020E0502060401010101" pitchFamily="34" charset="-79"/>
                        <a:ea typeface="+mn-ea"/>
                        <a:cs typeface="David" panose="020E0502060401010101" pitchFamily="34" charset="-79"/>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he-IL" sz="2000" b="1" kern="1200" dirty="0">
                          <a:solidFill>
                            <a:schemeClr val="tx1"/>
                          </a:solidFill>
                          <a:effectLst/>
                          <a:latin typeface="David" panose="020E0502060401010101" pitchFamily="34" charset="-79"/>
                          <a:ea typeface="+mn-ea"/>
                          <a:cs typeface="David" panose="020E0502060401010101" pitchFamily="34" charset="-79"/>
                        </a:rPr>
                        <a:t>14,160 ₪</a:t>
                      </a:r>
                      <a:endParaRPr lang="en-US" sz="2000" b="1" kern="1200" dirty="0">
                        <a:solidFill>
                          <a:schemeClr val="tx1"/>
                        </a:solidFill>
                        <a:effectLst/>
                        <a:latin typeface="David" panose="020E0502060401010101" pitchFamily="34" charset="-79"/>
                        <a:ea typeface="+mn-ea"/>
                        <a:cs typeface="David" panose="020E0502060401010101" pitchFamily="34" charset="-79"/>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23184041"/>
                  </a:ext>
                </a:extLst>
              </a:tr>
              <a:tr h="474047">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he-IL" sz="2000" b="1" kern="1200" dirty="0">
                          <a:solidFill>
                            <a:schemeClr val="tx1"/>
                          </a:solidFill>
                          <a:effectLst/>
                          <a:latin typeface="David" panose="020E0502060401010101" pitchFamily="34" charset="-79"/>
                          <a:ea typeface="+mn-ea"/>
                          <a:cs typeface="David" panose="020E0502060401010101" pitchFamily="34" charset="-79"/>
                        </a:rPr>
                        <a:t>תשלום למלון עבור מחסומי כניסה לחניה + החלפת זכוכית</a:t>
                      </a:r>
                      <a:endParaRPr lang="en-US" sz="2000" b="1" kern="1200" dirty="0">
                        <a:solidFill>
                          <a:schemeClr val="tx1"/>
                        </a:solidFill>
                        <a:effectLst/>
                        <a:latin typeface="David" panose="020E0502060401010101" pitchFamily="34" charset="-79"/>
                        <a:ea typeface="+mn-ea"/>
                        <a:cs typeface="David" panose="020E0502060401010101" pitchFamily="34" charset="-79"/>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he-IL" sz="2000" b="1" kern="1200" dirty="0">
                          <a:solidFill>
                            <a:schemeClr val="tx1"/>
                          </a:solidFill>
                          <a:effectLst/>
                          <a:latin typeface="David" panose="020E0502060401010101" pitchFamily="34" charset="-79"/>
                          <a:ea typeface="+mn-ea"/>
                          <a:cs typeface="David" panose="020E0502060401010101" pitchFamily="34" charset="-79"/>
                        </a:rPr>
                        <a:t>16,084 ₪</a:t>
                      </a:r>
                      <a:endParaRPr lang="en-US" sz="2000" b="1" kern="1200" dirty="0">
                        <a:solidFill>
                          <a:schemeClr val="tx1"/>
                        </a:solidFill>
                        <a:effectLst/>
                        <a:latin typeface="David" panose="020E0502060401010101" pitchFamily="34" charset="-79"/>
                        <a:ea typeface="+mn-ea"/>
                        <a:cs typeface="David" panose="020E0502060401010101" pitchFamily="34" charset="-79"/>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52770077"/>
                  </a:ext>
                </a:extLst>
              </a:tr>
              <a:tr h="474047">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he-IL" sz="2000" b="1" kern="1200" dirty="0">
                          <a:solidFill>
                            <a:schemeClr val="tx1"/>
                          </a:solidFill>
                          <a:effectLst/>
                          <a:latin typeface="David" panose="020E0502060401010101" pitchFamily="34" charset="-79"/>
                          <a:ea typeface="+mn-ea"/>
                          <a:cs typeface="David" panose="020E0502060401010101" pitchFamily="34" charset="-79"/>
                        </a:rPr>
                        <a:t>החלפת מחליף חום</a:t>
                      </a:r>
                      <a:endParaRPr lang="en-US" sz="2000" b="1" kern="1200" dirty="0">
                        <a:solidFill>
                          <a:schemeClr val="tx1"/>
                        </a:solidFill>
                        <a:effectLst/>
                        <a:latin typeface="David" panose="020E0502060401010101" pitchFamily="34" charset="-79"/>
                        <a:ea typeface="+mn-ea"/>
                        <a:cs typeface="David" panose="020E0502060401010101" pitchFamily="34" charset="-79"/>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he-IL" sz="2000" b="1" kern="1200" dirty="0">
                          <a:solidFill>
                            <a:schemeClr val="tx1"/>
                          </a:solidFill>
                          <a:effectLst/>
                          <a:latin typeface="David" panose="020E0502060401010101" pitchFamily="34" charset="-79"/>
                          <a:ea typeface="+mn-ea"/>
                          <a:cs typeface="David" panose="020E0502060401010101" pitchFamily="34" charset="-79"/>
                        </a:rPr>
                        <a:t>94,400 ₪</a:t>
                      </a:r>
                      <a:endParaRPr lang="en-US" sz="2000" b="1" kern="1200" dirty="0">
                        <a:solidFill>
                          <a:schemeClr val="tx1"/>
                        </a:solidFill>
                        <a:effectLst/>
                        <a:latin typeface="David" panose="020E0502060401010101" pitchFamily="34" charset="-79"/>
                        <a:ea typeface="+mn-ea"/>
                        <a:cs typeface="David" panose="020E0502060401010101" pitchFamily="34" charset="-79"/>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06680934"/>
                  </a:ext>
                </a:extLst>
              </a:tr>
              <a:tr h="474047">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he-IL" sz="2000" b="1" kern="1200" dirty="0">
                          <a:solidFill>
                            <a:schemeClr val="tx1"/>
                          </a:solidFill>
                          <a:effectLst/>
                          <a:latin typeface="David" panose="020E0502060401010101" pitchFamily="34" charset="-79"/>
                          <a:ea typeface="+mn-ea"/>
                          <a:cs typeface="David" panose="020E0502060401010101" pitchFamily="34" charset="-79"/>
                        </a:rPr>
                        <a:t>תווית ושלטים</a:t>
                      </a:r>
                      <a:endParaRPr lang="en-US" sz="2000" b="1" kern="1200" dirty="0">
                        <a:solidFill>
                          <a:schemeClr val="tx1"/>
                        </a:solidFill>
                        <a:effectLst/>
                        <a:latin typeface="David" panose="020E0502060401010101" pitchFamily="34" charset="-79"/>
                        <a:ea typeface="+mn-ea"/>
                        <a:cs typeface="David" panose="020E0502060401010101" pitchFamily="34" charset="-79"/>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he-IL" sz="2000" b="1" kern="1200" dirty="0">
                          <a:solidFill>
                            <a:schemeClr val="tx1"/>
                          </a:solidFill>
                          <a:effectLst/>
                          <a:latin typeface="David" panose="020E0502060401010101" pitchFamily="34" charset="-79"/>
                          <a:ea typeface="+mn-ea"/>
                          <a:cs typeface="David" panose="020E0502060401010101" pitchFamily="34" charset="-79"/>
                        </a:rPr>
                        <a:t>801 ₪</a:t>
                      </a:r>
                      <a:endParaRPr lang="en-US" sz="2000" b="1" kern="1200" dirty="0">
                        <a:solidFill>
                          <a:schemeClr val="tx1"/>
                        </a:solidFill>
                        <a:effectLst/>
                        <a:latin typeface="David" panose="020E0502060401010101" pitchFamily="34" charset="-79"/>
                        <a:ea typeface="+mn-ea"/>
                        <a:cs typeface="David" panose="020E0502060401010101" pitchFamily="34" charset="-79"/>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16695112"/>
                  </a:ext>
                </a:extLst>
              </a:tr>
              <a:tr h="474047">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he-IL" sz="2000" b="1" kern="1200" dirty="0">
                          <a:solidFill>
                            <a:schemeClr val="tx1"/>
                          </a:solidFill>
                          <a:effectLst/>
                          <a:latin typeface="David" panose="020E0502060401010101" pitchFamily="34" charset="-79"/>
                          <a:ea typeface="+mn-ea"/>
                          <a:cs typeface="David" panose="020E0502060401010101" pitchFamily="34" charset="-79"/>
                        </a:rPr>
                        <a:t>תיקון משאבות</a:t>
                      </a:r>
                      <a:endParaRPr lang="en-US" sz="2000" b="1" kern="1200" dirty="0">
                        <a:solidFill>
                          <a:schemeClr val="tx1"/>
                        </a:solidFill>
                        <a:effectLst/>
                        <a:latin typeface="David" panose="020E0502060401010101" pitchFamily="34" charset="-79"/>
                        <a:ea typeface="+mn-ea"/>
                        <a:cs typeface="David" panose="020E0502060401010101" pitchFamily="34" charset="-79"/>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he-IL" sz="2000" b="1" kern="1200" dirty="0">
                          <a:solidFill>
                            <a:schemeClr val="tx1"/>
                          </a:solidFill>
                          <a:effectLst/>
                          <a:latin typeface="David" panose="020E0502060401010101" pitchFamily="34" charset="-79"/>
                          <a:ea typeface="+mn-ea"/>
                          <a:cs typeface="David" panose="020E0502060401010101" pitchFamily="34" charset="-79"/>
                        </a:rPr>
                        <a:t>14,396 ₪</a:t>
                      </a:r>
                      <a:endParaRPr lang="en-US" sz="2000" b="1" kern="1200" dirty="0">
                        <a:solidFill>
                          <a:schemeClr val="tx1"/>
                        </a:solidFill>
                        <a:effectLst/>
                        <a:latin typeface="David" panose="020E0502060401010101" pitchFamily="34" charset="-79"/>
                        <a:ea typeface="+mn-ea"/>
                        <a:cs typeface="David" panose="020E0502060401010101" pitchFamily="34" charset="-79"/>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15523023"/>
                  </a:ext>
                </a:extLst>
              </a:tr>
              <a:tr h="474047">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he-IL" sz="2000" b="1" kern="1200" dirty="0">
                          <a:solidFill>
                            <a:schemeClr val="tx1"/>
                          </a:solidFill>
                          <a:effectLst/>
                          <a:latin typeface="David" panose="020E0502060401010101" pitchFamily="34" charset="-79"/>
                          <a:ea typeface="+mn-ea"/>
                          <a:cs typeface="David" panose="020E0502060401010101" pitchFamily="34" charset="-79"/>
                        </a:rPr>
                        <a:t>סה"כ </a:t>
                      </a:r>
                      <a:endParaRPr lang="en-US" sz="2000" b="1" kern="1200" dirty="0">
                        <a:solidFill>
                          <a:schemeClr val="tx1"/>
                        </a:solidFill>
                        <a:effectLst/>
                        <a:latin typeface="David" panose="020E0502060401010101" pitchFamily="34" charset="-79"/>
                        <a:ea typeface="+mn-ea"/>
                        <a:cs typeface="David" panose="020E0502060401010101" pitchFamily="34" charset="-79"/>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he-IL" sz="2000" b="1" kern="1200" dirty="0">
                          <a:solidFill>
                            <a:schemeClr val="tx1"/>
                          </a:solidFill>
                          <a:effectLst/>
                          <a:latin typeface="David" panose="020E0502060401010101" pitchFamily="34" charset="-79"/>
                          <a:ea typeface="+mn-ea"/>
                          <a:cs typeface="David" panose="020E0502060401010101" pitchFamily="34" charset="-79"/>
                        </a:rPr>
                        <a:t>331,215 ₪</a:t>
                      </a:r>
                      <a:endParaRPr lang="en-US" sz="2000" b="1" kern="1200" dirty="0">
                        <a:solidFill>
                          <a:schemeClr val="tx1"/>
                        </a:solidFill>
                        <a:effectLst/>
                        <a:latin typeface="David" panose="020E0502060401010101" pitchFamily="34" charset="-79"/>
                        <a:ea typeface="+mn-ea"/>
                        <a:cs typeface="David" panose="020E0502060401010101" pitchFamily="34" charset="-79"/>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12732095"/>
                  </a:ext>
                </a:extLst>
              </a:tr>
            </a:tbl>
          </a:graphicData>
        </a:graphic>
      </p:graphicFrame>
    </p:spTree>
    <p:extLst>
      <p:ext uri="{BB962C8B-B14F-4D97-AF65-F5344CB8AC3E}">
        <p14:creationId xmlns:p14="http://schemas.microsoft.com/office/powerpoint/2010/main" val="40019605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מלבן 3">
            <a:extLst>
              <a:ext uri="{FF2B5EF4-FFF2-40B4-BE49-F238E27FC236}">
                <a16:creationId xmlns:a16="http://schemas.microsoft.com/office/drawing/2014/main" id="{D1C691A2-E008-7A1F-FBC5-B9A68D244641}"/>
              </a:ext>
            </a:extLst>
          </p:cNvPr>
          <p:cNvSpPr/>
          <p:nvPr/>
        </p:nvSpPr>
        <p:spPr>
          <a:xfrm>
            <a:off x="0" y="0"/>
            <a:ext cx="12192000" cy="954107"/>
          </a:xfrm>
          <a:prstGeom prst="rect">
            <a:avLst/>
          </a:prstGeom>
          <a:noFill/>
        </p:spPr>
        <p:txBody>
          <a:bodyPr wrap="square" lIns="91440" tIns="45720" rIns="91440" bIns="45720">
            <a:spAutoFit/>
          </a:bodyPr>
          <a:lstStyle/>
          <a:p>
            <a:pPr algn="ctr"/>
            <a:r>
              <a:rPr lang="he-IL" sz="5600" b="1" u="sng" dirty="0">
                <a:ln w="9525">
                  <a:solidFill>
                    <a:schemeClr val="accent2"/>
                  </a:solidFill>
                  <a:prstDash val="solid"/>
                </a:ln>
                <a:effectLst>
                  <a:outerShdw blurRad="12700" dist="38100" dir="2700000" algn="tl" rotWithShape="0">
                    <a:schemeClr val="bg1">
                      <a:lumMod val="50000"/>
                    </a:schemeClr>
                  </a:outerShdw>
                </a:effectLst>
                <a:latin typeface="David" panose="020E0502060401010101" pitchFamily="34" charset="-79"/>
                <a:cs typeface="David" panose="020E0502060401010101" pitchFamily="34" charset="-79"/>
              </a:rPr>
              <a:t>מערכת המיזוג (מגדלי הקירור) בבניין המגדל</a:t>
            </a:r>
          </a:p>
        </p:txBody>
      </p:sp>
      <p:sp>
        <p:nvSpPr>
          <p:cNvPr id="2" name="כותרת משנה 2">
            <a:extLst>
              <a:ext uri="{FF2B5EF4-FFF2-40B4-BE49-F238E27FC236}">
                <a16:creationId xmlns:a16="http://schemas.microsoft.com/office/drawing/2014/main" id="{6489CBCA-35E4-75FD-B8D1-E18F6418DC38}"/>
              </a:ext>
            </a:extLst>
          </p:cNvPr>
          <p:cNvSpPr>
            <a:spLocks noGrp="1"/>
          </p:cNvSpPr>
          <p:nvPr>
            <p:ph type="subTitle" idx="1"/>
          </p:nvPr>
        </p:nvSpPr>
        <p:spPr>
          <a:xfrm>
            <a:off x="592266" y="1196333"/>
            <a:ext cx="11007467" cy="1949203"/>
          </a:xfrm>
        </p:spPr>
        <p:txBody>
          <a:bodyPr>
            <a:noAutofit/>
          </a:bodyPr>
          <a:lstStyle/>
          <a:p>
            <a:pPr marL="228600" algn="just" rtl="1"/>
            <a:r>
              <a:rPr lang="he-IL" sz="4000" b="1" dirty="0">
                <a:effectLst/>
                <a:latin typeface="Times New Roman" panose="02020603050405020304" pitchFamily="18" charset="0"/>
                <a:ea typeface="Calibri" panose="020F0502020204030204" pitchFamily="34" charset="0"/>
                <a:cs typeface="David" panose="020E0502060401010101" pitchFamily="34" charset="-79"/>
              </a:rPr>
              <a:t>מערכת המיזוג בבניין המגדל קיימת מזה 28 שנה. </a:t>
            </a:r>
            <a:endParaRPr lang="en-US" sz="4000" b="1" dirty="0">
              <a:effectLst/>
              <a:latin typeface="Times New Roman" panose="02020603050405020304" pitchFamily="18" charset="0"/>
              <a:ea typeface="Calibri" panose="020F0502020204030204" pitchFamily="34" charset="0"/>
            </a:endParaRPr>
          </a:p>
          <a:p>
            <a:pPr marL="228600" algn="just" rtl="1"/>
            <a:r>
              <a:rPr lang="he-IL" sz="4000" b="1" dirty="0">
                <a:effectLst/>
                <a:latin typeface="Times New Roman" panose="02020603050405020304" pitchFamily="18" charset="0"/>
                <a:ea typeface="Calibri" panose="020F0502020204030204" pitchFamily="34" charset="0"/>
                <a:cs typeface="David" panose="020E0502060401010101" pitchFamily="34" charset="-79"/>
              </a:rPr>
              <a:t>כתוצאה מבלאי גבוה, ובתחילת הקיץ הנוכחי, קרסה המערכת באופן כמעט מוחלט. </a:t>
            </a:r>
            <a:endParaRPr lang="en-US" sz="4000" b="1" dirty="0">
              <a:effectLst/>
              <a:latin typeface="Times New Roman" panose="02020603050405020304" pitchFamily="18" charset="0"/>
              <a:ea typeface="Calibri" panose="020F0502020204030204" pitchFamily="34" charset="0"/>
            </a:endParaRPr>
          </a:p>
        </p:txBody>
      </p:sp>
    </p:spTree>
    <p:extLst>
      <p:ext uri="{BB962C8B-B14F-4D97-AF65-F5344CB8AC3E}">
        <p14:creationId xmlns:p14="http://schemas.microsoft.com/office/powerpoint/2010/main" val="31291650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מלבן 3">
            <a:extLst>
              <a:ext uri="{FF2B5EF4-FFF2-40B4-BE49-F238E27FC236}">
                <a16:creationId xmlns:a16="http://schemas.microsoft.com/office/drawing/2014/main" id="{D1C691A2-E008-7A1F-FBC5-B9A68D244641}"/>
              </a:ext>
            </a:extLst>
          </p:cNvPr>
          <p:cNvSpPr/>
          <p:nvPr/>
        </p:nvSpPr>
        <p:spPr>
          <a:xfrm>
            <a:off x="0" y="0"/>
            <a:ext cx="12192000" cy="954107"/>
          </a:xfrm>
          <a:prstGeom prst="rect">
            <a:avLst/>
          </a:prstGeom>
          <a:noFill/>
        </p:spPr>
        <p:txBody>
          <a:bodyPr wrap="square" lIns="91440" tIns="45720" rIns="91440" bIns="45720">
            <a:spAutoFit/>
          </a:bodyPr>
          <a:lstStyle/>
          <a:p>
            <a:pPr algn="ctr"/>
            <a:r>
              <a:rPr lang="he-IL" sz="5600" b="1" u="sng" dirty="0">
                <a:ln w="9525">
                  <a:solidFill>
                    <a:schemeClr val="accent2"/>
                  </a:solidFill>
                  <a:prstDash val="solid"/>
                </a:ln>
                <a:effectLst>
                  <a:outerShdw blurRad="12700" dist="38100" dir="2700000" algn="tl" rotWithShape="0">
                    <a:schemeClr val="bg1">
                      <a:lumMod val="50000"/>
                    </a:schemeClr>
                  </a:outerShdw>
                </a:effectLst>
                <a:latin typeface="David" panose="020E0502060401010101" pitchFamily="34" charset="-79"/>
                <a:cs typeface="David" panose="020E0502060401010101" pitchFamily="34" charset="-79"/>
              </a:rPr>
              <a:t>מערכת המיזוג (מגדלי הקירור) בבניין המגדל</a:t>
            </a:r>
          </a:p>
        </p:txBody>
      </p:sp>
      <p:pic>
        <p:nvPicPr>
          <p:cNvPr id="5" name="Picture 4">
            <a:extLst>
              <a:ext uri="{FF2B5EF4-FFF2-40B4-BE49-F238E27FC236}">
                <a16:creationId xmlns:a16="http://schemas.microsoft.com/office/drawing/2014/main" id="{B087B5C4-3DB7-206E-A994-EDD8C3A8C39F}"/>
              </a:ext>
            </a:extLst>
          </p:cNvPr>
          <p:cNvPicPr>
            <a:picLocks noChangeAspect="1"/>
          </p:cNvPicPr>
          <p:nvPr/>
        </p:nvPicPr>
        <p:blipFill>
          <a:blip r:embed="rId2" cstate="screen">
            <a:extLst>
              <a:ext uri="{28A0092B-C50C-407E-A947-70E740481C1C}">
                <a14:useLocalDpi xmlns:a14="http://schemas.microsoft.com/office/drawing/2010/main" val="0"/>
              </a:ext>
            </a:extLst>
          </a:blip>
          <a:stretch>
            <a:fillRect/>
          </a:stretch>
        </p:blipFill>
        <p:spPr>
          <a:xfrm>
            <a:off x="7077456" y="1856505"/>
            <a:ext cx="4844694" cy="3633521"/>
          </a:xfrm>
          <a:prstGeom prst="rect">
            <a:avLst/>
          </a:prstGeom>
        </p:spPr>
      </p:pic>
      <p:pic>
        <p:nvPicPr>
          <p:cNvPr id="8" name="Picture 7">
            <a:extLst>
              <a:ext uri="{FF2B5EF4-FFF2-40B4-BE49-F238E27FC236}">
                <a16:creationId xmlns:a16="http://schemas.microsoft.com/office/drawing/2014/main" id="{4A1DF09F-7B27-D533-5A16-2C2956E752C1}"/>
              </a:ext>
            </a:extLst>
          </p:cNvPr>
          <p:cNvPicPr>
            <a:picLocks noChangeAspect="1"/>
          </p:cNvPicPr>
          <p:nvPr/>
        </p:nvPicPr>
        <p:blipFill>
          <a:blip r:embed="rId3" cstate="screen">
            <a:extLst>
              <a:ext uri="{28A0092B-C50C-407E-A947-70E740481C1C}">
                <a14:useLocalDpi xmlns:a14="http://schemas.microsoft.com/office/drawing/2010/main" val="0"/>
              </a:ext>
            </a:extLst>
          </a:blip>
          <a:stretch>
            <a:fillRect/>
          </a:stretch>
        </p:blipFill>
        <p:spPr>
          <a:xfrm>
            <a:off x="3726870" y="1175842"/>
            <a:ext cx="3235638" cy="4314184"/>
          </a:xfrm>
          <a:prstGeom prst="rect">
            <a:avLst/>
          </a:prstGeom>
        </p:spPr>
      </p:pic>
      <p:pic>
        <p:nvPicPr>
          <p:cNvPr id="10" name="Picture 9">
            <a:extLst>
              <a:ext uri="{FF2B5EF4-FFF2-40B4-BE49-F238E27FC236}">
                <a16:creationId xmlns:a16="http://schemas.microsoft.com/office/drawing/2014/main" id="{27EF65FC-37DC-31B8-9FC7-3544957A1C22}"/>
              </a:ext>
            </a:extLst>
          </p:cNvPr>
          <p:cNvPicPr>
            <a:picLocks noChangeAspect="1"/>
          </p:cNvPicPr>
          <p:nvPr/>
        </p:nvPicPr>
        <p:blipFill>
          <a:blip r:embed="rId4" cstate="screen">
            <a:extLst>
              <a:ext uri="{28A0092B-C50C-407E-A947-70E740481C1C}">
                <a14:useLocalDpi xmlns:a14="http://schemas.microsoft.com/office/drawing/2010/main" val="0"/>
              </a:ext>
            </a:extLst>
          </a:blip>
          <a:stretch>
            <a:fillRect/>
          </a:stretch>
        </p:blipFill>
        <p:spPr>
          <a:xfrm>
            <a:off x="209983" y="954107"/>
            <a:ext cx="3401939" cy="4535919"/>
          </a:xfrm>
          <a:prstGeom prst="rect">
            <a:avLst/>
          </a:prstGeom>
        </p:spPr>
      </p:pic>
    </p:spTree>
    <p:extLst>
      <p:ext uri="{BB962C8B-B14F-4D97-AF65-F5344CB8AC3E}">
        <p14:creationId xmlns:p14="http://schemas.microsoft.com/office/powerpoint/2010/main" val="2962006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מלבן 3">
            <a:extLst>
              <a:ext uri="{FF2B5EF4-FFF2-40B4-BE49-F238E27FC236}">
                <a16:creationId xmlns:a16="http://schemas.microsoft.com/office/drawing/2014/main" id="{D1C691A2-E008-7A1F-FBC5-B9A68D244641}"/>
              </a:ext>
            </a:extLst>
          </p:cNvPr>
          <p:cNvSpPr/>
          <p:nvPr/>
        </p:nvSpPr>
        <p:spPr>
          <a:xfrm>
            <a:off x="0" y="0"/>
            <a:ext cx="12192000" cy="954107"/>
          </a:xfrm>
          <a:prstGeom prst="rect">
            <a:avLst/>
          </a:prstGeom>
          <a:noFill/>
        </p:spPr>
        <p:txBody>
          <a:bodyPr wrap="square" lIns="91440" tIns="45720" rIns="91440" bIns="45720">
            <a:spAutoFit/>
          </a:bodyPr>
          <a:lstStyle/>
          <a:p>
            <a:pPr algn="ctr"/>
            <a:r>
              <a:rPr lang="he-IL" sz="5600" b="1" u="sng" dirty="0">
                <a:ln w="9525">
                  <a:solidFill>
                    <a:schemeClr val="accent2"/>
                  </a:solidFill>
                  <a:prstDash val="solid"/>
                </a:ln>
                <a:effectLst>
                  <a:outerShdw blurRad="12700" dist="38100" dir="2700000" algn="tl" rotWithShape="0">
                    <a:schemeClr val="bg1">
                      <a:lumMod val="50000"/>
                    </a:schemeClr>
                  </a:outerShdw>
                </a:effectLst>
                <a:latin typeface="David" panose="020E0502060401010101" pitchFamily="34" charset="-79"/>
                <a:cs typeface="David" panose="020E0502060401010101" pitchFamily="34" charset="-79"/>
              </a:rPr>
              <a:t>מערכת המיזוג (מגדלי הקירור) בבניין המגדל</a:t>
            </a:r>
          </a:p>
        </p:txBody>
      </p:sp>
      <p:sp>
        <p:nvSpPr>
          <p:cNvPr id="2" name="כותרת משנה 2">
            <a:extLst>
              <a:ext uri="{FF2B5EF4-FFF2-40B4-BE49-F238E27FC236}">
                <a16:creationId xmlns:a16="http://schemas.microsoft.com/office/drawing/2014/main" id="{6489CBCA-35E4-75FD-B8D1-E18F6418DC38}"/>
              </a:ext>
            </a:extLst>
          </p:cNvPr>
          <p:cNvSpPr>
            <a:spLocks noGrp="1"/>
          </p:cNvSpPr>
          <p:nvPr>
            <p:ph type="subTitle" idx="1"/>
          </p:nvPr>
        </p:nvSpPr>
        <p:spPr>
          <a:xfrm>
            <a:off x="592266" y="1196333"/>
            <a:ext cx="11007467" cy="2891035"/>
          </a:xfrm>
        </p:spPr>
        <p:txBody>
          <a:bodyPr>
            <a:noAutofit/>
          </a:bodyPr>
          <a:lstStyle/>
          <a:p>
            <a:pPr marL="228600" algn="just" rtl="1"/>
            <a:r>
              <a:rPr lang="he-IL" sz="4000" b="1" dirty="0">
                <a:latin typeface="Times New Roman" panose="02020603050405020304" pitchFamily="18" charset="0"/>
                <a:ea typeface="Calibri" panose="020F0502020204030204" pitchFamily="34" charset="0"/>
                <a:cs typeface="David" panose="020E0502060401010101" pitchFamily="34" charset="-79"/>
              </a:rPr>
              <a:t>הועד פעל באופן דחוף לקבלת חוות דעת יועץ מיזוג.</a:t>
            </a:r>
          </a:p>
          <a:p>
            <a:pPr marL="228600" algn="just"/>
            <a:r>
              <a:rPr lang="he-IL" sz="4000" b="1" dirty="0">
                <a:latin typeface="Times New Roman" panose="02020603050405020304" pitchFamily="18" charset="0"/>
                <a:ea typeface="Calibri" panose="020F0502020204030204" pitchFamily="34" charset="0"/>
                <a:cs typeface="David" panose="020E0502060401010101" pitchFamily="34" charset="-79"/>
              </a:rPr>
              <a:t>לאחר קבלת חוות הדעת ומסקנותיה, ומאחר וביצוע הדרוש צפוי להתבצע רק בעוד 4 חודשים, ועל מנת שנוכל לעבור את הקיץ עם מיזוג סביר, בוצע החלפה של רכיב אחד בלבד – מחליף החום.</a:t>
            </a:r>
            <a:endParaRPr lang="he-IL" sz="4000" b="1" dirty="0">
              <a:effectLst/>
              <a:latin typeface="Times New Roman" panose="02020603050405020304" pitchFamily="18" charset="0"/>
              <a:ea typeface="Calibri" panose="020F0502020204030204" pitchFamily="34" charset="0"/>
              <a:cs typeface="David" panose="020E0502060401010101" pitchFamily="34" charset="-79"/>
            </a:endParaRPr>
          </a:p>
          <a:p>
            <a:pPr marL="228600" algn="r" rtl="1"/>
            <a:endParaRPr lang="en-US" sz="4000" b="1" dirty="0">
              <a:effectLst/>
              <a:latin typeface="Times New Roman" panose="02020603050405020304" pitchFamily="18" charset="0"/>
              <a:ea typeface="Calibri" panose="020F0502020204030204" pitchFamily="34" charset="0"/>
            </a:endParaRPr>
          </a:p>
        </p:txBody>
      </p:sp>
    </p:spTree>
    <p:extLst>
      <p:ext uri="{BB962C8B-B14F-4D97-AF65-F5344CB8AC3E}">
        <p14:creationId xmlns:p14="http://schemas.microsoft.com/office/powerpoint/2010/main" val="33680947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מלבן 3">
            <a:extLst>
              <a:ext uri="{FF2B5EF4-FFF2-40B4-BE49-F238E27FC236}">
                <a16:creationId xmlns:a16="http://schemas.microsoft.com/office/drawing/2014/main" id="{D1C691A2-E008-7A1F-FBC5-B9A68D244641}"/>
              </a:ext>
            </a:extLst>
          </p:cNvPr>
          <p:cNvSpPr/>
          <p:nvPr/>
        </p:nvSpPr>
        <p:spPr>
          <a:xfrm>
            <a:off x="0" y="0"/>
            <a:ext cx="12192000" cy="954107"/>
          </a:xfrm>
          <a:prstGeom prst="rect">
            <a:avLst/>
          </a:prstGeom>
          <a:noFill/>
        </p:spPr>
        <p:txBody>
          <a:bodyPr wrap="square" lIns="91440" tIns="45720" rIns="91440" bIns="45720">
            <a:spAutoFit/>
          </a:bodyPr>
          <a:lstStyle/>
          <a:p>
            <a:pPr algn="ctr"/>
            <a:r>
              <a:rPr lang="he-IL" sz="5600" b="1" u="sng" dirty="0">
                <a:ln w="9525">
                  <a:solidFill>
                    <a:schemeClr val="accent2"/>
                  </a:solidFill>
                  <a:prstDash val="solid"/>
                </a:ln>
                <a:effectLst>
                  <a:outerShdw blurRad="12700" dist="38100" dir="2700000" algn="tl" rotWithShape="0">
                    <a:schemeClr val="bg1">
                      <a:lumMod val="50000"/>
                    </a:schemeClr>
                  </a:outerShdw>
                </a:effectLst>
                <a:latin typeface="David" panose="020E0502060401010101" pitchFamily="34" charset="-79"/>
                <a:cs typeface="David" panose="020E0502060401010101" pitchFamily="34" charset="-79"/>
              </a:rPr>
              <a:t>מערכת המיזוג (מגדלי הקירור) בבניין המגדל</a:t>
            </a:r>
          </a:p>
        </p:txBody>
      </p:sp>
      <p:pic>
        <p:nvPicPr>
          <p:cNvPr id="11" name="Picture 10">
            <a:extLst>
              <a:ext uri="{FF2B5EF4-FFF2-40B4-BE49-F238E27FC236}">
                <a16:creationId xmlns:a16="http://schemas.microsoft.com/office/drawing/2014/main" id="{C7830FD6-81F3-1A52-0395-779B965FAD5E}"/>
              </a:ext>
            </a:extLst>
          </p:cNvPr>
          <p:cNvPicPr>
            <a:picLocks/>
          </p:cNvPicPr>
          <p:nvPr/>
        </p:nvPicPr>
        <p:blipFill>
          <a:blip r:embed="rId2"/>
          <a:stretch>
            <a:fillRect/>
          </a:stretch>
        </p:blipFill>
        <p:spPr>
          <a:xfrm>
            <a:off x="6784220" y="954107"/>
            <a:ext cx="3960000" cy="5760000"/>
          </a:xfrm>
          <a:prstGeom prst="rect">
            <a:avLst/>
          </a:prstGeom>
        </p:spPr>
      </p:pic>
      <p:pic>
        <p:nvPicPr>
          <p:cNvPr id="13" name="Picture 12">
            <a:extLst>
              <a:ext uri="{FF2B5EF4-FFF2-40B4-BE49-F238E27FC236}">
                <a16:creationId xmlns:a16="http://schemas.microsoft.com/office/drawing/2014/main" id="{2485F5F9-62F4-9F1C-DAEB-B31E88FFF153}"/>
              </a:ext>
            </a:extLst>
          </p:cNvPr>
          <p:cNvPicPr preferRelativeResize="0">
            <a:picLocks/>
          </p:cNvPicPr>
          <p:nvPr/>
        </p:nvPicPr>
        <p:blipFill>
          <a:blip r:embed="rId3"/>
          <a:stretch>
            <a:fillRect/>
          </a:stretch>
        </p:blipFill>
        <p:spPr>
          <a:xfrm>
            <a:off x="2402110" y="954107"/>
            <a:ext cx="3960000" cy="5760000"/>
          </a:xfrm>
          <a:prstGeom prst="rect">
            <a:avLst/>
          </a:prstGeom>
        </p:spPr>
      </p:pic>
    </p:spTree>
    <p:extLst>
      <p:ext uri="{BB962C8B-B14F-4D97-AF65-F5344CB8AC3E}">
        <p14:creationId xmlns:p14="http://schemas.microsoft.com/office/powerpoint/2010/main" val="21448326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מלבן 3">
            <a:extLst>
              <a:ext uri="{FF2B5EF4-FFF2-40B4-BE49-F238E27FC236}">
                <a16:creationId xmlns:a16="http://schemas.microsoft.com/office/drawing/2014/main" id="{D1C691A2-E008-7A1F-FBC5-B9A68D244641}"/>
              </a:ext>
            </a:extLst>
          </p:cNvPr>
          <p:cNvSpPr/>
          <p:nvPr/>
        </p:nvSpPr>
        <p:spPr>
          <a:xfrm>
            <a:off x="0" y="0"/>
            <a:ext cx="12192000" cy="954107"/>
          </a:xfrm>
          <a:prstGeom prst="rect">
            <a:avLst/>
          </a:prstGeom>
          <a:noFill/>
        </p:spPr>
        <p:txBody>
          <a:bodyPr wrap="square" lIns="91440" tIns="45720" rIns="91440" bIns="45720">
            <a:spAutoFit/>
          </a:bodyPr>
          <a:lstStyle/>
          <a:p>
            <a:pPr algn="ctr"/>
            <a:r>
              <a:rPr lang="he-IL" sz="5600" b="1" u="sng" dirty="0">
                <a:ln w="9525">
                  <a:solidFill>
                    <a:schemeClr val="accent2"/>
                  </a:solidFill>
                  <a:prstDash val="solid"/>
                </a:ln>
                <a:effectLst>
                  <a:outerShdw blurRad="12700" dist="38100" dir="2700000" algn="tl" rotWithShape="0">
                    <a:schemeClr val="bg1">
                      <a:lumMod val="50000"/>
                    </a:schemeClr>
                  </a:outerShdw>
                </a:effectLst>
                <a:latin typeface="David" panose="020E0502060401010101" pitchFamily="34" charset="-79"/>
                <a:cs typeface="David" panose="020E0502060401010101" pitchFamily="34" charset="-79"/>
              </a:rPr>
              <a:t>מערכת המיזוג (מגדלי הקירור) בבניין המגדל</a:t>
            </a:r>
          </a:p>
        </p:txBody>
      </p:sp>
      <p:pic>
        <p:nvPicPr>
          <p:cNvPr id="5" name="Picture 4">
            <a:extLst>
              <a:ext uri="{FF2B5EF4-FFF2-40B4-BE49-F238E27FC236}">
                <a16:creationId xmlns:a16="http://schemas.microsoft.com/office/drawing/2014/main" id="{55C9084B-0869-5D9A-62FC-0C3975BF83E4}"/>
              </a:ext>
            </a:extLst>
          </p:cNvPr>
          <p:cNvPicPr>
            <a:picLocks noChangeAspect="1"/>
          </p:cNvPicPr>
          <p:nvPr/>
        </p:nvPicPr>
        <p:blipFill>
          <a:blip r:embed="rId2" cstate="screen">
            <a:extLst>
              <a:ext uri="{28A0092B-C50C-407E-A947-70E740481C1C}">
                <a14:useLocalDpi xmlns:a14="http://schemas.microsoft.com/office/drawing/2010/main" val="0"/>
              </a:ext>
            </a:extLst>
          </a:blip>
          <a:srcRect/>
          <a:stretch/>
        </p:blipFill>
        <p:spPr>
          <a:xfrm>
            <a:off x="3793236" y="954107"/>
            <a:ext cx="4605527" cy="5609442"/>
          </a:xfrm>
          <a:prstGeom prst="rect">
            <a:avLst/>
          </a:prstGeom>
        </p:spPr>
      </p:pic>
    </p:spTree>
    <p:extLst>
      <p:ext uri="{BB962C8B-B14F-4D97-AF65-F5344CB8AC3E}">
        <p14:creationId xmlns:p14="http://schemas.microsoft.com/office/powerpoint/2010/main" val="14824558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מלבן 3">
            <a:extLst>
              <a:ext uri="{FF2B5EF4-FFF2-40B4-BE49-F238E27FC236}">
                <a16:creationId xmlns:a16="http://schemas.microsoft.com/office/drawing/2014/main" id="{D1C691A2-E008-7A1F-FBC5-B9A68D244641}"/>
              </a:ext>
            </a:extLst>
          </p:cNvPr>
          <p:cNvSpPr/>
          <p:nvPr/>
        </p:nvSpPr>
        <p:spPr>
          <a:xfrm>
            <a:off x="0" y="0"/>
            <a:ext cx="12192000" cy="954107"/>
          </a:xfrm>
          <a:prstGeom prst="rect">
            <a:avLst/>
          </a:prstGeom>
          <a:noFill/>
        </p:spPr>
        <p:txBody>
          <a:bodyPr wrap="square" lIns="91440" tIns="45720" rIns="91440" bIns="45720">
            <a:spAutoFit/>
          </a:bodyPr>
          <a:lstStyle/>
          <a:p>
            <a:pPr algn="ctr"/>
            <a:r>
              <a:rPr lang="he-IL" sz="5600" b="1" u="sng" dirty="0">
                <a:ln w="9525">
                  <a:solidFill>
                    <a:schemeClr val="accent2"/>
                  </a:solidFill>
                  <a:prstDash val="solid"/>
                </a:ln>
                <a:effectLst>
                  <a:outerShdw blurRad="12700" dist="38100" dir="2700000" algn="tl" rotWithShape="0">
                    <a:schemeClr val="bg1">
                      <a:lumMod val="50000"/>
                    </a:schemeClr>
                  </a:outerShdw>
                </a:effectLst>
                <a:latin typeface="David" panose="020E0502060401010101" pitchFamily="34" charset="-79"/>
                <a:cs typeface="David" panose="020E0502060401010101" pitchFamily="34" charset="-79"/>
              </a:rPr>
              <a:t>מערכת המיזוג (מגדלי הקירור) בבניין המגדל</a:t>
            </a:r>
          </a:p>
        </p:txBody>
      </p:sp>
      <p:sp>
        <p:nvSpPr>
          <p:cNvPr id="2" name="כותרת משנה 2">
            <a:extLst>
              <a:ext uri="{FF2B5EF4-FFF2-40B4-BE49-F238E27FC236}">
                <a16:creationId xmlns:a16="http://schemas.microsoft.com/office/drawing/2014/main" id="{6489CBCA-35E4-75FD-B8D1-E18F6418DC38}"/>
              </a:ext>
            </a:extLst>
          </p:cNvPr>
          <p:cNvSpPr>
            <a:spLocks noGrp="1"/>
          </p:cNvSpPr>
          <p:nvPr>
            <p:ph type="subTitle" idx="1"/>
          </p:nvPr>
        </p:nvSpPr>
        <p:spPr>
          <a:xfrm>
            <a:off x="592266" y="954107"/>
            <a:ext cx="11007467" cy="5806439"/>
          </a:xfrm>
        </p:spPr>
        <p:txBody>
          <a:bodyPr anchor="t">
            <a:noAutofit/>
          </a:bodyPr>
          <a:lstStyle/>
          <a:p>
            <a:pPr marL="228600" algn="just"/>
            <a:r>
              <a:rPr lang="he-IL" sz="3800" b="1" dirty="0">
                <a:latin typeface="Times New Roman" panose="02020603050405020304" pitchFamily="18" charset="0"/>
                <a:ea typeface="Calibri" panose="020F0502020204030204" pitchFamily="34" charset="0"/>
                <a:cs typeface="David" panose="020E0502060401010101" pitchFamily="34" charset="-79"/>
              </a:rPr>
              <a:t>בעקבות ההחלפה, המיזוג השתפר, אך עדיין אין מנוס מהחלפת המערכת כולה.</a:t>
            </a:r>
            <a:endParaRPr lang="en-US" sz="3800" b="1" dirty="0">
              <a:latin typeface="Times New Roman" panose="02020603050405020304" pitchFamily="18" charset="0"/>
              <a:ea typeface="Calibri" panose="020F0502020204030204" pitchFamily="34" charset="0"/>
              <a:cs typeface="David" panose="020E0502060401010101" pitchFamily="34" charset="-79"/>
            </a:endParaRPr>
          </a:p>
          <a:p>
            <a:pPr marL="228600" algn="just" rtl="1"/>
            <a:r>
              <a:rPr lang="he-IL" sz="3800" b="1" dirty="0">
                <a:effectLst/>
                <a:latin typeface="Times New Roman" panose="02020603050405020304" pitchFamily="18" charset="0"/>
                <a:ea typeface="Calibri" panose="020F0502020204030204" pitchFamily="34" charset="0"/>
                <a:cs typeface="David" panose="020E0502060401010101" pitchFamily="34" charset="-79"/>
              </a:rPr>
              <a:t>הועד פעל לקבלת 3 הצעות מחיר כדלקמן:</a:t>
            </a:r>
            <a:endParaRPr lang="en-US" sz="3800" b="1" dirty="0">
              <a:effectLst/>
              <a:latin typeface="Times New Roman" panose="02020603050405020304" pitchFamily="18" charset="0"/>
              <a:ea typeface="Calibri" panose="020F0502020204030204" pitchFamily="34" charset="0"/>
            </a:endParaRPr>
          </a:p>
          <a:p>
            <a:pPr marL="800100" indent="-571500" algn="just" rtl="1">
              <a:buFont typeface="Wingdings" panose="05000000000000000000" pitchFamily="2" charset="2"/>
              <a:buChar char="q"/>
            </a:pPr>
            <a:r>
              <a:rPr lang="he-IL" sz="3800" b="1" dirty="0">
                <a:effectLst/>
                <a:latin typeface="Times New Roman" panose="02020603050405020304" pitchFamily="18" charset="0"/>
                <a:ea typeface="Calibri" panose="020F0502020204030204" pitchFamily="34" charset="0"/>
                <a:cs typeface="David" panose="020E0502060401010101" pitchFamily="34" charset="-79"/>
              </a:rPr>
              <a:t>חברת מגדלי קירור השרון</a:t>
            </a:r>
            <a:endParaRPr lang="en-US" sz="3800" b="1" dirty="0">
              <a:effectLst/>
              <a:latin typeface="Times New Roman" panose="02020603050405020304" pitchFamily="18" charset="0"/>
              <a:ea typeface="Calibri" panose="020F0502020204030204" pitchFamily="34" charset="0"/>
            </a:endParaRPr>
          </a:p>
          <a:p>
            <a:pPr marL="800100" indent="-571500" algn="just" rtl="1">
              <a:buFont typeface="Wingdings" panose="05000000000000000000" pitchFamily="2" charset="2"/>
              <a:buChar char="q"/>
            </a:pPr>
            <a:r>
              <a:rPr lang="he-IL" sz="3800" b="1" dirty="0">
                <a:effectLst/>
                <a:latin typeface="Times New Roman" panose="02020603050405020304" pitchFamily="18" charset="0"/>
                <a:ea typeface="Calibri" panose="020F0502020204030204" pitchFamily="34" charset="0"/>
                <a:cs typeface="David" panose="020E0502060401010101" pitchFamily="34" charset="-79"/>
              </a:rPr>
              <a:t>חברת מגדלי קירור ירושלמי בע"מ</a:t>
            </a:r>
            <a:endParaRPr lang="he-IL" sz="3800" b="1" dirty="0">
              <a:latin typeface="Times New Roman" panose="02020603050405020304" pitchFamily="18" charset="0"/>
              <a:ea typeface="Calibri" panose="020F0502020204030204" pitchFamily="34" charset="0"/>
            </a:endParaRPr>
          </a:p>
          <a:p>
            <a:pPr marL="800100" indent="-571500" algn="just" rtl="1">
              <a:buFont typeface="Wingdings" panose="05000000000000000000" pitchFamily="2" charset="2"/>
              <a:buChar char="q"/>
            </a:pPr>
            <a:r>
              <a:rPr lang="he-IL" sz="3800" b="1" dirty="0">
                <a:effectLst/>
                <a:ea typeface="Calibri" panose="020F0502020204030204" pitchFamily="34" charset="0"/>
                <a:cs typeface="David" panose="020E0502060401010101" pitchFamily="34" charset="-79"/>
              </a:rPr>
              <a:t>חברת אלקטרה בע"מ </a:t>
            </a:r>
          </a:p>
          <a:p>
            <a:pPr marL="228600" algn="just"/>
            <a:r>
              <a:rPr lang="he-IL" sz="3800" b="1" dirty="0">
                <a:latin typeface="Times New Roman" panose="02020603050405020304" pitchFamily="18" charset="0"/>
                <a:ea typeface="Calibri" panose="020F0502020204030204" pitchFamily="34" charset="0"/>
                <a:cs typeface="David" panose="020E0502060401010101" pitchFamily="34" charset="-79"/>
              </a:rPr>
              <a:t>לאחר בחינת הצעות המחיר, ובייעוץ מקצועי של יועץ המיזוג, הועד ממליץ ומציע לבצע את העבודה עם חב' מגדלי קירור השרון.</a:t>
            </a:r>
            <a:endParaRPr lang="en-US" sz="3800" dirty="0">
              <a:effectLst/>
              <a:latin typeface="Times New Roman" panose="02020603050405020304" pitchFamily="18" charset="0"/>
              <a:ea typeface="Calibri" panose="020F0502020204030204" pitchFamily="34" charset="0"/>
            </a:endParaRPr>
          </a:p>
        </p:txBody>
      </p:sp>
    </p:spTree>
    <p:extLst>
      <p:ext uri="{BB962C8B-B14F-4D97-AF65-F5344CB8AC3E}">
        <p14:creationId xmlns:p14="http://schemas.microsoft.com/office/powerpoint/2010/main" val="13225560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מלבן 3">
            <a:extLst>
              <a:ext uri="{FF2B5EF4-FFF2-40B4-BE49-F238E27FC236}">
                <a16:creationId xmlns:a16="http://schemas.microsoft.com/office/drawing/2014/main" id="{D1C691A2-E008-7A1F-FBC5-B9A68D244641}"/>
              </a:ext>
            </a:extLst>
          </p:cNvPr>
          <p:cNvSpPr/>
          <p:nvPr/>
        </p:nvSpPr>
        <p:spPr>
          <a:xfrm>
            <a:off x="0" y="0"/>
            <a:ext cx="12192000" cy="954107"/>
          </a:xfrm>
          <a:prstGeom prst="rect">
            <a:avLst/>
          </a:prstGeom>
          <a:noFill/>
        </p:spPr>
        <p:txBody>
          <a:bodyPr wrap="square" lIns="91440" tIns="45720" rIns="91440" bIns="45720">
            <a:spAutoFit/>
          </a:bodyPr>
          <a:lstStyle/>
          <a:p>
            <a:pPr algn="ctr"/>
            <a:r>
              <a:rPr lang="he-IL" sz="5600" b="1" u="sng" dirty="0">
                <a:ln w="9525">
                  <a:solidFill>
                    <a:schemeClr val="accent2"/>
                  </a:solidFill>
                  <a:prstDash val="solid"/>
                </a:ln>
                <a:effectLst>
                  <a:outerShdw blurRad="12700" dist="38100" dir="2700000" algn="tl" rotWithShape="0">
                    <a:schemeClr val="bg1">
                      <a:lumMod val="50000"/>
                    </a:schemeClr>
                  </a:outerShdw>
                </a:effectLst>
                <a:latin typeface="David" panose="020E0502060401010101" pitchFamily="34" charset="-79"/>
                <a:cs typeface="David" panose="020E0502060401010101" pitchFamily="34" charset="-79"/>
              </a:rPr>
              <a:t>מערכת המיזוג (מגדלי הקירור) בבניין המגדל</a:t>
            </a:r>
          </a:p>
        </p:txBody>
      </p:sp>
      <p:pic>
        <p:nvPicPr>
          <p:cNvPr id="7" name="Picture 6">
            <a:extLst>
              <a:ext uri="{FF2B5EF4-FFF2-40B4-BE49-F238E27FC236}">
                <a16:creationId xmlns:a16="http://schemas.microsoft.com/office/drawing/2014/main" id="{246AA307-3B0A-1D24-5B01-D5F294BB07E2}"/>
              </a:ext>
            </a:extLst>
          </p:cNvPr>
          <p:cNvPicPr>
            <a:picLocks noChangeAspect="1"/>
          </p:cNvPicPr>
          <p:nvPr/>
        </p:nvPicPr>
        <p:blipFill>
          <a:blip r:embed="rId2"/>
          <a:stretch>
            <a:fillRect/>
          </a:stretch>
        </p:blipFill>
        <p:spPr>
          <a:xfrm>
            <a:off x="4118068" y="914779"/>
            <a:ext cx="3955864" cy="5797501"/>
          </a:xfrm>
          <a:prstGeom prst="rect">
            <a:avLst/>
          </a:prstGeom>
        </p:spPr>
      </p:pic>
    </p:spTree>
    <p:extLst>
      <p:ext uri="{BB962C8B-B14F-4D97-AF65-F5344CB8AC3E}">
        <p14:creationId xmlns:p14="http://schemas.microsoft.com/office/powerpoint/2010/main" val="25212548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מלבן 3">
            <a:extLst>
              <a:ext uri="{FF2B5EF4-FFF2-40B4-BE49-F238E27FC236}">
                <a16:creationId xmlns:a16="http://schemas.microsoft.com/office/drawing/2014/main" id="{D1C691A2-E008-7A1F-FBC5-B9A68D244641}"/>
              </a:ext>
            </a:extLst>
          </p:cNvPr>
          <p:cNvSpPr/>
          <p:nvPr/>
        </p:nvSpPr>
        <p:spPr>
          <a:xfrm>
            <a:off x="0" y="0"/>
            <a:ext cx="12192000" cy="954107"/>
          </a:xfrm>
          <a:prstGeom prst="rect">
            <a:avLst/>
          </a:prstGeom>
          <a:noFill/>
        </p:spPr>
        <p:txBody>
          <a:bodyPr wrap="square" lIns="91440" tIns="45720" rIns="91440" bIns="45720">
            <a:spAutoFit/>
          </a:bodyPr>
          <a:lstStyle/>
          <a:p>
            <a:pPr algn="ctr"/>
            <a:r>
              <a:rPr lang="he-IL" sz="5600" b="1" u="sng" dirty="0">
                <a:ln w="9525">
                  <a:solidFill>
                    <a:schemeClr val="accent2"/>
                  </a:solidFill>
                  <a:prstDash val="solid"/>
                </a:ln>
                <a:effectLst>
                  <a:outerShdw blurRad="12700" dist="38100" dir="2700000" algn="tl" rotWithShape="0">
                    <a:schemeClr val="bg1">
                      <a:lumMod val="50000"/>
                    </a:schemeClr>
                  </a:outerShdw>
                </a:effectLst>
                <a:latin typeface="David" panose="020E0502060401010101" pitchFamily="34" charset="-79"/>
                <a:cs typeface="David" panose="020E0502060401010101" pitchFamily="34" charset="-79"/>
              </a:rPr>
              <a:t>מערכת המיזוג (מגדלי הקירור) בבניין המגדל</a:t>
            </a:r>
          </a:p>
        </p:txBody>
      </p:sp>
      <p:pic>
        <p:nvPicPr>
          <p:cNvPr id="7" name="Picture 6">
            <a:extLst>
              <a:ext uri="{FF2B5EF4-FFF2-40B4-BE49-F238E27FC236}">
                <a16:creationId xmlns:a16="http://schemas.microsoft.com/office/drawing/2014/main" id="{E18F1280-2683-2F45-6328-1EE9376E9312}"/>
              </a:ext>
            </a:extLst>
          </p:cNvPr>
          <p:cNvPicPr>
            <a:picLocks noChangeAspect="1"/>
          </p:cNvPicPr>
          <p:nvPr/>
        </p:nvPicPr>
        <p:blipFill>
          <a:blip r:embed="rId2"/>
          <a:stretch>
            <a:fillRect/>
          </a:stretch>
        </p:blipFill>
        <p:spPr>
          <a:xfrm>
            <a:off x="6349260" y="1043793"/>
            <a:ext cx="5715003" cy="4569353"/>
          </a:xfrm>
          <a:prstGeom prst="rect">
            <a:avLst/>
          </a:prstGeom>
        </p:spPr>
      </p:pic>
      <p:pic>
        <p:nvPicPr>
          <p:cNvPr id="8" name="Picture 7">
            <a:extLst>
              <a:ext uri="{FF2B5EF4-FFF2-40B4-BE49-F238E27FC236}">
                <a16:creationId xmlns:a16="http://schemas.microsoft.com/office/drawing/2014/main" id="{F15091F4-B193-FAEC-ED2A-2EB154A30E28}"/>
              </a:ext>
            </a:extLst>
          </p:cNvPr>
          <p:cNvPicPr>
            <a:picLocks noChangeAspect="1"/>
          </p:cNvPicPr>
          <p:nvPr/>
        </p:nvPicPr>
        <p:blipFill>
          <a:blip r:embed="rId3"/>
          <a:stretch>
            <a:fillRect/>
          </a:stretch>
        </p:blipFill>
        <p:spPr>
          <a:xfrm>
            <a:off x="439327" y="1043793"/>
            <a:ext cx="5820114" cy="3654953"/>
          </a:xfrm>
          <a:prstGeom prst="rect">
            <a:avLst/>
          </a:prstGeom>
        </p:spPr>
      </p:pic>
    </p:spTree>
    <p:extLst>
      <p:ext uri="{BB962C8B-B14F-4D97-AF65-F5344CB8AC3E}">
        <p14:creationId xmlns:p14="http://schemas.microsoft.com/office/powerpoint/2010/main" val="9822537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מלבן 3">
            <a:extLst>
              <a:ext uri="{FF2B5EF4-FFF2-40B4-BE49-F238E27FC236}">
                <a16:creationId xmlns:a16="http://schemas.microsoft.com/office/drawing/2014/main" id="{D1C691A2-E008-7A1F-FBC5-B9A68D244641}"/>
              </a:ext>
            </a:extLst>
          </p:cNvPr>
          <p:cNvSpPr/>
          <p:nvPr/>
        </p:nvSpPr>
        <p:spPr>
          <a:xfrm>
            <a:off x="0" y="0"/>
            <a:ext cx="12192000" cy="954107"/>
          </a:xfrm>
          <a:prstGeom prst="rect">
            <a:avLst/>
          </a:prstGeom>
          <a:noFill/>
        </p:spPr>
        <p:txBody>
          <a:bodyPr wrap="square" lIns="91440" tIns="45720" rIns="91440" bIns="45720">
            <a:spAutoFit/>
          </a:bodyPr>
          <a:lstStyle/>
          <a:p>
            <a:pPr algn="ctr"/>
            <a:r>
              <a:rPr lang="he-IL" sz="5600" b="1" u="sng" dirty="0">
                <a:ln w="9525">
                  <a:solidFill>
                    <a:schemeClr val="accent2"/>
                  </a:solidFill>
                  <a:prstDash val="solid"/>
                </a:ln>
                <a:effectLst>
                  <a:outerShdw blurRad="12700" dist="38100" dir="2700000" algn="tl" rotWithShape="0">
                    <a:schemeClr val="bg1">
                      <a:lumMod val="50000"/>
                    </a:schemeClr>
                  </a:outerShdw>
                </a:effectLst>
                <a:latin typeface="David" panose="020E0502060401010101" pitchFamily="34" charset="-79"/>
                <a:cs typeface="David" panose="020E0502060401010101" pitchFamily="34" charset="-79"/>
              </a:rPr>
              <a:t>מערכת המיזוג (מגדלי הקירור) בבניין המגדל</a:t>
            </a:r>
          </a:p>
        </p:txBody>
      </p:sp>
      <p:pic>
        <p:nvPicPr>
          <p:cNvPr id="11" name="Picture 10">
            <a:extLst>
              <a:ext uri="{FF2B5EF4-FFF2-40B4-BE49-F238E27FC236}">
                <a16:creationId xmlns:a16="http://schemas.microsoft.com/office/drawing/2014/main" id="{50B1FDC1-FD49-8E20-8DA3-7B101B46EE6D}"/>
              </a:ext>
            </a:extLst>
          </p:cNvPr>
          <p:cNvPicPr>
            <a:picLocks noChangeAspect="1"/>
          </p:cNvPicPr>
          <p:nvPr/>
        </p:nvPicPr>
        <p:blipFill>
          <a:blip r:embed="rId2"/>
          <a:stretch>
            <a:fillRect/>
          </a:stretch>
        </p:blipFill>
        <p:spPr>
          <a:xfrm>
            <a:off x="928804" y="954107"/>
            <a:ext cx="5576674" cy="2595184"/>
          </a:xfrm>
          <a:prstGeom prst="rect">
            <a:avLst/>
          </a:prstGeom>
        </p:spPr>
      </p:pic>
      <p:pic>
        <p:nvPicPr>
          <p:cNvPr id="13" name="Picture 12">
            <a:extLst>
              <a:ext uri="{FF2B5EF4-FFF2-40B4-BE49-F238E27FC236}">
                <a16:creationId xmlns:a16="http://schemas.microsoft.com/office/drawing/2014/main" id="{8F0C8FDA-E31F-BAED-CAC5-4F179C9A582A}"/>
              </a:ext>
            </a:extLst>
          </p:cNvPr>
          <p:cNvPicPr>
            <a:picLocks noChangeAspect="1"/>
          </p:cNvPicPr>
          <p:nvPr/>
        </p:nvPicPr>
        <p:blipFill>
          <a:blip r:embed="rId3"/>
          <a:stretch>
            <a:fillRect/>
          </a:stretch>
        </p:blipFill>
        <p:spPr>
          <a:xfrm>
            <a:off x="6725265" y="954107"/>
            <a:ext cx="4242962" cy="5713954"/>
          </a:xfrm>
          <a:prstGeom prst="rect">
            <a:avLst/>
          </a:prstGeom>
        </p:spPr>
      </p:pic>
    </p:spTree>
    <p:extLst>
      <p:ext uri="{BB962C8B-B14F-4D97-AF65-F5344CB8AC3E}">
        <p14:creationId xmlns:p14="http://schemas.microsoft.com/office/powerpoint/2010/main" val="11262424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מלבן 3">
            <a:extLst>
              <a:ext uri="{FF2B5EF4-FFF2-40B4-BE49-F238E27FC236}">
                <a16:creationId xmlns:a16="http://schemas.microsoft.com/office/drawing/2014/main" id="{D1C691A2-E008-7A1F-FBC5-B9A68D244641}"/>
              </a:ext>
            </a:extLst>
          </p:cNvPr>
          <p:cNvSpPr/>
          <p:nvPr/>
        </p:nvSpPr>
        <p:spPr>
          <a:xfrm>
            <a:off x="0" y="0"/>
            <a:ext cx="12192000" cy="954107"/>
          </a:xfrm>
          <a:prstGeom prst="rect">
            <a:avLst/>
          </a:prstGeom>
          <a:noFill/>
        </p:spPr>
        <p:txBody>
          <a:bodyPr wrap="square" lIns="91440" tIns="45720" rIns="91440" bIns="45720">
            <a:spAutoFit/>
          </a:bodyPr>
          <a:lstStyle/>
          <a:p>
            <a:pPr algn="ctr"/>
            <a:r>
              <a:rPr lang="he-IL" sz="5600" b="1" u="sng" dirty="0">
                <a:ln w="9525">
                  <a:solidFill>
                    <a:schemeClr val="accent2"/>
                  </a:solidFill>
                  <a:prstDash val="solid"/>
                </a:ln>
                <a:effectLst>
                  <a:outerShdw blurRad="12700" dist="38100" dir="2700000" algn="tl" rotWithShape="0">
                    <a:schemeClr val="bg1">
                      <a:lumMod val="50000"/>
                    </a:schemeClr>
                  </a:outerShdw>
                </a:effectLst>
                <a:latin typeface="David" panose="020E0502060401010101" pitchFamily="34" charset="-79"/>
                <a:cs typeface="David" panose="020E0502060401010101" pitchFamily="34" charset="-79"/>
              </a:rPr>
              <a:t>מערכת המיזוג (מגדלי הקירור) בבניין המגדל</a:t>
            </a:r>
          </a:p>
        </p:txBody>
      </p:sp>
      <p:sp>
        <p:nvSpPr>
          <p:cNvPr id="2" name="כותרת משנה 2">
            <a:extLst>
              <a:ext uri="{FF2B5EF4-FFF2-40B4-BE49-F238E27FC236}">
                <a16:creationId xmlns:a16="http://schemas.microsoft.com/office/drawing/2014/main" id="{6489CBCA-35E4-75FD-B8D1-E18F6418DC38}"/>
              </a:ext>
            </a:extLst>
          </p:cNvPr>
          <p:cNvSpPr>
            <a:spLocks noGrp="1"/>
          </p:cNvSpPr>
          <p:nvPr>
            <p:ph type="subTitle" idx="1"/>
          </p:nvPr>
        </p:nvSpPr>
        <p:spPr>
          <a:xfrm>
            <a:off x="592266" y="1100411"/>
            <a:ext cx="11007467" cy="5239512"/>
          </a:xfrm>
        </p:spPr>
        <p:txBody>
          <a:bodyPr anchor="t">
            <a:noAutofit/>
          </a:bodyPr>
          <a:lstStyle/>
          <a:p>
            <a:pPr marL="228600" algn="just" rtl="1"/>
            <a:r>
              <a:rPr lang="he-IL" sz="3400" b="1" dirty="0">
                <a:effectLst/>
                <a:latin typeface="Times New Roman" panose="02020603050405020304" pitchFamily="18" charset="0"/>
                <a:ea typeface="Calibri" panose="020F0502020204030204" pitchFamily="34" charset="0"/>
                <a:cs typeface="David" panose="020E0502060401010101" pitchFamily="34" charset="-79"/>
              </a:rPr>
              <a:t>עלות החלפת המערכת הינה כ- 450,000 ₪. </a:t>
            </a:r>
            <a:endParaRPr lang="en-US" sz="3400" b="1" dirty="0">
              <a:effectLst/>
              <a:latin typeface="Times New Roman" panose="02020603050405020304" pitchFamily="18" charset="0"/>
              <a:ea typeface="Calibri" panose="020F0502020204030204" pitchFamily="34" charset="0"/>
            </a:endParaRPr>
          </a:p>
          <a:p>
            <a:pPr marL="228600" algn="just" rtl="1"/>
            <a:r>
              <a:rPr lang="he-IL" sz="3400" b="1" dirty="0">
                <a:effectLst/>
                <a:latin typeface="Times New Roman" panose="02020603050405020304" pitchFamily="18" charset="0"/>
                <a:ea typeface="Calibri" panose="020F0502020204030204" pitchFamily="34" charset="0"/>
                <a:cs typeface="David" panose="020E0502060401010101" pitchFamily="34" charset="-79"/>
              </a:rPr>
              <a:t>את התשלום יש לבצע לחב' מגדלי השרון החל ממועד ההזמנה ועד לאספקה (כ- 4 חודשים). </a:t>
            </a:r>
            <a:endParaRPr lang="en-US" sz="3400" b="1" dirty="0">
              <a:effectLst/>
              <a:latin typeface="Times New Roman" panose="02020603050405020304" pitchFamily="18" charset="0"/>
              <a:ea typeface="Calibri" panose="020F0502020204030204" pitchFamily="34" charset="0"/>
            </a:endParaRPr>
          </a:p>
          <a:p>
            <a:pPr marL="228600" algn="just" rtl="1"/>
            <a:r>
              <a:rPr lang="he-IL" sz="3400" b="1" dirty="0">
                <a:effectLst/>
                <a:latin typeface="Times New Roman" panose="02020603050405020304" pitchFamily="18" charset="0"/>
                <a:ea typeface="Calibri" panose="020F0502020204030204" pitchFamily="34" charset="0"/>
                <a:cs typeface="David" panose="020E0502060401010101" pitchFamily="34" charset="-79"/>
              </a:rPr>
              <a:t>ההשתתפות של הדיירים תהא לפי שטח רצפת הדירה.</a:t>
            </a:r>
            <a:endParaRPr lang="en-US" sz="3400" b="1" dirty="0">
              <a:effectLst/>
              <a:latin typeface="Times New Roman" panose="02020603050405020304" pitchFamily="18" charset="0"/>
              <a:ea typeface="Calibri" panose="020F0502020204030204" pitchFamily="34" charset="0"/>
            </a:endParaRPr>
          </a:p>
          <a:p>
            <a:pPr marL="228600" algn="just" rtl="1"/>
            <a:r>
              <a:rPr lang="he-IL" sz="3400" b="1" dirty="0">
                <a:effectLst/>
                <a:latin typeface="Times New Roman" panose="02020603050405020304" pitchFamily="18" charset="0"/>
                <a:ea typeface="Calibri" panose="020F0502020204030204" pitchFamily="34" charset="0"/>
                <a:cs typeface="David" panose="020E0502060401010101" pitchFamily="34" charset="-79"/>
              </a:rPr>
              <a:t>עפ"י שטח כולל של 8,600 מ"ר בבניינים, העלות תהא 53 ₪ למ"ר. </a:t>
            </a:r>
            <a:endParaRPr lang="en-US" sz="3400" b="1" dirty="0">
              <a:effectLst/>
              <a:latin typeface="Times New Roman" panose="02020603050405020304" pitchFamily="18" charset="0"/>
              <a:ea typeface="Calibri" panose="020F0502020204030204" pitchFamily="34" charset="0"/>
            </a:endParaRPr>
          </a:p>
          <a:p>
            <a:pPr marL="228600" algn="just" rtl="1"/>
            <a:r>
              <a:rPr lang="he-IL" sz="3400" b="1" dirty="0">
                <a:effectLst/>
                <a:latin typeface="Times New Roman" panose="02020603050405020304" pitchFamily="18" charset="0"/>
                <a:ea typeface="Calibri" panose="020F0502020204030204" pitchFamily="34" charset="0"/>
                <a:cs typeface="David" panose="020E0502060401010101" pitchFamily="34" charset="-79"/>
              </a:rPr>
              <a:t>ניתן לבצע את התשלום עד 4 תשלומים חודשיים שווים, שהאחרון בהם הינו ביום 1/1/27.  </a:t>
            </a:r>
            <a:r>
              <a:rPr lang="he-IL" sz="3400" b="1" u="sng" dirty="0">
                <a:effectLst/>
                <a:latin typeface="Times New Roman" panose="02020603050405020304" pitchFamily="18" charset="0"/>
                <a:ea typeface="Calibri" panose="020F0502020204030204" pitchFamily="34" charset="0"/>
                <a:cs typeface="David" panose="020E0502060401010101" pitchFamily="34" charset="-79"/>
              </a:rPr>
              <a:t>כלומר, כל דייר חייב לשלם את כל סכום השתתפותו עד ליום 1/1/27.</a:t>
            </a:r>
            <a:endParaRPr lang="en-US" sz="3400" b="1" u="sng" dirty="0">
              <a:effectLst/>
              <a:latin typeface="Times New Roman" panose="02020603050405020304" pitchFamily="18" charset="0"/>
              <a:ea typeface="Calibri" panose="020F0502020204030204" pitchFamily="34" charset="0"/>
            </a:endParaRPr>
          </a:p>
          <a:p>
            <a:pPr marL="228600" algn="just" rtl="1"/>
            <a:r>
              <a:rPr lang="he-IL" sz="3400" b="1" dirty="0">
                <a:effectLst/>
                <a:latin typeface="Times New Roman" panose="02020603050405020304" pitchFamily="18" charset="0"/>
                <a:ea typeface="Calibri" panose="020F0502020204030204" pitchFamily="34" charset="0"/>
                <a:cs typeface="David" panose="020E0502060401010101" pitchFamily="34" charset="-79"/>
              </a:rPr>
              <a:t>מאחר ובעת ההזמנה עלינו לשלם % 20, נבקש מהדיירים להקדים ולשלם את התשלום הראשון כבר בימים אלה.  </a:t>
            </a:r>
            <a:endParaRPr lang="en-US" sz="3400" b="1" dirty="0">
              <a:effectLst/>
              <a:latin typeface="Times New Roman" panose="02020603050405020304" pitchFamily="18" charset="0"/>
              <a:ea typeface="Calibri" panose="020F0502020204030204" pitchFamily="34" charset="0"/>
            </a:endParaRPr>
          </a:p>
        </p:txBody>
      </p:sp>
    </p:spTree>
    <p:extLst>
      <p:ext uri="{BB962C8B-B14F-4D97-AF65-F5344CB8AC3E}">
        <p14:creationId xmlns:p14="http://schemas.microsoft.com/office/powerpoint/2010/main" val="8935932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מלבן 3">
            <a:extLst>
              <a:ext uri="{FF2B5EF4-FFF2-40B4-BE49-F238E27FC236}">
                <a16:creationId xmlns:a16="http://schemas.microsoft.com/office/drawing/2014/main" id="{D1C691A2-E008-7A1F-FBC5-B9A68D244641}"/>
              </a:ext>
            </a:extLst>
          </p:cNvPr>
          <p:cNvSpPr/>
          <p:nvPr/>
        </p:nvSpPr>
        <p:spPr>
          <a:xfrm>
            <a:off x="0" y="0"/>
            <a:ext cx="12192000" cy="954107"/>
          </a:xfrm>
          <a:prstGeom prst="rect">
            <a:avLst/>
          </a:prstGeom>
          <a:noFill/>
        </p:spPr>
        <p:txBody>
          <a:bodyPr wrap="square" lIns="91440" tIns="45720" rIns="91440" bIns="45720">
            <a:spAutoFit/>
          </a:bodyPr>
          <a:lstStyle/>
          <a:p>
            <a:pPr algn="ctr"/>
            <a:r>
              <a:rPr lang="he-IL" sz="5600" b="1" u="sng" dirty="0">
                <a:ln w="9525">
                  <a:solidFill>
                    <a:schemeClr val="accent2"/>
                  </a:solidFill>
                  <a:prstDash val="solid"/>
                </a:ln>
                <a:effectLst>
                  <a:outerShdw blurRad="12700" dist="38100" dir="2700000" algn="tl" rotWithShape="0">
                    <a:schemeClr val="bg1">
                      <a:lumMod val="50000"/>
                    </a:schemeClr>
                  </a:outerShdw>
                </a:effectLst>
                <a:latin typeface="David" panose="020E0502060401010101" pitchFamily="34" charset="-79"/>
                <a:cs typeface="David" panose="020E0502060401010101" pitchFamily="34" charset="-79"/>
              </a:rPr>
              <a:t>מערכת המיזוג (מגדלי הקירור) בבניין המגדל</a:t>
            </a:r>
          </a:p>
        </p:txBody>
      </p:sp>
      <p:sp>
        <p:nvSpPr>
          <p:cNvPr id="2" name="כותרת משנה 2">
            <a:extLst>
              <a:ext uri="{FF2B5EF4-FFF2-40B4-BE49-F238E27FC236}">
                <a16:creationId xmlns:a16="http://schemas.microsoft.com/office/drawing/2014/main" id="{6489CBCA-35E4-75FD-B8D1-E18F6418DC38}"/>
              </a:ext>
            </a:extLst>
          </p:cNvPr>
          <p:cNvSpPr>
            <a:spLocks noGrp="1"/>
          </p:cNvSpPr>
          <p:nvPr>
            <p:ph type="subTitle" idx="1"/>
          </p:nvPr>
        </p:nvSpPr>
        <p:spPr>
          <a:xfrm>
            <a:off x="592266" y="1155275"/>
            <a:ext cx="11007467" cy="3709333"/>
          </a:xfrm>
        </p:spPr>
        <p:txBody>
          <a:bodyPr anchor="t">
            <a:noAutofit/>
          </a:bodyPr>
          <a:lstStyle/>
          <a:p>
            <a:pPr marL="228600" rtl="1"/>
            <a:r>
              <a:rPr lang="he-IL" sz="4000" b="1" u="sng" dirty="0">
                <a:effectLst/>
                <a:latin typeface="Times New Roman" panose="02020603050405020304" pitchFamily="18" charset="0"/>
                <a:ea typeface="Calibri" panose="020F0502020204030204" pitchFamily="34" charset="0"/>
                <a:cs typeface="David" panose="020E0502060401010101" pitchFamily="34" charset="-79"/>
              </a:rPr>
              <a:t>מובאת להצבעה הצעת הועד כדלקמן</a:t>
            </a:r>
            <a:r>
              <a:rPr lang="he-IL" sz="4000" b="1" dirty="0">
                <a:effectLst/>
                <a:latin typeface="Times New Roman" panose="02020603050405020304" pitchFamily="18" charset="0"/>
                <a:ea typeface="Calibri" panose="020F0502020204030204" pitchFamily="34" charset="0"/>
                <a:cs typeface="David" panose="020E0502060401010101" pitchFamily="34" charset="-79"/>
              </a:rPr>
              <a:t>:</a:t>
            </a:r>
            <a:endParaRPr lang="en-US" sz="4000" b="1" dirty="0">
              <a:effectLst/>
              <a:latin typeface="Times New Roman" panose="02020603050405020304" pitchFamily="18" charset="0"/>
              <a:ea typeface="Calibri" panose="020F0502020204030204" pitchFamily="34" charset="0"/>
            </a:endParaRPr>
          </a:p>
          <a:p>
            <a:pPr marL="228600" algn="just" rtl="1"/>
            <a:r>
              <a:rPr lang="he-IL" sz="4000" b="1" dirty="0">
                <a:effectLst/>
                <a:latin typeface="Times New Roman" panose="02020603050405020304" pitchFamily="18" charset="0"/>
                <a:ea typeface="Calibri" panose="020F0502020204030204" pitchFamily="34" charset="0"/>
                <a:cs typeface="David" panose="020E0502060401010101" pitchFamily="34" charset="-79"/>
              </a:rPr>
              <a:t>תבוצע החלפת מערכת המיזוג (מגדלי הקירור) באמצעות חב' מגדלי קירור השרון. עלות כוללת בסך של 450,000 ₪. כל בעל דירה ישלם השתתפות בשיעור של 53 ₪ לכל מ"ר רצפה. התשלום יבוצע עד 4 תשלומים חודשיים שווים, החל מיום 1/10/26 ועד 1/1/27.</a:t>
            </a:r>
            <a:endParaRPr lang="en-US" sz="4000" b="1" dirty="0">
              <a:effectLst/>
              <a:latin typeface="Times New Roman" panose="02020603050405020304" pitchFamily="18" charset="0"/>
              <a:ea typeface="Calibri" panose="020F0502020204030204" pitchFamily="34" charset="0"/>
            </a:endParaRPr>
          </a:p>
        </p:txBody>
      </p:sp>
    </p:spTree>
    <p:extLst>
      <p:ext uri="{BB962C8B-B14F-4D97-AF65-F5344CB8AC3E}">
        <p14:creationId xmlns:p14="http://schemas.microsoft.com/office/powerpoint/2010/main" val="4078269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מלבן 3">
            <a:extLst>
              <a:ext uri="{FF2B5EF4-FFF2-40B4-BE49-F238E27FC236}">
                <a16:creationId xmlns:a16="http://schemas.microsoft.com/office/drawing/2014/main" id="{D1C691A2-E008-7A1F-FBC5-B9A68D244641}"/>
              </a:ext>
            </a:extLst>
          </p:cNvPr>
          <p:cNvSpPr/>
          <p:nvPr/>
        </p:nvSpPr>
        <p:spPr>
          <a:xfrm>
            <a:off x="0" y="0"/>
            <a:ext cx="12192000" cy="1323439"/>
          </a:xfrm>
          <a:prstGeom prst="rect">
            <a:avLst/>
          </a:prstGeom>
          <a:noFill/>
        </p:spPr>
        <p:txBody>
          <a:bodyPr wrap="square" lIns="91440" tIns="45720" rIns="91440" bIns="45720">
            <a:spAutoFit/>
          </a:bodyPr>
          <a:lstStyle/>
          <a:p>
            <a:pPr algn="ctr"/>
            <a:r>
              <a:rPr lang="he-IL" sz="8000" b="1" u="sng" dirty="0">
                <a:ln w="9525">
                  <a:solidFill>
                    <a:schemeClr val="accent2"/>
                  </a:solidFill>
                  <a:prstDash val="solid"/>
                </a:ln>
                <a:effectLst>
                  <a:outerShdw blurRad="12700" dist="38100" dir="2700000" algn="tl" rotWithShape="0">
                    <a:schemeClr val="bg1">
                      <a:lumMod val="50000"/>
                    </a:schemeClr>
                  </a:outerShdw>
                </a:effectLst>
                <a:latin typeface="David" panose="020E0502060401010101" pitchFamily="34" charset="-79"/>
                <a:cs typeface="David" panose="020E0502060401010101" pitchFamily="34" charset="-79"/>
              </a:rPr>
              <a:t>שיפוץ כביש המעבר</a:t>
            </a:r>
          </a:p>
        </p:txBody>
      </p:sp>
      <p:sp>
        <p:nvSpPr>
          <p:cNvPr id="2" name="כותרת משנה 2">
            <a:extLst>
              <a:ext uri="{FF2B5EF4-FFF2-40B4-BE49-F238E27FC236}">
                <a16:creationId xmlns:a16="http://schemas.microsoft.com/office/drawing/2014/main" id="{6489CBCA-35E4-75FD-B8D1-E18F6418DC38}"/>
              </a:ext>
            </a:extLst>
          </p:cNvPr>
          <p:cNvSpPr>
            <a:spLocks noGrp="1"/>
          </p:cNvSpPr>
          <p:nvPr>
            <p:ph type="subTitle" idx="1"/>
          </p:nvPr>
        </p:nvSpPr>
        <p:spPr>
          <a:xfrm>
            <a:off x="592266" y="1228426"/>
            <a:ext cx="11007467" cy="5318677"/>
          </a:xfrm>
        </p:spPr>
        <p:txBody>
          <a:bodyPr anchor="t">
            <a:noAutofit/>
          </a:bodyPr>
          <a:lstStyle/>
          <a:p>
            <a:pPr algn="just" rtl="1"/>
            <a:r>
              <a:rPr lang="he-IL" sz="3200" b="1" dirty="0">
                <a:effectLst/>
                <a:latin typeface="Times New Roman" panose="02020603050405020304" pitchFamily="18" charset="0"/>
                <a:ea typeface="Calibri" panose="020F0502020204030204" pitchFamily="34" charset="0"/>
                <a:cs typeface="David" panose="020E0502060401010101" pitchFamily="34" charset="-79"/>
              </a:rPr>
              <a:t>כביש המעבר בחזית הבניין, המוביל מרח' יפה נוף אל החניה, מצוי במצב גרוע – האבן הטבעית התפוררה וקיימים בורות רבים. </a:t>
            </a:r>
          </a:p>
          <a:p>
            <a:pPr algn="just" rtl="1"/>
            <a:r>
              <a:rPr lang="he-IL" sz="3200" b="1" dirty="0">
                <a:effectLst/>
                <a:latin typeface="Times New Roman" panose="02020603050405020304" pitchFamily="18" charset="0"/>
                <a:ea typeface="Calibri" panose="020F0502020204030204" pitchFamily="34" charset="0"/>
                <a:cs typeface="David" panose="020E0502060401010101" pitchFamily="34" charset="-79"/>
              </a:rPr>
              <a:t>מדובר בסכנה בטיחותית לדיירים ולעוברים ושבים.</a:t>
            </a:r>
            <a:endParaRPr lang="en-US" sz="3200" b="1" dirty="0">
              <a:effectLst/>
              <a:latin typeface="Times New Roman" panose="02020603050405020304" pitchFamily="18" charset="0"/>
              <a:ea typeface="Calibri" panose="020F0502020204030204" pitchFamily="34" charset="0"/>
            </a:endParaRPr>
          </a:p>
          <a:p>
            <a:pPr algn="just" rtl="1"/>
            <a:r>
              <a:rPr lang="he-IL" sz="3200" b="1" dirty="0">
                <a:effectLst/>
                <a:latin typeface="Times New Roman" panose="02020603050405020304" pitchFamily="18" charset="0"/>
                <a:ea typeface="Calibri" panose="020F0502020204030204" pitchFamily="34" charset="0"/>
                <a:cs typeface="David" panose="020E0502060401010101" pitchFamily="34" charset="-79"/>
              </a:rPr>
              <a:t>גודל השטח הינו כ- 600 מ"ר, המשותף לדיירים ולמלון.</a:t>
            </a:r>
            <a:endParaRPr lang="en-US" sz="3200" b="1" dirty="0">
              <a:effectLst/>
              <a:latin typeface="Times New Roman" panose="02020603050405020304" pitchFamily="18" charset="0"/>
              <a:ea typeface="Calibri" panose="020F0502020204030204" pitchFamily="34" charset="0"/>
            </a:endParaRPr>
          </a:p>
          <a:p>
            <a:pPr algn="just" rtl="1"/>
            <a:r>
              <a:rPr lang="he-IL" sz="3200" b="1" dirty="0">
                <a:effectLst/>
                <a:latin typeface="Times New Roman" panose="02020603050405020304" pitchFamily="18" charset="0"/>
                <a:ea typeface="Calibri" panose="020F0502020204030204" pitchFamily="34" charset="0"/>
                <a:cs typeface="David" panose="020E0502060401010101" pitchFamily="34" charset="-79"/>
              </a:rPr>
              <a:t>בתקופה האחרונה, ואף לפני כן, התקיימו מספר ישיבות עם הנהלת המלון במהלכן הגענו למתווה מוסכם להחלפת האבן.</a:t>
            </a:r>
            <a:endParaRPr lang="en-US" sz="3200" b="1" dirty="0">
              <a:effectLst/>
              <a:latin typeface="Times New Roman" panose="02020603050405020304" pitchFamily="18" charset="0"/>
              <a:ea typeface="Calibri" panose="020F0502020204030204" pitchFamily="34" charset="0"/>
            </a:endParaRPr>
          </a:p>
          <a:p>
            <a:pPr algn="just" rtl="1"/>
            <a:r>
              <a:rPr lang="he-IL" sz="3200" b="1" dirty="0">
                <a:effectLst/>
                <a:latin typeface="Times New Roman" panose="02020603050405020304" pitchFamily="18" charset="0"/>
                <a:ea typeface="Calibri" panose="020F0502020204030204" pitchFamily="34" charset="0"/>
                <a:cs typeface="David" panose="020E0502060401010101" pitchFamily="34" charset="-79"/>
              </a:rPr>
              <a:t>עלות הפרויקט מוערכת בסך של כ- 300,000 ₪.</a:t>
            </a:r>
            <a:endParaRPr lang="en-US" sz="3200" b="1" dirty="0">
              <a:effectLst/>
              <a:latin typeface="Times New Roman" panose="02020603050405020304" pitchFamily="18" charset="0"/>
              <a:ea typeface="Calibri" panose="020F0502020204030204" pitchFamily="34" charset="0"/>
            </a:endParaRPr>
          </a:p>
          <a:p>
            <a:pPr algn="just" rtl="1"/>
            <a:r>
              <a:rPr lang="he-IL" sz="3200" b="1" dirty="0">
                <a:effectLst/>
                <a:latin typeface="Times New Roman" panose="02020603050405020304" pitchFamily="18" charset="0"/>
                <a:ea typeface="Calibri" panose="020F0502020204030204" pitchFamily="34" charset="0"/>
                <a:cs typeface="David" panose="020E0502060401010101" pitchFamily="34" charset="-79"/>
              </a:rPr>
              <a:t>חלק הדיירים הינו 60%, המהווה 180,000 ₪. </a:t>
            </a:r>
            <a:endParaRPr lang="en-US" sz="3200" b="1" dirty="0">
              <a:effectLst/>
              <a:latin typeface="Times New Roman" panose="02020603050405020304" pitchFamily="18" charset="0"/>
              <a:ea typeface="Calibri" panose="020F0502020204030204" pitchFamily="34" charset="0"/>
            </a:endParaRPr>
          </a:p>
          <a:p>
            <a:pPr algn="just" rtl="1"/>
            <a:r>
              <a:rPr lang="he-IL" sz="3200" b="1" dirty="0">
                <a:effectLst/>
                <a:latin typeface="Times New Roman" panose="02020603050405020304" pitchFamily="18" charset="0"/>
                <a:ea typeface="Calibri" panose="020F0502020204030204" pitchFamily="34" charset="0"/>
                <a:cs typeface="David" panose="020E0502060401010101" pitchFamily="34" charset="-79"/>
              </a:rPr>
              <a:t>ההשתתפות של הדיירים תהא לפי שטח רצפת הדירה.</a:t>
            </a:r>
            <a:endParaRPr lang="he-IL" sz="3200" b="1" dirty="0">
              <a:latin typeface="Times New Roman" panose="02020603050405020304" pitchFamily="18" charset="0"/>
              <a:ea typeface="Calibri" panose="020F0502020204030204" pitchFamily="34" charset="0"/>
            </a:endParaRPr>
          </a:p>
          <a:p>
            <a:pPr algn="just" rtl="1"/>
            <a:r>
              <a:rPr lang="he-IL" sz="3200" b="1" dirty="0">
                <a:effectLst/>
                <a:latin typeface="Times New Roman" panose="02020603050405020304" pitchFamily="18" charset="0"/>
                <a:ea typeface="Calibri" panose="020F0502020204030204" pitchFamily="34" charset="0"/>
                <a:cs typeface="David" panose="020E0502060401010101" pitchFamily="34" charset="-79"/>
              </a:rPr>
              <a:t>עפ"י שטח כולל של 8,600 ₪ בבניינים, העלות הינה 21 ₪ למ"ר. </a:t>
            </a:r>
            <a:endParaRPr lang="en-US" sz="3200" b="1" dirty="0">
              <a:effectLst/>
              <a:latin typeface="Times New Roman" panose="02020603050405020304" pitchFamily="18" charset="0"/>
              <a:ea typeface="Calibri" panose="020F0502020204030204" pitchFamily="34" charset="0"/>
            </a:endParaRPr>
          </a:p>
        </p:txBody>
      </p:sp>
    </p:spTree>
    <p:extLst>
      <p:ext uri="{BB962C8B-B14F-4D97-AF65-F5344CB8AC3E}">
        <p14:creationId xmlns:p14="http://schemas.microsoft.com/office/powerpoint/2010/main" val="21254702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מלבן 3">
            <a:extLst>
              <a:ext uri="{FF2B5EF4-FFF2-40B4-BE49-F238E27FC236}">
                <a16:creationId xmlns:a16="http://schemas.microsoft.com/office/drawing/2014/main" id="{D1C691A2-E008-7A1F-FBC5-B9A68D244641}"/>
              </a:ext>
            </a:extLst>
          </p:cNvPr>
          <p:cNvSpPr/>
          <p:nvPr/>
        </p:nvSpPr>
        <p:spPr>
          <a:xfrm>
            <a:off x="0" y="0"/>
            <a:ext cx="12192000" cy="1323439"/>
          </a:xfrm>
          <a:prstGeom prst="rect">
            <a:avLst/>
          </a:prstGeom>
          <a:noFill/>
        </p:spPr>
        <p:txBody>
          <a:bodyPr wrap="square" lIns="91440" tIns="45720" rIns="91440" bIns="45720">
            <a:spAutoFit/>
          </a:bodyPr>
          <a:lstStyle/>
          <a:p>
            <a:pPr algn="ctr"/>
            <a:r>
              <a:rPr lang="he-IL" sz="8000" b="1" u="sng" dirty="0">
                <a:ln w="9525">
                  <a:solidFill>
                    <a:schemeClr val="accent2"/>
                  </a:solidFill>
                  <a:prstDash val="solid"/>
                </a:ln>
                <a:effectLst>
                  <a:outerShdw blurRad="12700" dist="38100" dir="2700000" algn="tl" rotWithShape="0">
                    <a:schemeClr val="bg1">
                      <a:lumMod val="50000"/>
                    </a:schemeClr>
                  </a:outerShdw>
                </a:effectLst>
                <a:latin typeface="David" panose="020E0502060401010101" pitchFamily="34" charset="-79"/>
                <a:cs typeface="David" panose="020E0502060401010101" pitchFamily="34" charset="-79"/>
              </a:rPr>
              <a:t>שיפוץ כביש המעבר</a:t>
            </a:r>
          </a:p>
        </p:txBody>
      </p:sp>
      <p:sp>
        <p:nvSpPr>
          <p:cNvPr id="2" name="כותרת משנה 2">
            <a:extLst>
              <a:ext uri="{FF2B5EF4-FFF2-40B4-BE49-F238E27FC236}">
                <a16:creationId xmlns:a16="http://schemas.microsoft.com/office/drawing/2014/main" id="{6489CBCA-35E4-75FD-B8D1-E18F6418DC38}"/>
              </a:ext>
            </a:extLst>
          </p:cNvPr>
          <p:cNvSpPr>
            <a:spLocks noGrp="1"/>
          </p:cNvSpPr>
          <p:nvPr>
            <p:ph type="subTitle" idx="1"/>
          </p:nvPr>
        </p:nvSpPr>
        <p:spPr>
          <a:xfrm>
            <a:off x="592266" y="1323439"/>
            <a:ext cx="11007467" cy="4248830"/>
          </a:xfrm>
        </p:spPr>
        <p:txBody>
          <a:bodyPr anchor="t">
            <a:noAutofit/>
          </a:bodyPr>
          <a:lstStyle/>
          <a:p>
            <a:pPr marL="228600" rtl="1"/>
            <a:r>
              <a:rPr lang="he-IL" sz="4000" b="1" u="sng" dirty="0">
                <a:effectLst/>
                <a:latin typeface="Times New Roman" panose="02020603050405020304" pitchFamily="18" charset="0"/>
                <a:ea typeface="Calibri" panose="020F0502020204030204" pitchFamily="34" charset="0"/>
                <a:cs typeface="David" panose="020E0502060401010101" pitchFamily="34" charset="-79"/>
              </a:rPr>
              <a:t>מובאת להצבעה הצעת הועד כדלקמן</a:t>
            </a:r>
            <a:r>
              <a:rPr lang="he-IL" sz="4000" b="1" dirty="0">
                <a:effectLst/>
                <a:latin typeface="Times New Roman" panose="02020603050405020304" pitchFamily="18" charset="0"/>
                <a:ea typeface="Calibri" panose="020F0502020204030204" pitchFamily="34" charset="0"/>
                <a:cs typeface="David" panose="020E0502060401010101" pitchFamily="34" charset="-79"/>
              </a:rPr>
              <a:t>:</a:t>
            </a:r>
          </a:p>
          <a:p>
            <a:pPr marL="228600" algn="just"/>
            <a:r>
              <a:rPr lang="he-IL" sz="4000" b="1" dirty="0">
                <a:effectLst/>
                <a:latin typeface="Times New Roman" panose="02020603050405020304" pitchFamily="18" charset="0"/>
                <a:ea typeface="Calibri" panose="020F0502020204030204" pitchFamily="34" charset="0"/>
                <a:cs typeface="David" panose="020E0502060401010101" pitchFamily="34" charset="-79"/>
              </a:rPr>
              <a:t>יבוצע שיפוץ כביש המעבר. </a:t>
            </a:r>
          </a:p>
          <a:p>
            <a:pPr marL="228600" algn="just"/>
            <a:r>
              <a:rPr lang="he-IL" sz="4000" b="1" dirty="0">
                <a:effectLst/>
                <a:latin typeface="Times New Roman" panose="02020603050405020304" pitchFamily="18" charset="0"/>
                <a:ea typeface="Calibri" panose="020F0502020204030204" pitchFamily="34" charset="0"/>
                <a:cs typeface="David" panose="020E0502060401010101" pitchFamily="34" charset="-79"/>
              </a:rPr>
              <a:t>עלות כוללת בסך של 180,000 ₪. </a:t>
            </a:r>
          </a:p>
          <a:p>
            <a:pPr marL="228600" algn="just"/>
            <a:r>
              <a:rPr lang="he-IL" sz="4000" b="1" dirty="0">
                <a:effectLst/>
                <a:latin typeface="Times New Roman" panose="02020603050405020304" pitchFamily="18" charset="0"/>
                <a:ea typeface="Calibri" panose="020F0502020204030204" pitchFamily="34" charset="0"/>
                <a:cs typeface="David" panose="020E0502060401010101" pitchFamily="34" charset="-79"/>
              </a:rPr>
              <a:t>כל בעל דירה ישלם השתתפות בשיעור של 21 ₪ לכל מ"ר רצפה. </a:t>
            </a:r>
          </a:p>
          <a:p>
            <a:pPr marL="228600" algn="just"/>
            <a:r>
              <a:rPr lang="he-IL" sz="4000" b="1" dirty="0">
                <a:effectLst/>
                <a:latin typeface="Times New Roman" panose="02020603050405020304" pitchFamily="18" charset="0"/>
                <a:ea typeface="Calibri" panose="020F0502020204030204" pitchFamily="34" charset="0"/>
                <a:cs typeface="David" panose="020E0502060401010101" pitchFamily="34" charset="-79"/>
              </a:rPr>
              <a:t>התשלום יבוצע עד 4 תשלומים חודשיים שווים, החל מיום 1/2/27 ועד 1/5/27.</a:t>
            </a:r>
          </a:p>
          <a:p>
            <a:pPr marL="228600" algn="r" rtl="1"/>
            <a:endParaRPr lang="en-US" sz="1800" dirty="0">
              <a:effectLst/>
              <a:latin typeface="Times New Roman" panose="02020603050405020304" pitchFamily="18" charset="0"/>
              <a:ea typeface="Calibri" panose="020F0502020204030204" pitchFamily="34" charset="0"/>
            </a:endParaRPr>
          </a:p>
        </p:txBody>
      </p:sp>
    </p:spTree>
    <p:extLst>
      <p:ext uri="{BB962C8B-B14F-4D97-AF65-F5344CB8AC3E}">
        <p14:creationId xmlns:p14="http://schemas.microsoft.com/office/powerpoint/2010/main" val="372072141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מלבן 3">
            <a:extLst>
              <a:ext uri="{FF2B5EF4-FFF2-40B4-BE49-F238E27FC236}">
                <a16:creationId xmlns:a16="http://schemas.microsoft.com/office/drawing/2014/main" id="{D1C691A2-E008-7A1F-FBC5-B9A68D244641}"/>
              </a:ext>
            </a:extLst>
          </p:cNvPr>
          <p:cNvSpPr/>
          <p:nvPr/>
        </p:nvSpPr>
        <p:spPr>
          <a:xfrm>
            <a:off x="0" y="0"/>
            <a:ext cx="12192000" cy="1323439"/>
          </a:xfrm>
          <a:prstGeom prst="rect">
            <a:avLst/>
          </a:prstGeom>
          <a:noFill/>
        </p:spPr>
        <p:txBody>
          <a:bodyPr wrap="square" lIns="91440" tIns="45720" rIns="91440" bIns="45720">
            <a:spAutoFit/>
          </a:bodyPr>
          <a:lstStyle/>
          <a:p>
            <a:pPr algn="ctr"/>
            <a:r>
              <a:rPr lang="he-IL" sz="8000" b="1" u="sng" dirty="0">
                <a:ln w="9525">
                  <a:solidFill>
                    <a:schemeClr val="accent2"/>
                  </a:solidFill>
                  <a:prstDash val="solid"/>
                </a:ln>
                <a:effectLst>
                  <a:outerShdw blurRad="12700" dist="38100" dir="2700000" algn="tl" rotWithShape="0">
                    <a:schemeClr val="bg1">
                      <a:lumMod val="50000"/>
                    </a:schemeClr>
                  </a:outerShdw>
                </a:effectLst>
                <a:latin typeface="David" panose="020E0502060401010101" pitchFamily="34" charset="-79"/>
                <a:cs typeface="David" panose="020E0502060401010101" pitchFamily="34" charset="-79"/>
              </a:rPr>
              <a:t>בחירות ועד – נציגות</a:t>
            </a:r>
          </a:p>
        </p:txBody>
      </p:sp>
      <p:sp>
        <p:nvSpPr>
          <p:cNvPr id="2" name="כותרת משנה 2">
            <a:extLst>
              <a:ext uri="{FF2B5EF4-FFF2-40B4-BE49-F238E27FC236}">
                <a16:creationId xmlns:a16="http://schemas.microsoft.com/office/drawing/2014/main" id="{6489CBCA-35E4-75FD-B8D1-E18F6418DC38}"/>
              </a:ext>
            </a:extLst>
          </p:cNvPr>
          <p:cNvSpPr>
            <a:spLocks noGrp="1"/>
          </p:cNvSpPr>
          <p:nvPr>
            <p:ph type="subTitle" idx="1"/>
          </p:nvPr>
        </p:nvSpPr>
        <p:spPr>
          <a:xfrm>
            <a:off x="592266" y="1475315"/>
            <a:ext cx="11007467" cy="2813221"/>
          </a:xfrm>
        </p:spPr>
        <p:txBody>
          <a:bodyPr anchor="t">
            <a:noAutofit/>
          </a:bodyPr>
          <a:lstStyle/>
          <a:p>
            <a:pPr marL="457200" rtl="1"/>
            <a:r>
              <a:rPr lang="he-IL" sz="4000" b="1" u="sng" dirty="0">
                <a:effectLst/>
                <a:latin typeface="Times New Roman" panose="02020603050405020304" pitchFamily="18" charset="0"/>
                <a:ea typeface="Times New Roman" panose="02020603050405020304" pitchFamily="18" charset="0"/>
                <a:cs typeface="David" panose="020E0502060401010101" pitchFamily="34" charset="-79"/>
              </a:rPr>
              <a:t>בהתאם להצעה לסדר יום האספה:</a:t>
            </a:r>
          </a:p>
          <a:p>
            <a:pPr marL="1028700" indent="-571500" algn="just" rtl="1">
              <a:buFont typeface="Wingdings" panose="05000000000000000000" pitchFamily="2" charset="2"/>
              <a:buChar char="Ø"/>
            </a:pPr>
            <a:r>
              <a:rPr lang="he-IL" sz="4000" b="1" dirty="0">
                <a:effectLst/>
                <a:latin typeface="Times New Roman" panose="02020603050405020304" pitchFamily="18" charset="0"/>
                <a:ea typeface="Times New Roman" panose="02020603050405020304" pitchFamily="18" charset="0"/>
                <a:cs typeface="David" panose="020E0502060401010101" pitchFamily="34" charset="-79"/>
              </a:rPr>
              <a:t> באספה זו יבחרו 3 חברי נציגות.</a:t>
            </a:r>
            <a:endParaRPr lang="en-US" sz="4000" b="1" dirty="0">
              <a:effectLst/>
              <a:latin typeface="Times New Roman" panose="02020603050405020304" pitchFamily="18" charset="0"/>
              <a:ea typeface="Times New Roman" panose="02020603050405020304" pitchFamily="18" charset="0"/>
            </a:endParaRPr>
          </a:p>
          <a:p>
            <a:pPr marL="1028700" indent="-571500" algn="just" rtl="1">
              <a:buFont typeface="Wingdings" panose="05000000000000000000" pitchFamily="2" charset="2"/>
              <a:buChar char="Ø"/>
            </a:pPr>
            <a:r>
              <a:rPr lang="he-IL" sz="4000" b="1" dirty="0">
                <a:effectLst/>
                <a:latin typeface="Times New Roman" panose="02020603050405020304" pitchFamily="18" charset="0"/>
                <a:ea typeface="Times New Roman" panose="02020603050405020304" pitchFamily="18" charset="0"/>
                <a:cs typeface="David" panose="020E0502060401010101" pitchFamily="34" charset="-79"/>
              </a:rPr>
              <a:t>האספה הכללית מתכבדת להציג מועמדיה. </a:t>
            </a:r>
            <a:endParaRPr lang="he-IL" sz="4000" b="1" dirty="0">
              <a:latin typeface="Times New Roman" panose="02020603050405020304" pitchFamily="18" charset="0"/>
              <a:ea typeface="Times New Roman" panose="02020603050405020304" pitchFamily="18" charset="0"/>
            </a:endParaRPr>
          </a:p>
          <a:p>
            <a:pPr marL="1028700" indent="-571500" algn="just" rtl="1">
              <a:buFont typeface="Wingdings" panose="05000000000000000000" pitchFamily="2" charset="2"/>
              <a:buChar char="Ø"/>
            </a:pPr>
            <a:r>
              <a:rPr lang="he-IL" sz="4000" b="1" dirty="0">
                <a:effectLst/>
                <a:latin typeface="Times New Roman" panose="02020603050405020304" pitchFamily="18" charset="0"/>
                <a:ea typeface="Times New Roman" panose="02020603050405020304" pitchFamily="18" charset="0"/>
                <a:cs typeface="David" panose="020E0502060401010101" pitchFamily="34" charset="-79"/>
              </a:rPr>
              <a:t>תתקיים הצבעה בחירות לנציגות.</a:t>
            </a:r>
            <a:endParaRPr lang="en-US" sz="4000" b="1"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846940338"/>
      </p:ext>
    </p:extLst>
  </p:cSld>
  <p:clrMapOvr>
    <a:masterClrMapping/>
  </p:clrMapOvr>
</p:sld>
</file>

<file path=ppt/theme/theme1.xml><?xml version="1.0" encoding="utf-8"?>
<a:theme xmlns:a="http://schemas.openxmlformats.org/drawingml/2006/main" name="ערכת נושא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Organic</Template>
  <TotalTime>172</TotalTime>
  <Words>1084</Words>
  <Application>Microsoft Office PowerPoint</Application>
  <PresentationFormat>Widescreen</PresentationFormat>
  <Paragraphs>113</Paragraphs>
  <Slides>27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27</vt:i4>
      </vt:variant>
    </vt:vector>
  </HeadingPairs>
  <TitlesOfParts>
    <vt:vector size="34" baseType="lpstr">
      <vt:lpstr>Arial</vt:lpstr>
      <vt:lpstr>Calibri</vt:lpstr>
      <vt:lpstr>Calibri Light</vt:lpstr>
      <vt:lpstr>David</vt:lpstr>
      <vt:lpstr>Times New Roman</vt:lpstr>
      <vt:lpstr>Wingdings</vt:lpstr>
      <vt:lpstr>ערכת נושא Office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מצגת של PowerPoint</dc:title>
  <dc:creator>Sivan Waisman</dc:creator>
  <cp:lastModifiedBy>Sivan Waisman</cp:lastModifiedBy>
  <cp:revision>22</cp:revision>
  <dcterms:created xsi:type="dcterms:W3CDTF">2025-03-30T09:09:45Z</dcterms:created>
  <dcterms:modified xsi:type="dcterms:W3CDTF">2026-09-06T10:41:23Z</dcterms:modified>
</cp:coreProperties>
</file>