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56" r:id="rId2"/>
    <p:sldId id="257" r:id="rId3"/>
    <p:sldId id="258" r:id="rId4"/>
    <p:sldId id="275" r:id="rId5"/>
    <p:sldId id="276" r:id="rId6"/>
    <p:sldId id="277" r:id="rId7"/>
    <p:sldId id="278" r:id="rId8"/>
    <p:sldId id="259" r:id="rId9"/>
    <p:sldId id="261" r:id="rId10"/>
    <p:sldId id="262" r:id="rId11"/>
    <p:sldId id="263" r:id="rId12"/>
    <p:sldId id="279" r:id="rId13"/>
    <p:sldId id="280" r:id="rId14"/>
    <p:sldId id="281" r:id="rId15"/>
    <p:sldId id="282" r:id="rId16"/>
    <p:sldId id="283" r:id="rId17"/>
    <p:sldId id="264" r:id="rId18"/>
    <p:sldId id="289" r:id="rId19"/>
    <p:sldId id="288" r:id="rId20"/>
    <p:sldId id="287" r:id="rId21"/>
    <p:sldId id="286" r:id="rId22"/>
    <p:sldId id="260" r:id="rId23"/>
    <p:sldId id="284" r:id="rId24"/>
    <p:sldId id="265" r:id="rId25"/>
    <p:sldId id="267" r:id="rId26"/>
    <p:sldId id="296" r:id="rId27"/>
    <p:sldId id="295" r:id="rId28"/>
    <p:sldId id="294" r:id="rId29"/>
    <p:sldId id="293" r:id="rId30"/>
    <p:sldId id="292" r:id="rId31"/>
    <p:sldId id="291" r:id="rId32"/>
    <p:sldId id="290" r:id="rId33"/>
    <p:sldId id="268" r:id="rId34"/>
    <p:sldId id="269" r:id="rId35"/>
    <p:sldId id="299" r:id="rId36"/>
    <p:sldId id="298" r:id="rId37"/>
    <p:sldId id="297" r:id="rId38"/>
    <p:sldId id="270" r:id="rId39"/>
    <p:sldId id="271" r:id="rId40"/>
    <p:sldId id="272" r:id="rId41"/>
    <p:sldId id="273" r:id="rId42"/>
    <p:sldId id="274" r:id="rId43"/>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7670" autoAdjust="0"/>
    <p:restoredTop sz="94660"/>
  </p:normalViewPr>
  <p:slideViewPr>
    <p:cSldViewPr snapToGrid="0">
      <p:cViewPr varScale="1">
        <p:scale>
          <a:sx n="78" d="100"/>
          <a:sy n="78" d="100"/>
        </p:scale>
        <p:origin x="926"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30692B6-CEF3-3113-DFDB-7C500A58CBE3}"/>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5F0703A0-256B-EEF6-28FC-E8FBFBD8C9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6EADDA19-458C-995D-DF10-6729DAF667B6}"/>
              </a:ext>
            </a:extLst>
          </p:cNvPr>
          <p:cNvSpPr>
            <a:spLocks noGrp="1"/>
          </p:cNvSpPr>
          <p:nvPr>
            <p:ph type="dt" sz="half" idx="10"/>
          </p:nvPr>
        </p:nvSpPr>
        <p:spPr/>
        <p:txBody>
          <a:bodyPr/>
          <a:lstStyle/>
          <a:p>
            <a:fld id="{93A94A1E-D451-40F7-A36E-882C169B8DAF}" type="datetimeFigureOut">
              <a:rPr lang="he-IL" smtClean="0"/>
              <a:t>ב'/ניסן/תשפ"ה</a:t>
            </a:fld>
            <a:endParaRPr lang="he-IL"/>
          </a:p>
        </p:txBody>
      </p:sp>
      <p:sp>
        <p:nvSpPr>
          <p:cNvPr id="5" name="מציין מיקום של כותרת תחתונה 4">
            <a:extLst>
              <a:ext uri="{FF2B5EF4-FFF2-40B4-BE49-F238E27FC236}">
                <a16:creationId xmlns:a16="http://schemas.microsoft.com/office/drawing/2014/main" id="{45DA343D-A347-6572-DEA4-33155C47DD81}"/>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7BEDD51E-4B94-1B30-308A-E3BEE3D00B8C}"/>
              </a:ext>
            </a:extLst>
          </p:cNvPr>
          <p:cNvSpPr>
            <a:spLocks noGrp="1"/>
          </p:cNvSpPr>
          <p:nvPr>
            <p:ph type="sldNum" sz="quarter" idx="12"/>
          </p:nvPr>
        </p:nvSpPr>
        <p:spPr/>
        <p:txBody>
          <a:bodyPr/>
          <a:lstStyle/>
          <a:p>
            <a:fld id="{D9471D36-8DC5-449C-AE2E-3283AD525100}" type="slidenum">
              <a:rPr lang="he-IL" smtClean="0"/>
              <a:t>‹#›</a:t>
            </a:fld>
            <a:endParaRPr lang="he-IL"/>
          </a:p>
        </p:txBody>
      </p:sp>
    </p:spTree>
    <p:extLst>
      <p:ext uri="{BB962C8B-B14F-4D97-AF65-F5344CB8AC3E}">
        <p14:creationId xmlns:p14="http://schemas.microsoft.com/office/powerpoint/2010/main" val="130291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DA8F299-33BD-87F8-3798-D583768E07DC}"/>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AACCD2F6-B91E-E7F4-0DCA-188D21BFA7F6}"/>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84B9C8AA-D815-78AE-8A80-11B366A7CB9D}"/>
              </a:ext>
            </a:extLst>
          </p:cNvPr>
          <p:cNvSpPr>
            <a:spLocks noGrp="1"/>
          </p:cNvSpPr>
          <p:nvPr>
            <p:ph type="dt" sz="half" idx="10"/>
          </p:nvPr>
        </p:nvSpPr>
        <p:spPr/>
        <p:txBody>
          <a:bodyPr/>
          <a:lstStyle/>
          <a:p>
            <a:fld id="{93A94A1E-D451-40F7-A36E-882C169B8DAF}" type="datetimeFigureOut">
              <a:rPr lang="he-IL" smtClean="0"/>
              <a:t>ב'/ניסן/תשפ"ה</a:t>
            </a:fld>
            <a:endParaRPr lang="he-IL"/>
          </a:p>
        </p:txBody>
      </p:sp>
      <p:sp>
        <p:nvSpPr>
          <p:cNvPr id="5" name="מציין מיקום של כותרת תחתונה 4">
            <a:extLst>
              <a:ext uri="{FF2B5EF4-FFF2-40B4-BE49-F238E27FC236}">
                <a16:creationId xmlns:a16="http://schemas.microsoft.com/office/drawing/2014/main" id="{9D96B655-5D16-20B1-653B-7C2BF06F4092}"/>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8EAA63A3-924D-A6B8-0882-6F4E8E2BE261}"/>
              </a:ext>
            </a:extLst>
          </p:cNvPr>
          <p:cNvSpPr>
            <a:spLocks noGrp="1"/>
          </p:cNvSpPr>
          <p:nvPr>
            <p:ph type="sldNum" sz="quarter" idx="12"/>
          </p:nvPr>
        </p:nvSpPr>
        <p:spPr/>
        <p:txBody>
          <a:bodyPr/>
          <a:lstStyle/>
          <a:p>
            <a:fld id="{D9471D36-8DC5-449C-AE2E-3283AD525100}" type="slidenum">
              <a:rPr lang="he-IL" smtClean="0"/>
              <a:t>‹#›</a:t>
            </a:fld>
            <a:endParaRPr lang="he-IL"/>
          </a:p>
        </p:txBody>
      </p:sp>
    </p:spTree>
    <p:extLst>
      <p:ext uri="{BB962C8B-B14F-4D97-AF65-F5344CB8AC3E}">
        <p14:creationId xmlns:p14="http://schemas.microsoft.com/office/powerpoint/2010/main" val="2853872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1CB79AA-917D-6E9E-CF6A-266F03319AE9}"/>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046BF831-BD22-8D0A-DF79-56FCDF51959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B0DC4BC2-9493-C9AF-E29F-160E9820E4D2}"/>
              </a:ext>
            </a:extLst>
          </p:cNvPr>
          <p:cNvSpPr>
            <a:spLocks noGrp="1"/>
          </p:cNvSpPr>
          <p:nvPr>
            <p:ph type="dt" sz="half" idx="10"/>
          </p:nvPr>
        </p:nvSpPr>
        <p:spPr/>
        <p:txBody>
          <a:bodyPr/>
          <a:lstStyle/>
          <a:p>
            <a:fld id="{93A94A1E-D451-40F7-A36E-882C169B8DAF}" type="datetimeFigureOut">
              <a:rPr lang="he-IL" smtClean="0"/>
              <a:t>ב'/ניסן/תשפ"ה</a:t>
            </a:fld>
            <a:endParaRPr lang="he-IL"/>
          </a:p>
        </p:txBody>
      </p:sp>
      <p:sp>
        <p:nvSpPr>
          <p:cNvPr id="5" name="מציין מיקום של כותרת תחתונה 4">
            <a:extLst>
              <a:ext uri="{FF2B5EF4-FFF2-40B4-BE49-F238E27FC236}">
                <a16:creationId xmlns:a16="http://schemas.microsoft.com/office/drawing/2014/main" id="{DD42C207-EC0A-DA69-19A1-D65B4B7EB210}"/>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8FD9CD19-FE38-1DAC-82ED-2281B51E6CDD}"/>
              </a:ext>
            </a:extLst>
          </p:cNvPr>
          <p:cNvSpPr>
            <a:spLocks noGrp="1"/>
          </p:cNvSpPr>
          <p:nvPr>
            <p:ph type="sldNum" sz="quarter" idx="12"/>
          </p:nvPr>
        </p:nvSpPr>
        <p:spPr/>
        <p:txBody>
          <a:bodyPr/>
          <a:lstStyle/>
          <a:p>
            <a:fld id="{D9471D36-8DC5-449C-AE2E-3283AD525100}" type="slidenum">
              <a:rPr lang="he-IL" smtClean="0"/>
              <a:t>‹#›</a:t>
            </a:fld>
            <a:endParaRPr lang="he-IL"/>
          </a:p>
        </p:txBody>
      </p:sp>
    </p:spTree>
    <p:extLst>
      <p:ext uri="{BB962C8B-B14F-4D97-AF65-F5344CB8AC3E}">
        <p14:creationId xmlns:p14="http://schemas.microsoft.com/office/powerpoint/2010/main" val="2122465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7E8A617-9E20-D185-5691-7BCB9D526838}"/>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C888E887-BB67-B3AB-A576-D10EA35D8B05}"/>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B3035EEB-B93C-8FAD-0BF8-4037DC8B113E}"/>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30FE774A-C553-D612-07C5-176264962180}"/>
              </a:ext>
            </a:extLst>
          </p:cNvPr>
          <p:cNvSpPr>
            <a:spLocks noGrp="1"/>
          </p:cNvSpPr>
          <p:nvPr>
            <p:ph type="dt" sz="half" idx="10"/>
          </p:nvPr>
        </p:nvSpPr>
        <p:spPr/>
        <p:txBody>
          <a:bodyPr/>
          <a:lstStyle/>
          <a:p>
            <a:fld id="{93A94A1E-D451-40F7-A36E-882C169B8DAF}" type="datetimeFigureOut">
              <a:rPr lang="he-IL" smtClean="0"/>
              <a:t>ב'/ניסן/תשפ"ה</a:t>
            </a:fld>
            <a:endParaRPr lang="he-IL"/>
          </a:p>
        </p:txBody>
      </p:sp>
      <p:sp>
        <p:nvSpPr>
          <p:cNvPr id="6" name="מציין מיקום של כותרת תחתונה 5">
            <a:extLst>
              <a:ext uri="{FF2B5EF4-FFF2-40B4-BE49-F238E27FC236}">
                <a16:creationId xmlns:a16="http://schemas.microsoft.com/office/drawing/2014/main" id="{15FFF55A-4317-3BCB-B95A-0FD31D505F7A}"/>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B90C6439-7C6E-3B05-1E6C-EE72CAE43C18}"/>
              </a:ext>
            </a:extLst>
          </p:cNvPr>
          <p:cNvSpPr>
            <a:spLocks noGrp="1"/>
          </p:cNvSpPr>
          <p:nvPr>
            <p:ph type="sldNum" sz="quarter" idx="12"/>
          </p:nvPr>
        </p:nvSpPr>
        <p:spPr/>
        <p:txBody>
          <a:bodyPr/>
          <a:lstStyle/>
          <a:p>
            <a:fld id="{D9471D36-8DC5-449C-AE2E-3283AD525100}" type="slidenum">
              <a:rPr lang="he-IL" smtClean="0"/>
              <a:t>‹#›</a:t>
            </a:fld>
            <a:endParaRPr lang="he-IL"/>
          </a:p>
        </p:txBody>
      </p:sp>
    </p:spTree>
    <p:extLst>
      <p:ext uri="{BB962C8B-B14F-4D97-AF65-F5344CB8AC3E}">
        <p14:creationId xmlns:p14="http://schemas.microsoft.com/office/powerpoint/2010/main" val="2343165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1F6B9A2-97D9-6B76-E8BB-9C8784B51454}"/>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FE78A440-4A42-FBAC-80C3-E702710436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95AF17A7-C8F2-DE92-B506-6F7E9945B73D}"/>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28A0891B-14F3-B809-20BC-DF743B950C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526B29FE-A01F-2B8E-0EF5-CF97CCC46EBD}"/>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6B63FA8A-A790-930B-4798-2F38A2C34D05}"/>
              </a:ext>
            </a:extLst>
          </p:cNvPr>
          <p:cNvSpPr>
            <a:spLocks noGrp="1"/>
          </p:cNvSpPr>
          <p:nvPr>
            <p:ph type="dt" sz="half" idx="10"/>
          </p:nvPr>
        </p:nvSpPr>
        <p:spPr/>
        <p:txBody>
          <a:bodyPr/>
          <a:lstStyle/>
          <a:p>
            <a:fld id="{93A94A1E-D451-40F7-A36E-882C169B8DAF}" type="datetimeFigureOut">
              <a:rPr lang="he-IL" smtClean="0"/>
              <a:t>ב'/ניסן/תשפ"ה</a:t>
            </a:fld>
            <a:endParaRPr lang="he-IL"/>
          </a:p>
        </p:txBody>
      </p:sp>
      <p:sp>
        <p:nvSpPr>
          <p:cNvPr id="8" name="מציין מיקום של כותרת תחתונה 7">
            <a:extLst>
              <a:ext uri="{FF2B5EF4-FFF2-40B4-BE49-F238E27FC236}">
                <a16:creationId xmlns:a16="http://schemas.microsoft.com/office/drawing/2014/main" id="{B05B4181-194D-C7BB-CB44-178BEAFBF114}"/>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7900D17A-4EAE-7C31-49DC-4D537642BB38}"/>
              </a:ext>
            </a:extLst>
          </p:cNvPr>
          <p:cNvSpPr>
            <a:spLocks noGrp="1"/>
          </p:cNvSpPr>
          <p:nvPr>
            <p:ph type="sldNum" sz="quarter" idx="12"/>
          </p:nvPr>
        </p:nvSpPr>
        <p:spPr/>
        <p:txBody>
          <a:bodyPr/>
          <a:lstStyle/>
          <a:p>
            <a:fld id="{D9471D36-8DC5-449C-AE2E-3283AD525100}" type="slidenum">
              <a:rPr lang="he-IL" smtClean="0"/>
              <a:t>‹#›</a:t>
            </a:fld>
            <a:endParaRPr lang="he-IL"/>
          </a:p>
        </p:txBody>
      </p:sp>
    </p:spTree>
    <p:extLst>
      <p:ext uri="{BB962C8B-B14F-4D97-AF65-F5344CB8AC3E}">
        <p14:creationId xmlns:p14="http://schemas.microsoft.com/office/powerpoint/2010/main" val="1746585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36E33A8-DB45-0E97-9D18-B7B69D2C22F4}"/>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6044463D-3D07-2687-B348-09AE950E330E}"/>
              </a:ext>
            </a:extLst>
          </p:cNvPr>
          <p:cNvSpPr>
            <a:spLocks noGrp="1"/>
          </p:cNvSpPr>
          <p:nvPr>
            <p:ph type="dt" sz="half" idx="10"/>
          </p:nvPr>
        </p:nvSpPr>
        <p:spPr/>
        <p:txBody>
          <a:bodyPr/>
          <a:lstStyle/>
          <a:p>
            <a:fld id="{93A94A1E-D451-40F7-A36E-882C169B8DAF}" type="datetimeFigureOut">
              <a:rPr lang="he-IL" smtClean="0"/>
              <a:t>ב'/ניסן/תשפ"ה</a:t>
            </a:fld>
            <a:endParaRPr lang="he-IL"/>
          </a:p>
        </p:txBody>
      </p:sp>
      <p:sp>
        <p:nvSpPr>
          <p:cNvPr id="4" name="מציין מיקום של כותרת תחתונה 3">
            <a:extLst>
              <a:ext uri="{FF2B5EF4-FFF2-40B4-BE49-F238E27FC236}">
                <a16:creationId xmlns:a16="http://schemas.microsoft.com/office/drawing/2014/main" id="{3533BFB4-42B9-3C91-E38B-B306E328AAAB}"/>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ED587446-AFFF-F4E1-E565-09ADC1DA67C6}"/>
              </a:ext>
            </a:extLst>
          </p:cNvPr>
          <p:cNvSpPr>
            <a:spLocks noGrp="1"/>
          </p:cNvSpPr>
          <p:nvPr>
            <p:ph type="sldNum" sz="quarter" idx="12"/>
          </p:nvPr>
        </p:nvSpPr>
        <p:spPr/>
        <p:txBody>
          <a:bodyPr/>
          <a:lstStyle/>
          <a:p>
            <a:fld id="{D9471D36-8DC5-449C-AE2E-3283AD525100}" type="slidenum">
              <a:rPr lang="he-IL" smtClean="0"/>
              <a:t>‹#›</a:t>
            </a:fld>
            <a:endParaRPr lang="he-IL"/>
          </a:p>
        </p:txBody>
      </p:sp>
    </p:spTree>
    <p:extLst>
      <p:ext uri="{BB962C8B-B14F-4D97-AF65-F5344CB8AC3E}">
        <p14:creationId xmlns:p14="http://schemas.microsoft.com/office/powerpoint/2010/main" val="3797295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03083E20-7527-A3C6-3A0C-59BACA587C56}"/>
              </a:ext>
            </a:extLst>
          </p:cNvPr>
          <p:cNvSpPr>
            <a:spLocks noGrp="1"/>
          </p:cNvSpPr>
          <p:nvPr>
            <p:ph type="dt" sz="half" idx="10"/>
          </p:nvPr>
        </p:nvSpPr>
        <p:spPr/>
        <p:txBody>
          <a:bodyPr/>
          <a:lstStyle/>
          <a:p>
            <a:fld id="{93A94A1E-D451-40F7-A36E-882C169B8DAF}" type="datetimeFigureOut">
              <a:rPr lang="he-IL" smtClean="0"/>
              <a:t>ב'/ניסן/תשפ"ה</a:t>
            </a:fld>
            <a:endParaRPr lang="he-IL"/>
          </a:p>
        </p:txBody>
      </p:sp>
      <p:sp>
        <p:nvSpPr>
          <p:cNvPr id="3" name="מציין מיקום של כותרת תחתונה 2">
            <a:extLst>
              <a:ext uri="{FF2B5EF4-FFF2-40B4-BE49-F238E27FC236}">
                <a16:creationId xmlns:a16="http://schemas.microsoft.com/office/drawing/2014/main" id="{80B7A57D-DF60-6473-1FC6-FD11DF4303C3}"/>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B001E41E-0364-7C72-6C8A-964AC35654A1}"/>
              </a:ext>
            </a:extLst>
          </p:cNvPr>
          <p:cNvSpPr>
            <a:spLocks noGrp="1"/>
          </p:cNvSpPr>
          <p:nvPr>
            <p:ph type="sldNum" sz="quarter" idx="12"/>
          </p:nvPr>
        </p:nvSpPr>
        <p:spPr/>
        <p:txBody>
          <a:bodyPr/>
          <a:lstStyle/>
          <a:p>
            <a:fld id="{D9471D36-8DC5-449C-AE2E-3283AD525100}" type="slidenum">
              <a:rPr lang="he-IL" smtClean="0"/>
              <a:t>‹#›</a:t>
            </a:fld>
            <a:endParaRPr lang="he-IL"/>
          </a:p>
        </p:txBody>
      </p:sp>
    </p:spTree>
    <p:extLst>
      <p:ext uri="{BB962C8B-B14F-4D97-AF65-F5344CB8AC3E}">
        <p14:creationId xmlns:p14="http://schemas.microsoft.com/office/powerpoint/2010/main" val="2413584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E9DFCD2-19BA-B26F-E264-18A95D7B10BD}"/>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5552E03E-EC7B-9A6C-9072-CAF6A835A9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08066F95-78C5-A108-96D2-373ACAD7FE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92F9A0E3-6E85-AB98-FCC7-7D1D31C367A8}"/>
              </a:ext>
            </a:extLst>
          </p:cNvPr>
          <p:cNvSpPr>
            <a:spLocks noGrp="1"/>
          </p:cNvSpPr>
          <p:nvPr>
            <p:ph type="dt" sz="half" idx="10"/>
          </p:nvPr>
        </p:nvSpPr>
        <p:spPr/>
        <p:txBody>
          <a:bodyPr/>
          <a:lstStyle/>
          <a:p>
            <a:fld id="{93A94A1E-D451-40F7-A36E-882C169B8DAF}" type="datetimeFigureOut">
              <a:rPr lang="he-IL" smtClean="0"/>
              <a:t>ב'/ניסן/תשפ"ה</a:t>
            </a:fld>
            <a:endParaRPr lang="he-IL"/>
          </a:p>
        </p:txBody>
      </p:sp>
      <p:sp>
        <p:nvSpPr>
          <p:cNvPr id="6" name="מציין מיקום של כותרת תחתונה 5">
            <a:extLst>
              <a:ext uri="{FF2B5EF4-FFF2-40B4-BE49-F238E27FC236}">
                <a16:creationId xmlns:a16="http://schemas.microsoft.com/office/drawing/2014/main" id="{D8A94EF1-BF68-E8E6-7860-06078857D79E}"/>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FB89B643-4E93-1939-CA8C-511D90C6D530}"/>
              </a:ext>
            </a:extLst>
          </p:cNvPr>
          <p:cNvSpPr>
            <a:spLocks noGrp="1"/>
          </p:cNvSpPr>
          <p:nvPr>
            <p:ph type="sldNum" sz="quarter" idx="12"/>
          </p:nvPr>
        </p:nvSpPr>
        <p:spPr/>
        <p:txBody>
          <a:bodyPr/>
          <a:lstStyle/>
          <a:p>
            <a:fld id="{D9471D36-8DC5-449C-AE2E-3283AD525100}" type="slidenum">
              <a:rPr lang="he-IL" smtClean="0"/>
              <a:t>‹#›</a:t>
            </a:fld>
            <a:endParaRPr lang="he-IL"/>
          </a:p>
        </p:txBody>
      </p:sp>
    </p:spTree>
    <p:extLst>
      <p:ext uri="{BB962C8B-B14F-4D97-AF65-F5344CB8AC3E}">
        <p14:creationId xmlns:p14="http://schemas.microsoft.com/office/powerpoint/2010/main" val="1336545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8AAEE02-12EB-2F80-EBF3-47B987A194A1}"/>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03560CAC-5160-0C26-BA85-7282FAE66B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541675ED-93BA-8FC4-B0AB-060E69406F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018BC105-85D6-910E-DCBF-F741BC5D2735}"/>
              </a:ext>
            </a:extLst>
          </p:cNvPr>
          <p:cNvSpPr>
            <a:spLocks noGrp="1"/>
          </p:cNvSpPr>
          <p:nvPr>
            <p:ph type="dt" sz="half" idx="10"/>
          </p:nvPr>
        </p:nvSpPr>
        <p:spPr/>
        <p:txBody>
          <a:bodyPr/>
          <a:lstStyle/>
          <a:p>
            <a:fld id="{93A94A1E-D451-40F7-A36E-882C169B8DAF}" type="datetimeFigureOut">
              <a:rPr lang="he-IL" smtClean="0"/>
              <a:t>ב'/ניסן/תשפ"ה</a:t>
            </a:fld>
            <a:endParaRPr lang="he-IL"/>
          </a:p>
        </p:txBody>
      </p:sp>
      <p:sp>
        <p:nvSpPr>
          <p:cNvPr id="6" name="מציין מיקום של כותרת תחתונה 5">
            <a:extLst>
              <a:ext uri="{FF2B5EF4-FFF2-40B4-BE49-F238E27FC236}">
                <a16:creationId xmlns:a16="http://schemas.microsoft.com/office/drawing/2014/main" id="{9A725708-5B86-2884-BDD7-794BF0CD1498}"/>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B095FEFC-C915-D690-6FC9-81B3CB4148F5}"/>
              </a:ext>
            </a:extLst>
          </p:cNvPr>
          <p:cNvSpPr>
            <a:spLocks noGrp="1"/>
          </p:cNvSpPr>
          <p:nvPr>
            <p:ph type="sldNum" sz="quarter" idx="12"/>
          </p:nvPr>
        </p:nvSpPr>
        <p:spPr/>
        <p:txBody>
          <a:bodyPr/>
          <a:lstStyle/>
          <a:p>
            <a:fld id="{D9471D36-8DC5-449C-AE2E-3283AD525100}" type="slidenum">
              <a:rPr lang="he-IL" smtClean="0"/>
              <a:t>‹#›</a:t>
            </a:fld>
            <a:endParaRPr lang="he-IL"/>
          </a:p>
        </p:txBody>
      </p:sp>
    </p:spTree>
    <p:extLst>
      <p:ext uri="{BB962C8B-B14F-4D97-AF65-F5344CB8AC3E}">
        <p14:creationId xmlns:p14="http://schemas.microsoft.com/office/powerpoint/2010/main" val="3380108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AB2B513-612A-C612-C5D3-EBE14A6FBD14}"/>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7770082D-2219-F6C1-8B6A-6E2F21E09055}"/>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19207880-EB2F-1B73-9141-C82E0A067E6F}"/>
              </a:ext>
            </a:extLst>
          </p:cNvPr>
          <p:cNvSpPr>
            <a:spLocks noGrp="1"/>
          </p:cNvSpPr>
          <p:nvPr>
            <p:ph type="dt" sz="half" idx="10"/>
          </p:nvPr>
        </p:nvSpPr>
        <p:spPr/>
        <p:txBody>
          <a:bodyPr/>
          <a:lstStyle/>
          <a:p>
            <a:fld id="{93A94A1E-D451-40F7-A36E-882C169B8DAF}" type="datetimeFigureOut">
              <a:rPr lang="he-IL" smtClean="0"/>
              <a:t>ב'/ניסן/תשפ"ה</a:t>
            </a:fld>
            <a:endParaRPr lang="he-IL"/>
          </a:p>
        </p:txBody>
      </p:sp>
      <p:sp>
        <p:nvSpPr>
          <p:cNvPr id="5" name="מציין מיקום של כותרת תחתונה 4">
            <a:extLst>
              <a:ext uri="{FF2B5EF4-FFF2-40B4-BE49-F238E27FC236}">
                <a16:creationId xmlns:a16="http://schemas.microsoft.com/office/drawing/2014/main" id="{850E4CB4-8016-C1FF-48DA-04184138F1C0}"/>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7677789F-94B0-ACE9-EE58-B4B9E984666F}"/>
              </a:ext>
            </a:extLst>
          </p:cNvPr>
          <p:cNvSpPr>
            <a:spLocks noGrp="1"/>
          </p:cNvSpPr>
          <p:nvPr>
            <p:ph type="sldNum" sz="quarter" idx="12"/>
          </p:nvPr>
        </p:nvSpPr>
        <p:spPr/>
        <p:txBody>
          <a:bodyPr/>
          <a:lstStyle/>
          <a:p>
            <a:fld id="{D9471D36-8DC5-449C-AE2E-3283AD525100}" type="slidenum">
              <a:rPr lang="he-IL" smtClean="0"/>
              <a:t>‹#›</a:t>
            </a:fld>
            <a:endParaRPr lang="he-IL"/>
          </a:p>
        </p:txBody>
      </p:sp>
    </p:spTree>
    <p:extLst>
      <p:ext uri="{BB962C8B-B14F-4D97-AF65-F5344CB8AC3E}">
        <p14:creationId xmlns:p14="http://schemas.microsoft.com/office/powerpoint/2010/main" val="2000002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36B48C87-A893-29E3-6952-0F6019A20CC6}"/>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8E25FB3C-FB72-61C2-7211-76BFFD3D3C05}"/>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040568D3-25A2-C9A2-0D4B-84898B257AE8}"/>
              </a:ext>
            </a:extLst>
          </p:cNvPr>
          <p:cNvSpPr>
            <a:spLocks noGrp="1"/>
          </p:cNvSpPr>
          <p:nvPr>
            <p:ph type="dt" sz="half" idx="10"/>
          </p:nvPr>
        </p:nvSpPr>
        <p:spPr/>
        <p:txBody>
          <a:bodyPr/>
          <a:lstStyle/>
          <a:p>
            <a:fld id="{93A94A1E-D451-40F7-A36E-882C169B8DAF}" type="datetimeFigureOut">
              <a:rPr lang="he-IL" smtClean="0"/>
              <a:t>ב'/ניסן/תשפ"ה</a:t>
            </a:fld>
            <a:endParaRPr lang="he-IL"/>
          </a:p>
        </p:txBody>
      </p:sp>
      <p:sp>
        <p:nvSpPr>
          <p:cNvPr id="5" name="מציין מיקום של כותרת תחתונה 4">
            <a:extLst>
              <a:ext uri="{FF2B5EF4-FFF2-40B4-BE49-F238E27FC236}">
                <a16:creationId xmlns:a16="http://schemas.microsoft.com/office/drawing/2014/main" id="{E26A649A-A594-E6CF-6EDB-BCA798DCD988}"/>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FD75AC6C-B785-2572-E4A3-71334BC01683}"/>
              </a:ext>
            </a:extLst>
          </p:cNvPr>
          <p:cNvSpPr>
            <a:spLocks noGrp="1"/>
          </p:cNvSpPr>
          <p:nvPr>
            <p:ph type="sldNum" sz="quarter" idx="12"/>
          </p:nvPr>
        </p:nvSpPr>
        <p:spPr/>
        <p:txBody>
          <a:bodyPr/>
          <a:lstStyle/>
          <a:p>
            <a:fld id="{D9471D36-8DC5-449C-AE2E-3283AD525100}" type="slidenum">
              <a:rPr lang="he-IL" smtClean="0"/>
              <a:t>‹#›</a:t>
            </a:fld>
            <a:endParaRPr lang="he-IL"/>
          </a:p>
        </p:txBody>
      </p:sp>
    </p:spTree>
    <p:extLst>
      <p:ext uri="{BB962C8B-B14F-4D97-AF65-F5344CB8AC3E}">
        <p14:creationId xmlns:p14="http://schemas.microsoft.com/office/powerpoint/2010/main" val="3042898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7B99D11B-6986-6C92-A817-F57FF339B6E5}"/>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25656024-3B08-9322-99A9-E44A7720BBD4}"/>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4C59C4FB-DAC4-D533-6126-E468FCFD5FD5}"/>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93A94A1E-D451-40F7-A36E-882C169B8DAF}" type="datetimeFigureOut">
              <a:rPr lang="he-IL" smtClean="0"/>
              <a:t>ב'/ניסן/תשפ"ה</a:t>
            </a:fld>
            <a:endParaRPr lang="he-IL"/>
          </a:p>
        </p:txBody>
      </p:sp>
      <p:sp>
        <p:nvSpPr>
          <p:cNvPr id="5" name="מציין מיקום של כותרת תחתונה 4">
            <a:extLst>
              <a:ext uri="{FF2B5EF4-FFF2-40B4-BE49-F238E27FC236}">
                <a16:creationId xmlns:a16="http://schemas.microsoft.com/office/drawing/2014/main" id="{C3ADDA13-75C0-4B54-7533-FF3EF73869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21B43FA2-0D37-8951-7432-58E557A6F21E}"/>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D9471D36-8DC5-449C-AE2E-3283AD525100}" type="slidenum">
              <a:rPr lang="he-IL" smtClean="0"/>
              <a:t>‹#›</a:t>
            </a:fld>
            <a:endParaRPr lang="he-IL"/>
          </a:p>
        </p:txBody>
      </p:sp>
    </p:spTree>
    <p:extLst>
      <p:ext uri="{BB962C8B-B14F-4D97-AF65-F5344CB8AC3E}">
        <p14:creationId xmlns:p14="http://schemas.microsoft.com/office/powerpoint/2010/main" val="31040789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קראון פלזה חיפה (37)">
            <a:extLst>
              <a:ext uri="{FF2B5EF4-FFF2-40B4-BE49-F238E27FC236}">
                <a16:creationId xmlns:a16="http://schemas.microsoft.com/office/drawing/2014/main" id="{08025077-A8B6-73F7-B25B-48462236F20B}"/>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595221" y="99900"/>
            <a:ext cx="7001558" cy="3938377"/>
          </a:xfrm>
          <a:prstGeom prst="rect">
            <a:avLst/>
          </a:prstGeom>
          <a:noFill/>
          <a:extLst>
            <a:ext uri="{909E8E84-426E-40DD-AFC4-6F175D3DCCD1}">
              <a14:hiddenFill xmlns:a14="http://schemas.microsoft.com/office/drawing/2010/main">
                <a:solidFill>
                  <a:srgbClr val="FFFFFF"/>
                </a:solidFill>
              </a14:hiddenFill>
            </a:ext>
          </a:extLst>
        </p:spPr>
      </p:pic>
      <p:sp>
        <p:nvSpPr>
          <p:cNvPr id="8" name="תיבת טקסט 7">
            <a:extLst>
              <a:ext uri="{FF2B5EF4-FFF2-40B4-BE49-F238E27FC236}">
                <a16:creationId xmlns:a16="http://schemas.microsoft.com/office/drawing/2014/main" id="{1C725F08-FBA9-B0AB-1B75-25DFD3EC1E0A}"/>
              </a:ext>
            </a:extLst>
          </p:cNvPr>
          <p:cNvSpPr txBox="1"/>
          <p:nvPr/>
        </p:nvSpPr>
        <p:spPr>
          <a:xfrm>
            <a:off x="181897" y="3995678"/>
            <a:ext cx="11828206" cy="2862322"/>
          </a:xfrm>
          <a:prstGeom prst="rect">
            <a:avLst/>
          </a:prstGeom>
          <a:noFill/>
        </p:spPr>
        <p:txBody>
          <a:bodyPr wrap="square">
            <a:spAutoFit/>
          </a:bodyPr>
          <a:lstStyle/>
          <a:p>
            <a:pPr algn="ctr" rtl="1">
              <a:buNone/>
            </a:pPr>
            <a:r>
              <a:rPr lang="he-IL" sz="6000" b="1" dirty="0">
                <a:ln w="19050">
                  <a:solidFill>
                    <a:schemeClr val="tx1"/>
                  </a:solidFill>
                  <a:prstDash val="solid"/>
                </a:ln>
                <a:solidFill>
                  <a:schemeClr val="accent5"/>
                </a:solidFill>
                <a:effectLst>
                  <a:glow rad="101600">
                    <a:schemeClr val="accent3">
                      <a:satMod val="175000"/>
                      <a:alpha val="40000"/>
                    </a:schemeClr>
                  </a:glow>
                  <a:outerShdw blurRad="12700" dist="38100" dir="2700000" algn="tl" rotWithShape="0">
                    <a:schemeClr val="accent5">
                      <a:lumMod val="60000"/>
                      <a:lumOff val="40000"/>
                    </a:schemeClr>
                  </a:outerShdw>
                </a:effectLst>
                <a:latin typeface="David" panose="020E0502060401010101" pitchFamily="34" charset="-79"/>
                <a:cs typeface="David" panose="020E0502060401010101" pitchFamily="34" charset="-79"/>
              </a:rPr>
              <a:t>סקירת פעילות ועד הבית </a:t>
            </a:r>
          </a:p>
          <a:p>
            <a:pPr algn="ctr" rtl="1">
              <a:buNone/>
            </a:pPr>
            <a:r>
              <a:rPr lang="he-IL" sz="6000" b="1" dirty="0">
                <a:ln w="19050">
                  <a:solidFill>
                    <a:schemeClr val="tx1"/>
                  </a:solidFill>
                  <a:prstDash val="solid"/>
                </a:ln>
                <a:solidFill>
                  <a:schemeClr val="accent5"/>
                </a:solidFill>
                <a:effectLst>
                  <a:glow rad="101600">
                    <a:schemeClr val="accent3">
                      <a:satMod val="175000"/>
                      <a:alpha val="40000"/>
                    </a:schemeClr>
                  </a:glow>
                  <a:outerShdw blurRad="12700" dist="38100" dir="2700000" algn="tl" rotWithShape="0">
                    <a:schemeClr val="accent5">
                      <a:lumMod val="60000"/>
                      <a:lumOff val="40000"/>
                    </a:schemeClr>
                  </a:outerShdw>
                </a:effectLst>
                <a:latin typeface="David" panose="020E0502060401010101" pitchFamily="34" charset="-79"/>
                <a:cs typeface="David" panose="020E0502060401010101" pitchFamily="34" charset="-79"/>
              </a:rPr>
              <a:t>רח' יפה נוף 111-111 א׳ חיפה</a:t>
            </a:r>
          </a:p>
          <a:p>
            <a:pPr algn="ctr" rtl="1">
              <a:buNone/>
            </a:pPr>
            <a:r>
              <a:rPr lang="he-IL" sz="6000" b="1" dirty="0">
                <a:ln w="19050">
                  <a:solidFill>
                    <a:schemeClr val="tx1"/>
                  </a:solidFill>
                  <a:prstDash val="solid"/>
                </a:ln>
                <a:solidFill>
                  <a:schemeClr val="accent5"/>
                </a:solidFill>
                <a:effectLst>
                  <a:glow rad="101600">
                    <a:schemeClr val="accent3">
                      <a:satMod val="175000"/>
                      <a:alpha val="40000"/>
                    </a:schemeClr>
                  </a:glow>
                  <a:outerShdw blurRad="12700" dist="38100" dir="2700000" algn="tl" rotWithShape="0">
                    <a:schemeClr val="accent5">
                      <a:lumMod val="60000"/>
                      <a:lumOff val="40000"/>
                    </a:schemeClr>
                  </a:outerShdw>
                </a:effectLst>
                <a:latin typeface="David" panose="020E0502060401010101" pitchFamily="34" charset="-79"/>
                <a:cs typeface="David" panose="020E0502060401010101" pitchFamily="34" charset="-79"/>
              </a:rPr>
              <a:t>בשנים 2022 – 2024 </a:t>
            </a:r>
          </a:p>
        </p:txBody>
      </p:sp>
    </p:spTree>
    <p:extLst>
      <p:ext uri="{BB962C8B-B14F-4D97-AF65-F5344CB8AC3E}">
        <p14:creationId xmlns:p14="http://schemas.microsoft.com/office/powerpoint/2010/main" val="2691027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משנה 2">
            <a:extLst>
              <a:ext uri="{FF2B5EF4-FFF2-40B4-BE49-F238E27FC236}">
                <a16:creationId xmlns:a16="http://schemas.microsoft.com/office/drawing/2014/main" id="{657E93AD-B905-DE6B-96F5-A22DD159FA05}"/>
              </a:ext>
            </a:extLst>
          </p:cNvPr>
          <p:cNvSpPr>
            <a:spLocks noGrp="1"/>
          </p:cNvSpPr>
          <p:nvPr>
            <p:ph type="subTitle" idx="1"/>
          </p:nvPr>
        </p:nvSpPr>
        <p:spPr>
          <a:xfrm>
            <a:off x="-48568" y="2297156"/>
            <a:ext cx="12016155" cy="3703329"/>
          </a:xfrm>
        </p:spPr>
        <p:txBody>
          <a:bodyPr>
            <a:noAutofit/>
          </a:bodyPr>
          <a:lstStyle/>
          <a:p>
            <a:pPr marL="893763" indent="-712788" algn="just" rtl="1">
              <a:buAutoNum type="arabicPeriod"/>
            </a:pPr>
            <a:r>
              <a:rPr lang="he-IL" sz="4000" b="1" i="0" dirty="0">
                <a:solidFill>
                  <a:srgbClr val="222222"/>
                </a:solidFill>
                <a:effectLst/>
                <a:latin typeface="David" panose="020E0502060401010101" pitchFamily="34" charset="-79"/>
                <a:cs typeface="David" panose="020E0502060401010101" pitchFamily="34" charset="-79"/>
              </a:rPr>
              <a:t>בניית שוקת לאיסוף מי הגשם למניעת היקוות  מים בחניון </a:t>
            </a:r>
          </a:p>
          <a:p>
            <a:pPr marL="893763" indent="-712788" algn="just" rtl="1">
              <a:buAutoNum type="arabicPeriod"/>
            </a:pPr>
            <a:r>
              <a:rPr lang="he-IL" sz="4000" b="1" i="0" dirty="0">
                <a:solidFill>
                  <a:srgbClr val="222222"/>
                </a:solidFill>
                <a:effectLst/>
                <a:latin typeface="David" panose="020E0502060401010101" pitchFamily="34" charset="-79"/>
                <a:cs typeface="David" panose="020E0502060401010101" pitchFamily="34" charset="-79"/>
              </a:rPr>
              <a:t>החלפת תאורה בכל החניון</a:t>
            </a:r>
          </a:p>
          <a:p>
            <a:pPr marL="893763" indent="-712788" algn="just" rtl="1">
              <a:buAutoNum type="arabicPeriod"/>
            </a:pPr>
            <a:r>
              <a:rPr lang="he-IL" sz="4000" b="1" i="0" dirty="0">
                <a:solidFill>
                  <a:srgbClr val="222222"/>
                </a:solidFill>
                <a:effectLst/>
                <a:latin typeface="David" panose="020E0502060401010101" pitchFamily="34" charset="-79"/>
                <a:cs typeface="David" panose="020E0502060401010101" pitchFamily="34" charset="-79"/>
              </a:rPr>
              <a:t>צביעת כל הסימונים בחניון </a:t>
            </a:r>
          </a:p>
          <a:p>
            <a:pPr marL="893763" indent="-712788" algn="just" rtl="1">
              <a:buAutoNum type="arabicPeriod"/>
            </a:pPr>
            <a:r>
              <a:rPr lang="he-IL" sz="4000" b="1" i="0" dirty="0">
                <a:solidFill>
                  <a:srgbClr val="222222"/>
                </a:solidFill>
                <a:effectLst/>
                <a:latin typeface="David" panose="020E0502060401010101" pitchFamily="34" charset="-79"/>
                <a:cs typeface="David" panose="020E0502060401010101" pitchFamily="34" charset="-79"/>
              </a:rPr>
              <a:t>פינוי החניון מחפצים </a:t>
            </a:r>
          </a:p>
        </p:txBody>
      </p:sp>
      <p:sp>
        <p:nvSpPr>
          <p:cNvPr id="4" name="מלבן 3">
            <a:extLst>
              <a:ext uri="{FF2B5EF4-FFF2-40B4-BE49-F238E27FC236}">
                <a16:creationId xmlns:a16="http://schemas.microsoft.com/office/drawing/2014/main" id="{D1C691A2-E008-7A1F-FBC5-B9A68D244641}"/>
              </a:ext>
            </a:extLst>
          </p:cNvPr>
          <p:cNvSpPr/>
          <p:nvPr/>
        </p:nvSpPr>
        <p:spPr>
          <a:xfrm>
            <a:off x="2439560" y="487776"/>
            <a:ext cx="7039897" cy="1477328"/>
          </a:xfrm>
          <a:prstGeom prst="rect">
            <a:avLst/>
          </a:prstGeom>
          <a:noFill/>
        </p:spPr>
        <p:txBody>
          <a:bodyPr wrap="square" lIns="91440" tIns="45720" rIns="91440" bIns="45720">
            <a:spAutoFit/>
          </a:bodyPr>
          <a:lstStyle/>
          <a:p>
            <a:pPr algn="ctr"/>
            <a:r>
              <a:rPr lang="he-IL" sz="9000" b="1" i="0"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David" panose="020E0502060401010101" pitchFamily="34" charset="-79"/>
                <a:cs typeface="David" panose="020E0502060401010101" pitchFamily="34" charset="-79"/>
              </a:rPr>
              <a:t>שדרוג החניון </a:t>
            </a:r>
            <a:endParaRPr lang="he-IL" sz="90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300514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תמונה 22">
            <a:extLst>
              <a:ext uri="{FF2B5EF4-FFF2-40B4-BE49-F238E27FC236}">
                <a16:creationId xmlns:a16="http://schemas.microsoft.com/office/drawing/2014/main" id="{EF9B0553-B33B-23F1-50C7-24E00B812E8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72639" y="64518"/>
            <a:ext cx="5040000" cy="6720000"/>
          </a:xfrm>
          <a:prstGeom prst="rect">
            <a:avLst/>
          </a:prstGeom>
        </p:spPr>
      </p:pic>
    </p:spTree>
    <p:extLst>
      <p:ext uri="{BB962C8B-B14F-4D97-AF65-F5344CB8AC3E}">
        <p14:creationId xmlns:p14="http://schemas.microsoft.com/office/powerpoint/2010/main" val="1121670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41EF-445A-578B-D523-052A44FBE947}"/>
            </a:ext>
          </a:extLst>
        </p:cNvPr>
        <p:cNvGrpSpPr/>
        <p:nvPr/>
      </p:nvGrpSpPr>
      <p:grpSpPr>
        <a:xfrm>
          <a:off x="0" y="0"/>
          <a:ext cx="0" cy="0"/>
          <a:chOff x="0" y="0"/>
          <a:chExt cx="0" cy="0"/>
        </a:xfrm>
      </p:grpSpPr>
      <p:pic>
        <p:nvPicPr>
          <p:cNvPr id="15" name="תמונה 14">
            <a:extLst>
              <a:ext uri="{FF2B5EF4-FFF2-40B4-BE49-F238E27FC236}">
                <a16:creationId xmlns:a16="http://schemas.microsoft.com/office/drawing/2014/main" id="{F0FF656A-1B93-8E61-2FA6-9D44C287094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76000" y="138000"/>
            <a:ext cx="5040000" cy="6720000"/>
          </a:xfrm>
          <a:prstGeom prst="rect">
            <a:avLst/>
          </a:prstGeom>
        </p:spPr>
      </p:pic>
    </p:spTree>
    <p:extLst>
      <p:ext uri="{BB962C8B-B14F-4D97-AF65-F5344CB8AC3E}">
        <p14:creationId xmlns:p14="http://schemas.microsoft.com/office/powerpoint/2010/main" val="1628996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5125A-073D-9EBD-7D08-B6D1FDDBDC27}"/>
            </a:ext>
          </a:extLst>
        </p:cNvPr>
        <p:cNvGrpSpPr/>
        <p:nvPr/>
      </p:nvGrpSpPr>
      <p:grpSpPr>
        <a:xfrm>
          <a:off x="0" y="0"/>
          <a:ext cx="0" cy="0"/>
          <a:chOff x="0" y="0"/>
          <a:chExt cx="0" cy="0"/>
        </a:xfrm>
      </p:grpSpPr>
      <p:pic>
        <p:nvPicPr>
          <p:cNvPr id="21" name="תמונה 20">
            <a:extLst>
              <a:ext uri="{FF2B5EF4-FFF2-40B4-BE49-F238E27FC236}">
                <a16:creationId xmlns:a16="http://schemas.microsoft.com/office/drawing/2014/main" id="{C82BDE23-5EB6-C694-EBF8-C33D9025A46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76000" y="69000"/>
            <a:ext cx="5040000" cy="6720000"/>
          </a:xfrm>
          <a:prstGeom prst="rect">
            <a:avLst/>
          </a:prstGeom>
        </p:spPr>
      </p:pic>
    </p:spTree>
    <p:extLst>
      <p:ext uri="{BB962C8B-B14F-4D97-AF65-F5344CB8AC3E}">
        <p14:creationId xmlns:p14="http://schemas.microsoft.com/office/powerpoint/2010/main" val="32344482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989F7-5A91-5026-0753-106F2314732D}"/>
            </a:ext>
          </a:extLst>
        </p:cNvPr>
        <p:cNvGrpSpPr/>
        <p:nvPr/>
      </p:nvGrpSpPr>
      <p:grpSpPr>
        <a:xfrm>
          <a:off x="0" y="0"/>
          <a:ext cx="0" cy="0"/>
          <a:chOff x="0" y="0"/>
          <a:chExt cx="0" cy="0"/>
        </a:xfrm>
      </p:grpSpPr>
      <p:pic>
        <p:nvPicPr>
          <p:cNvPr id="19" name="תמונה 18">
            <a:extLst>
              <a:ext uri="{FF2B5EF4-FFF2-40B4-BE49-F238E27FC236}">
                <a16:creationId xmlns:a16="http://schemas.microsoft.com/office/drawing/2014/main" id="{1409FBC4-D132-4030-D808-BBA56633D43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76000" y="69000"/>
            <a:ext cx="5040000" cy="6720000"/>
          </a:xfrm>
          <a:prstGeom prst="rect">
            <a:avLst/>
          </a:prstGeom>
        </p:spPr>
      </p:pic>
    </p:spTree>
    <p:extLst>
      <p:ext uri="{BB962C8B-B14F-4D97-AF65-F5344CB8AC3E}">
        <p14:creationId xmlns:p14="http://schemas.microsoft.com/office/powerpoint/2010/main" val="3474242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160D8-3D12-1330-B420-039F33FB160E}"/>
            </a:ext>
          </a:extLst>
        </p:cNvPr>
        <p:cNvGrpSpPr/>
        <p:nvPr/>
      </p:nvGrpSpPr>
      <p:grpSpPr>
        <a:xfrm>
          <a:off x="0" y="0"/>
          <a:ext cx="0" cy="0"/>
          <a:chOff x="0" y="0"/>
          <a:chExt cx="0" cy="0"/>
        </a:xfrm>
      </p:grpSpPr>
      <p:pic>
        <p:nvPicPr>
          <p:cNvPr id="17" name="תמונה 16">
            <a:extLst>
              <a:ext uri="{FF2B5EF4-FFF2-40B4-BE49-F238E27FC236}">
                <a16:creationId xmlns:a16="http://schemas.microsoft.com/office/drawing/2014/main" id="{E2089640-D200-4656-CD9C-D7C8DCC1DB3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76000" y="69000"/>
            <a:ext cx="5040000" cy="6720000"/>
          </a:xfrm>
          <a:prstGeom prst="rect">
            <a:avLst/>
          </a:prstGeom>
        </p:spPr>
      </p:pic>
    </p:spTree>
    <p:extLst>
      <p:ext uri="{BB962C8B-B14F-4D97-AF65-F5344CB8AC3E}">
        <p14:creationId xmlns:p14="http://schemas.microsoft.com/office/powerpoint/2010/main" val="1506733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כותרת 3">
            <a:extLst>
              <a:ext uri="{FF2B5EF4-FFF2-40B4-BE49-F238E27FC236}">
                <a16:creationId xmlns:a16="http://schemas.microsoft.com/office/drawing/2014/main" id="{67D07283-BE4E-99AB-63DD-1A3052B8A2AA}"/>
              </a:ext>
            </a:extLst>
          </p:cNvPr>
          <p:cNvSpPr>
            <a:spLocks noGrp="1"/>
          </p:cNvSpPr>
          <p:nvPr>
            <p:ph type="title"/>
          </p:nvPr>
        </p:nvSpPr>
        <p:spPr>
          <a:xfrm>
            <a:off x="6096000" y="1158057"/>
            <a:ext cx="5732206" cy="4541884"/>
          </a:xfrm>
          <a:prstGeom prst="rect">
            <a:avLst/>
          </a:prstGeom>
          <a:noFill/>
        </p:spPr>
        <p:txBody>
          <a:bodyPr wrap="square" lIns="91440" tIns="45720" rIns="91440" bIns="45720">
            <a:spAutoFit/>
          </a:bodyPr>
          <a:lstStyle/>
          <a:p>
            <a:pPr algn="ctr" rtl="1">
              <a:buNone/>
            </a:pPr>
            <a:r>
              <a:rPr lang="he-IL" sz="80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David" panose="020E0502060401010101" pitchFamily="34" charset="-79"/>
                <a:cs typeface="David" panose="020E0502060401010101" pitchFamily="34" charset="-79"/>
              </a:rPr>
              <a:t>החלפת מערכת אינטרקום </a:t>
            </a:r>
            <a:br>
              <a:rPr lang="he-IL" sz="80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David" panose="020E0502060401010101" pitchFamily="34" charset="-79"/>
                <a:cs typeface="David" panose="020E0502060401010101" pitchFamily="34" charset="-79"/>
              </a:rPr>
            </a:br>
            <a:r>
              <a:rPr lang="he-IL" sz="80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David" panose="020E0502060401010101" pitchFamily="34" charset="-79"/>
                <a:cs typeface="David" panose="020E0502060401010101" pitchFamily="34" charset="-79"/>
              </a:rPr>
              <a:t>בכל הכניסות ובכל הדירות </a:t>
            </a:r>
            <a:endParaRPr lang="he-IL" sz="80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pic>
        <p:nvPicPr>
          <p:cNvPr id="7" name="תמונה 6">
            <a:extLst>
              <a:ext uri="{FF2B5EF4-FFF2-40B4-BE49-F238E27FC236}">
                <a16:creationId xmlns:a16="http://schemas.microsoft.com/office/drawing/2014/main" id="{459413C9-A6F6-4575-2F91-8F7D2DC36E7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24232" y="302341"/>
            <a:ext cx="4689988" cy="6253317"/>
          </a:xfrm>
          <a:prstGeom prst="rect">
            <a:avLst/>
          </a:prstGeom>
        </p:spPr>
      </p:pic>
    </p:spTree>
    <p:extLst>
      <p:ext uri="{BB962C8B-B14F-4D97-AF65-F5344CB8AC3E}">
        <p14:creationId xmlns:p14="http://schemas.microsoft.com/office/powerpoint/2010/main" val="1762627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A5C17-CA3D-2E08-D580-C2AC3FC5C1A8}"/>
            </a:ext>
          </a:extLst>
        </p:cNvPr>
        <p:cNvGrpSpPr/>
        <p:nvPr/>
      </p:nvGrpSpPr>
      <p:grpSpPr>
        <a:xfrm>
          <a:off x="0" y="0"/>
          <a:ext cx="0" cy="0"/>
          <a:chOff x="0" y="0"/>
          <a:chExt cx="0" cy="0"/>
        </a:xfrm>
      </p:grpSpPr>
      <p:sp>
        <p:nvSpPr>
          <p:cNvPr id="4" name="כותרת 3">
            <a:extLst>
              <a:ext uri="{FF2B5EF4-FFF2-40B4-BE49-F238E27FC236}">
                <a16:creationId xmlns:a16="http://schemas.microsoft.com/office/drawing/2014/main" id="{1EB4F9DB-4EA9-B613-45CC-4FDEF24A7E6C}"/>
              </a:ext>
            </a:extLst>
          </p:cNvPr>
          <p:cNvSpPr>
            <a:spLocks noGrp="1"/>
          </p:cNvSpPr>
          <p:nvPr>
            <p:ph type="title"/>
          </p:nvPr>
        </p:nvSpPr>
        <p:spPr>
          <a:xfrm>
            <a:off x="6096000" y="2266051"/>
            <a:ext cx="5665063" cy="2325893"/>
          </a:xfrm>
          <a:prstGeom prst="rect">
            <a:avLst/>
          </a:prstGeom>
          <a:noFill/>
        </p:spPr>
        <p:txBody>
          <a:bodyPr wrap="square" lIns="91440" tIns="45720" rIns="91440" bIns="45720">
            <a:spAutoFit/>
          </a:bodyPr>
          <a:lstStyle/>
          <a:p>
            <a:pPr algn="ctr" rtl="1">
              <a:buNone/>
            </a:pPr>
            <a:r>
              <a:rPr lang="he-IL" sz="80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David" panose="020E0502060401010101" pitchFamily="34" charset="-79"/>
                <a:cs typeface="David" panose="020E0502060401010101" pitchFamily="34" charset="-79"/>
              </a:rPr>
              <a:t>החלפת דלת כניסה במגדל</a:t>
            </a:r>
            <a:endParaRPr lang="he-IL" sz="80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pic>
        <p:nvPicPr>
          <p:cNvPr id="3" name="תמונה 2">
            <a:extLst>
              <a:ext uri="{FF2B5EF4-FFF2-40B4-BE49-F238E27FC236}">
                <a16:creationId xmlns:a16="http://schemas.microsoft.com/office/drawing/2014/main" id="{CC317A3B-D093-8CA7-B8AD-3EE3E107843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20873" y="333991"/>
            <a:ext cx="4642508" cy="6190011"/>
          </a:xfrm>
          <a:prstGeom prst="rect">
            <a:avLst/>
          </a:prstGeom>
        </p:spPr>
      </p:pic>
    </p:spTree>
    <p:extLst>
      <p:ext uri="{BB962C8B-B14F-4D97-AF65-F5344CB8AC3E}">
        <p14:creationId xmlns:p14="http://schemas.microsoft.com/office/powerpoint/2010/main" val="72092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FEE1D-3897-F046-BD37-8D73A833F1D7}"/>
            </a:ext>
          </a:extLst>
        </p:cNvPr>
        <p:cNvGrpSpPr/>
        <p:nvPr/>
      </p:nvGrpSpPr>
      <p:grpSpPr>
        <a:xfrm>
          <a:off x="0" y="0"/>
          <a:ext cx="0" cy="0"/>
          <a:chOff x="0" y="0"/>
          <a:chExt cx="0" cy="0"/>
        </a:xfrm>
      </p:grpSpPr>
      <p:sp>
        <p:nvSpPr>
          <p:cNvPr id="4" name="כותרת 3">
            <a:extLst>
              <a:ext uri="{FF2B5EF4-FFF2-40B4-BE49-F238E27FC236}">
                <a16:creationId xmlns:a16="http://schemas.microsoft.com/office/drawing/2014/main" id="{54B175AF-19E4-E9D3-B603-E89983974BB8}"/>
              </a:ext>
            </a:extLst>
          </p:cNvPr>
          <p:cNvSpPr>
            <a:spLocks noGrp="1"/>
          </p:cNvSpPr>
          <p:nvPr>
            <p:ph type="title"/>
          </p:nvPr>
        </p:nvSpPr>
        <p:spPr>
          <a:xfrm>
            <a:off x="255637" y="542610"/>
            <a:ext cx="11680723" cy="1217898"/>
          </a:xfrm>
          <a:prstGeom prst="rect">
            <a:avLst/>
          </a:prstGeom>
          <a:noFill/>
        </p:spPr>
        <p:txBody>
          <a:bodyPr wrap="square" lIns="91440" tIns="45720" rIns="91440" bIns="45720">
            <a:spAutoFit/>
          </a:bodyPr>
          <a:lstStyle/>
          <a:p>
            <a:pPr algn="ctr" rtl="1">
              <a:buNone/>
            </a:pPr>
            <a:r>
              <a:rPr lang="he-IL" sz="80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David" panose="020E0502060401010101" pitchFamily="34" charset="-79"/>
                <a:cs typeface="David" panose="020E0502060401010101" pitchFamily="34" charset="-79"/>
              </a:rPr>
              <a:t>עבודות שיפוצים ותחזוקה</a:t>
            </a:r>
            <a:endParaRPr lang="he-IL" sz="80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5" name="תיבת טקסט 4">
            <a:extLst>
              <a:ext uri="{FF2B5EF4-FFF2-40B4-BE49-F238E27FC236}">
                <a16:creationId xmlns:a16="http://schemas.microsoft.com/office/drawing/2014/main" id="{7FA959F6-B184-E8FD-4EF1-E4F8DBAAB876}"/>
              </a:ext>
            </a:extLst>
          </p:cNvPr>
          <p:cNvSpPr txBox="1"/>
          <p:nvPr/>
        </p:nvSpPr>
        <p:spPr>
          <a:xfrm>
            <a:off x="-3" y="2069798"/>
            <a:ext cx="11936363" cy="3529941"/>
          </a:xfrm>
          <a:prstGeom prst="rect">
            <a:avLst/>
          </a:prstGeom>
          <a:noFill/>
        </p:spPr>
        <p:txBody>
          <a:bodyPr wrap="square">
            <a:spAutoFit/>
          </a:bodyPr>
          <a:lstStyle/>
          <a:p>
            <a:pPr marL="893763" indent="-712788" algn="just">
              <a:lnSpc>
                <a:spcPct val="90000"/>
              </a:lnSpc>
              <a:spcBef>
                <a:spcPts val="1000"/>
              </a:spcBef>
              <a:buFont typeface="Arial" panose="020B0604020202020204" pitchFamily="34" charset="0"/>
              <a:buAutoNum type="arabicPeriod"/>
            </a:pPr>
            <a:r>
              <a:rPr lang="he-IL" sz="4200" b="1" dirty="0">
                <a:solidFill>
                  <a:srgbClr val="222222"/>
                </a:solidFill>
                <a:latin typeface="David" panose="020E0502060401010101" pitchFamily="34" charset="-79"/>
                <a:cs typeface="David" panose="020E0502060401010101" pitchFamily="34" charset="-79"/>
              </a:rPr>
              <a:t>שיפוץ כולל של </a:t>
            </a:r>
            <a:r>
              <a:rPr lang="he-IL" sz="4200" b="1" dirty="0" err="1">
                <a:solidFill>
                  <a:srgbClr val="222222"/>
                </a:solidFill>
                <a:latin typeface="David" panose="020E0502060401010101" pitchFamily="34" charset="-79"/>
                <a:cs typeface="David" panose="020E0502060401010101" pitchFamily="34" charset="-79"/>
              </a:rPr>
              <a:t>הלוביים</a:t>
            </a:r>
            <a:r>
              <a:rPr lang="he-IL" sz="4200" b="1" dirty="0">
                <a:solidFill>
                  <a:srgbClr val="222222"/>
                </a:solidFill>
                <a:latin typeface="David" panose="020E0502060401010101" pitchFamily="34" charset="-79"/>
                <a:cs typeface="David" panose="020E0502060401010101" pitchFamily="34" charset="-79"/>
              </a:rPr>
              <a:t> במגדל ומדורגים לרבות תקרות</a:t>
            </a:r>
          </a:p>
          <a:p>
            <a:pPr marL="893763" indent="-712788" algn="just">
              <a:lnSpc>
                <a:spcPct val="90000"/>
              </a:lnSpc>
              <a:spcBef>
                <a:spcPts val="1000"/>
              </a:spcBef>
              <a:buFont typeface="Arial" panose="020B0604020202020204" pitchFamily="34" charset="0"/>
              <a:buAutoNum type="arabicPeriod"/>
            </a:pPr>
            <a:r>
              <a:rPr lang="he-IL" sz="4200" b="1" dirty="0">
                <a:solidFill>
                  <a:srgbClr val="222222"/>
                </a:solidFill>
                <a:latin typeface="David" panose="020E0502060401010101" pitchFamily="34" charset="-79"/>
                <a:cs typeface="David" panose="020E0502060401010101" pitchFamily="34" charset="-79"/>
              </a:rPr>
              <a:t>החלפת מכסי </a:t>
            </a:r>
            <a:r>
              <a:rPr lang="he-IL" sz="4200" b="1" dirty="0" err="1">
                <a:solidFill>
                  <a:srgbClr val="222222"/>
                </a:solidFill>
                <a:latin typeface="David" panose="020E0502060401010101" pitchFamily="34" charset="-79"/>
                <a:cs typeface="David" panose="020E0502060401010101" pitchFamily="34" charset="-79"/>
              </a:rPr>
              <a:t>איוורור</a:t>
            </a:r>
            <a:r>
              <a:rPr lang="he-IL" sz="4200" b="1" dirty="0">
                <a:solidFill>
                  <a:srgbClr val="222222"/>
                </a:solidFill>
                <a:latin typeface="David" panose="020E0502060401010101" pitchFamily="34" charset="-79"/>
                <a:cs typeface="David" panose="020E0502060401010101" pitchFamily="34" charset="-79"/>
              </a:rPr>
              <a:t> ונקודות חשמל</a:t>
            </a:r>
          </a:p>
          <a:p>
            <a:pPr marL="893763" indent="-712788" algn="just">
              <a:lnSpc>
                <a:spcPct val="90000"/>
              </a:lnSpc>
              <a:spcBef>
                <a:spcPts val="1000"/>
              </a:spcBef>
              <a:buFont typeface="Arial" panose="020B0604020202020204" pitchFamily="34" charset="0"/>
              <a:buAutoNum type="arabicPeriod"/>
            </a:pPr>
            <a:r>
              <a:rPr lang="he-IL" sz="4200" b="1" dirty="0">
                <a:solidFill>
                  <a:srgbClr val="222222"/>
                </a:solidFill>
                <a:latin typeface="David" panose="020E0502060401010101" pitchFamily="34" charset="-79"/>
                <a:cs typeface="David" panose="020E0502060401010101" pitchFamily="34" charset="-79"/>
              </a:rPr>
              <a:t>החלפת ריהוט - ספה, שולחנות, כיסאות  </a:t>
            </a:r>
          </a:p>
          <a:p>
            <a:pPr marL="893763" indent="-712788" algn="just">
              <a:lnSpc>
                <a:spcPct val="90000"/>
              </a:lnSpc>
              <a:spcBef>
                <a:spcPts val="1000"/>
              </a:spcBef>
              <a:buFont typeface="Arial" panose="020B0604020202020204" pitchFamily="34" charset="0"/>
              <a:buAutoNum type="arabicPeriod"/>
            </a:pPr>
            <a:r>
              <a:rPr lang="he-IL" sz="4200" b="1" dirty="0">
                <a:solidFill>
                  <a:srgbClr val="222222"/>
                </a:solidFill>
                <a:latin typeface="David" panose="020E0502060401010101" pitchFamily="34" charset="-79"/>
                <a:cs typeface="David" panose="020E0502060401010101" pitchFamily="34" charset="-79"/>
              </a:rPr>
              <a:t>מסגור תמונות </a:t>
            </a:r>
          </a:p>
          <a:p>
            <a:pPr marL="893763" indent="-712788" algn="just">
              <a:lnSpc>
                <a:spcPct val="90000"/>
              </a:lnSpc>
              <a:spcBef>
                <a:spcPts val="1000"/>
              </a:spcBef>
              <a:buFont typeface="Arial" panose="020B0604020202020204" pitchFamily="34" charset="0"/>
              <a:buAutoNum type="arabicPeriod"/>
            </a:pPr>
            <a:r>
              <a:rPr lang="he-IL" sz="4200" b="1" dirty="0">
                <a:solidFill>
                  <a:srgbClr val="222222"/>
                </a:solidFill>
                <a:latin typeface="David" panose="020E0502060401010101" pitchFamily="34" charset="-79"/>
                <a:cs typeface="David" panose="020E0502060401010101" pitchFamily="34" charset="-79"/>
              </a:rPr>
              <a:t>התקנת שלטים בכניסות</a:t>
            </a:r>
          </a:p>
        </p:txBody>
      </p:sp>
    </p:spTree>
    <p:extLst>
      <p:ext uri="{BB962C8B-B14F-4D97-AF65-F5344CB8AC3E}">
        <p14:creationId xmlns:p14="http://schemas.microsoft.com/office/powerpoint/2010/main" val="976609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D072F-8FDA-3FC8-BF69-0A12F615AC25}"/>
            </a:ext>
          </a:extLst>
        </p:cNvPr>
        <p:cNvGrpSpPr/>
        <p:nvPr/>
      </p:nvGrpSpPr>
      <p:grpSpPr>
        <a:xfrm>
          <a:off x="0" y="0"/>
          <a:ext cx="0" cy="0"/>
          <a:chOff x="0" y="0"/>
          <a:chExt cx="0" cy="0"/>
        </a:xfrm>
      </p:grpSpPr>
      <p:pic>
        <p:nvPicPr>
          <p:cNvPr id="16" name="תמונה 15">
            <a:extLst>
              <a:ext uri="{FF2B5EF4-FFF2-40B4-BE49-F238E27FC236}">
                <a16:creationId xmlns:a16="http://schemas.microsoft.com/office/drawing/2014/main" id="{7E903985-3FE8-4B91-1C31-4311A7EBAAF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76000" y="69000"/>
            <a:ext cx="5040000" cy="6720000"/>
          </a:xfrm>
          <a:prstGeom prst="rect">
            <a:avLst/>
          </a:prstGeom>
        </p:spPr>
      </p:pic>
    </p:spTree>
    <p:extLst>
      <p:ext uri="{BB962C8B-B14F-4D97-AF65-F5344CB8AC3E}">
        <p14:creationId xmlns:p14="http://schemas.microsoft.com/office/powerpoint/2010/main" val="1539013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35ADA-BF37-7EEA-76D4-79823DB061FE}"/>
            </a:ext>
          </a:extLst>
        </p:cNvPr>
        <p:cNvGrpSpPr/>
        <p:nvPr/>
      </p:nvGrpSpPr>
      <p:grpSpPr>
        <a:xfrm>
          <a:off x="0" y="0"/>
          <a:ext cx="0" cy="0"/>
          <a:chOff x="0" y="0"/>
          <a:chExt cx="0" cy="0"/>
        </a:xfrm>
      </p:grpSpPr>
      <p:pic>
        <p:nvPicPr>
          <p:cNvPr id="5" name="תמונה 4">
            <a:extLst>
              <a:ext uri="{FF2B5EF4-FFF2-40B4-BE49-F238E27FC236}">
                <a16:creationId xmlns:a16="http://schemas.microsoft.com/office/drawing/2014/main" id="{787A5CB5-A507-7B55-9BEC-B8BA2394A37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76000" y="69000"/>
            <a:ext cx="5040000" cy="6720000"/>
          </a:xfrm>
          <a:prstGeom prst="rect">
            <a:avLst/>
          </a:prstGeom>
        </p:spPr>
      </p:pic>
    </p:spTree>
    <p:extLst>
      <p:ext uri="{BB962C8B-B14F-4D97-AF65-F5344CB8AC3E}">
        <p14:creationId xmlns:p14="http://schemas.microsoft.com/office/powerpoint/2010/main" val="34557181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A0579-2049-2C8B-C3DB-E3C8183FBBA6}"/>
            </a:ext>
          </a:extLst>
        </p:cNvPr>
        <p:cNvGrpSpPr/>
        <p:nvPr/>
      </p:nvGrpSpPr>
      <p:grpSpPr>
        <a:xfrm>
          <a:off x="0" y="0"/>
          <a:ext cx="0" cy="0"/>
          <a:chOff x="0" y="0"/>
          <a:chExt cx="0" cy="0"/>
        </a:xfrm>
      </p:grpSpPr>
      <p:pic>
        <p:nvPicPr>
          <p:cNvPr id="13" name="תמונה 12">
            <a:extLst>
              <a:ext uri="{FF2B5EF4-FFF2-40B4-BE49-F238E27FC236}">
                <a16:creationId xmlns:a16="http://schemas.microsoft.com/office/drawing/2014/main" id="{15436335-0203-80B0-E650-91CEF938E50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76000" y="69000"/>
            <a:ext cx="5040000" cy="6720000"/>
          </a:xfrm>
          <a:prstGeom prst="rect">
            <a:avLst/>
          </a:prstGeom>
        </p:spPr>
      </p:pic>
    </p:spTree>
    <p:extLst>
      <p:ext uri="{BB962C8B-B14F-4D97-AF65-F5344CB8AC3E}">
        <p14:creationId xmlns:p14="http://schemas.microsoft.com/office/powerpoint/2010/main" val="9378034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59262-68CB-8FCC-B99E-7D435CBD93FA}"/>
            </a:ext>
          </a:extLst>
        </p:cNvPr>
        <p:cNvGrpSpPr/>
        <p:nvPr/>
      </p:nvGrpSpPr>
      <p:grpSpPr>
        <a:xfrm>
          <a:off x="0" y="0"/>
          <a:ext cx="0" cy="0"/>
          <a:chOff x="0" y="0"/>
          <a:chExt cx="0" cy="0"/>
        </a:xfrm>
      </p:grpSpPr>
      <p:pic>
        <p:nvPicPr>
          <p:cNvPr id="11" name="תמונה 10">
            <a:extLst>
              <a:ext uri="{FF2B5EF4-FFF2-40B4-BE49-F238E27FC236}">
                <a16:creationId xmlns:a16="http://schemas.microsoft.com/office/drawing/2014/main" id="{D0819C77-3605-3426-F42A-4C62C5BF564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76000" y="69000"/>
            <a:ext cx="5040000" cy="6720000"/>
          </a:xfrm>
          <a:prstGeom prst="rect">
            <a:avLst/>
          </a:prstGeom>
        </p:spPr>
      </p:pic>
    </p:spTree>
    <p:extLst>
      <p:ext uri="{BB962C8B-B14F-4D97-AF65-F5344CB8AC3E}">
        <p14:creationId xmlns:p14="http://schemas.microsoft.com/office/powerpoint/2010/main" val="35007690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A18D1-7D40-43A9-AA46-89CDD441F5C4}"/>
            </a:ext>
          </a:extLst>
        </p:cNvPr>
        <p:cNvGrpSpPr/>
        <p:nvPr/>
      </p:nvGrpSpPr>
      <p:grpSpPr>
        <a:xfrm>
          <a:off x="0" y="0"/>
          <a:ext cx="0" cy="0"/>
          <a:chOff x="0" y="0"/>
          <a:chExt cx="0" cy="0"/>
        </a:xfrm>
      </p:grpSpPr>
      <p:pic>
        <p:nvPicPr>
          <p:cNvPr id="7" name="תמונה 6">
            <a:extLst>
              <a:ext uri="{FF2B5EF4-FFF2-40B4-BE49-F238E27FC236}">
                <a16:creationId xmlns:a16="http://schemas.microsoft.com/office/drawing/2014/main" id="{E5E2FB71-34AC-8BFA-A533-8B509A4D113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76000" y="69000"/>
            <a:ext cx="5040000" cy="6720000"/>
          </a:xfrm>
          <a:prstGeom prst="rect">
            <a:avLst/>
          </a:prstGeom>
        </p:spPr>
      </p:pic>
    </p:spTree>
    <p:extLst>
      <p:ext uri="{BB962C8B-B14F-4D97-AF65-F5344CB8AC3E}">
        <p14:creationId xmlns:p14="http://schemas.microsoft.com/office/powerpoint/2010/main" val="38512004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64EFB-A2BD-59A4-ABF4-266DF8ECA2E6}"/>
            </a:ext>
          </a:extLst>
        </p:cNvPr>
        <p:cNvGrpSpPr/>
        <p:nvPr/>
      </p:nvGrpSpPr>
      <p:grpSpPr>
        <a:xfrm>
          <a:off x="0" y="0"/>
          <a:ext cx="0" cy="0"/>
          <a:chOff x="0" y="0"/>
          <a:chExt cx="0" cy="0"/>
        </a:xfrm>
      </p:grpSpPr>
      <p:pic>
        <p:nvPicPr>
          <p:cNvPr id="9" name="תמונה 8">
            <a:extLst>
              <a:ext uri="{FF2B5EF4-FFF2-40B4-BE49-F238E27FC236}">
                <a16:creationId xmlns:a16="http://schemas.microsoft.com/office/drawing/2014/main" id="{B53DCE54-255A-A7A6-F943-406F6F9FEF7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76000" y="69000"/>
            <a:ext cx="5040000" cy="6720000"/>
          </a:xfrm>
          <a:prstGeom prst="rect">
            <a:avLst/>
          </a:prstGeom>
        </p:spPr>
      </p:pic>
    </p:spTree>
    <p:extLst>
      <p:ext uri="{BB962C8B-B14F-4D97-AF65-F5344CB8AC3E}">
        <p14:creationId xmlns:p14="http://schemas.microsoft.com/office/powerpoint/2010/main" val="31092419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87988-15AE-A8C9-DAA0-7AC363A3305A}"/>
            </a:ext>
          </a:extLst>
        </p:cNvPr>
        <p:cNvGrpSpPr/>
        <p:nvPr/>
      </p:nvGrpSpPr>
      <p:grpSpPr>
        <a:xfrm>
          <a:off x="0" y="0"/>
          <a:ext cx="0" cy="0"/>
          <a:chOff x="0" y="0"/>
          <a:chExt cx="0" cy="0"/>
        </a:xfrm>
      </p:grpSpPr>
      <p:sp>
        <p:nvSpPr>
          <p:cNvPr id="4" name="כותרת 3">
            <a:extLst>
              <a:ext uri="{FF2B5EF4-FFF2-40B4-BE49-F238E27FC236}">
                <a16:creationId xmlns:a16="http://schemas.microsoft.com/office/drawing/2014/main" id="{DE45FAAC-54FC-C939-8801-C4332CDAF2BD}"/>
              </a:ext>
            </a:extLst>
          </p:cNvPr>
          <p:cNvSpPr>
            <a:spLocks noGrp="1"/>
          </p:cNvSpPr>
          <p:nvPr>
            <p:ph type="title"/>
          </p:nvPr>
        </p:nvSpPr>
        <p:spPr>
          <a:xfrm>
            <a:off x="255637" y="464833"/>
            <a:ext cx="11680723" cy="1373453"/>
          </a:xfrm>
          <a:prstGeom prst="rect">
            <a:avLst/>
          </a:prstGeom>
          <a:noFill/>
        </p:spPr>
        <p:txBody>
          <a:bodyPr wrap="square" lIns="91440" tIns="45720" rIns="91440" bIns="45720">
            <a:spAutoFit/>
          </a:bodyPr>
          <a:lstStyle/>
          <a:p>
            <a:pPr algn="ctr">
              <a:buNone/>
            </a:pPr>
            <a:r>
              <a:rPr lang="he-IL" sz="90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David" panose="020E0502060401010101" pitchFamily="34" charset="-79"/>
                <a:ea typeface="+mn-ea"/>
                <a:cs typeface="David" panose="020E0502060401010101" pitchFamily="34" charset="-79"/>
              </a:rPr>
              <a:t>גופי תאורה</a:t>
            </a:r>
          </a:p>
        </p:txBody>
      </p:sp>
      <p:sp>
        <p:nvSpPr>
          <p:cNvPr id="5" name="תיבת טקסט 4">
            <a:extLst>
              <a:ext uri="{FF2B5EF4-FFF2-40B4-BE49-F238E27FC236}">
                <a16:creationId xmlns:a16="http://schemas.microsoft.com/office/drawing/2014/main" id="{43E7347D-297F-3F6F-1422-A066F7512ED4}"/>
              </a:ext>
            </a:extLst>
          </p:cNvPr>
          <p:cNvSpPr txBox="1"/>
          <p:nvPr/>
        </p:nvSpPr>
        <p:spPr>
          <a:xfrm>
            <a:off x="0" y="2219874"/>
            <a:ext cx="11936363" cy="2031325"/>
          </a:xfrm>
          <a:prstGeom prst="rect">
            <a:avLst/>
          </a:prstGeom>
          <a:noFill/>
        </p:spPr>
        <p:txBody>
          <a:bodyPr wrap="square">
            <a:spAutoFit/>
          </a:bodyPr>
          <a:lstStyle/>
          <a:p>
            <a:pPr marL="1200150" indent="-742950" algn="r" rtl="1">
              <a:buAutoNum type="arabicPeriod"/>
            </a:pPr>
            <a:r>
              <a:rPr lang="he-IL" sz="4200" b="1" dirty="0">
                <a:solidFill>
                  <a:srgbClr val="222222"/>
                </a:solidFill>
                <a:latin typeface="David" panose="020E0502060401010101" pitchFamily="34" charset="-79"/>
                <a:cs typeface="David" panose="020E0502060401010101" pitchFamily="34" charset="-79"/>
              </a:rPr>
              <a:t>החלפת כ- 700 גופי תאורה בבניינים </a:t>
            </a:r>
          </a:p>
          <a:p>
            <a:pPr marL="1200150" indent="-742950" algn="r" rtl="1">
              <a:buAutoNum type="arabicPeriod"/>
            </a:pPr>
            <a:r>
              <a:rPr lang="he-IL" sz="4200" b="1" dirty="0">
                <a:solidFill>
                  <a:srgbClr val="222222"/>
                </a:solidFill>
                <a:latin typeface="David" panose="020E0502060401010101" pitchFamily="34" charset="-79"/>
                <a:cs typeface="David" panose="020E0502060401010101" pitchFamily="34" charset="-79"/>
              </a:rPr>
              <a:t>שיפוץ עמודי תאורה של חניון המדורגים </a:t>
            </a:r>
          </a:p>
          <a:p>
            <a:pPr marL="1200150" indent="-742950" algn="r" rtl="1">
              <a:buAutoNum type="arabicPeriod"/>
            </a:pPr>
            <a:r>
              <a:rPr lang="he-IL" sz="4200" b="1" dirty="0">
                <a:solidFill>
                  <a:srgbClr val="222222"/>
                </a:solidFill>
                <a:latin typeface="David" panose="020E0502060401010101" pitchFamily="34" charset="-79"/>
                <a:cs typeface="David" panose="020E0502060401010101" pitchFamily="34" charset="-79"/>
              </a:rPr>
              <a:t>החלפת גופי תאורה ברצפה החיצונית של הבניינים</a:t>
            </a:r>
          </a:p>
        </p:txBody>
      </p:sp>
    </p:spTree>
    <p:extLst>
      <p:ext uri="{BB962C8B-B14F-4D97-AF65-F5344CB8AC3E}">
        <p14:creationId xmlns:p14="http://schemas.microsoft.com/office/powerpoint/2010/main" val="34764777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72623-68EE-9BE1-A785-35E0F6AC812C}"/>
            </a:ext>
          </a:extLst>
        </p:cNvPr>
        <p:cNvGrpSpPr/>
        <p:nvPr/>
      </p:nvGrpSpPr>
      <p:grpSpPr>
        <a:xfrm>
          <a:off x="0" y="0"/>
          <a:ext cx="0" cy="0"/>
          <a:chOff x="0" y="0"/>
          <a:chExt cx="0" cy="0"/>
        </a:xfrm>
      </p:grpSpPr>
      <p:pic>
        <p:nvPicPr>
          <p:cNvPr id="19" name="תמונה 18">
            <a:extLst>
              <a:ext uri="{FF2B5EF4-FFF2-40B4-BE49-F238E27FC236}">
                <a16:creationId xmlns:a16="http://schemas.microsoft.com/office/drawing/2014/main" id="{B19ED8B0-19BA-F8D7-30AD-5685DB8FD5D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76000" y="69000"/>
            <a:ext cx="5040000" cy="6720000"/>
          </a:xfrm>
          <a:prstGeom prst="rect">
            <a:avLst/>
          </a:prstGeom>
        </p:spPr>
      </p:pic>
    </p:spTree>
    <p:extLst>
      <p:ext uri="{BB962C8B-B14F-4D97-AF65-F5344CB8AC3E}">
        <p14:creationId xmlns:p14="http://schemas.microsoft.com/office/powerpoint/2010/main" val="40859956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0E628-47BD-6260-5C46-98832D91ABE6}"/>
            </a:ext>
          </a:extLst>
        </p:cNvPr>
        <p:cNvGrpSpPr/>
        <p:nvPr/>
      </p:nvGrpSpPr>
      <p:grpSpPr>
        <a:xfrm>
          <a:off x="0" y="0"/>
          <a:ext cx="0" cy="0"/>
          <a:chOff x="0" y="0"/>
          <a:chExt cx="0" cy="0"/>
        </a:xfrm>
      </p:grpSpPr>
      <p:pic>
        <p:nvPicPr>
          <p:cNvPr id="7" name="תמונה 6">
            <a:extLst>
              <a:ext uri="{FF2B5EF4-FFF2-40B4-BE49-F238E27FC236}">
                <a16:creationId xmlns:a16="http://schemas.microsoft.com/office/drawing/2014/main" id="{DAB61A10-8B29-49B0-3AFC-5BDD9FA8BF4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76000" y="69000"/>
            <a:ext cx="5040000" cy="6720000"/>
          </a:xfrm>
          <a:prstGeom prst="rect">
            <a:avLst/>
          </a:prstGeom>
        </p:spPr>
      </p:pic>
    </p:spTree>
    <p:extLst>
      <p:ext uri="{BB962C8B-B14F-4D97-AF65-F5344CB8AC3E}">
        <p14:creationId xmlns:p14="http://schemas.microsoft.com/office/powerpoint/2010/main" val="5021632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99CBC-1520-0CBE-BC21-0526224BD942}"/>
            </a:ext>
          </a:extLst>
        </p:cNvPr>
        <p:cNvGrpSpPr/>
        <p:nvPr/>
      </p:nvGrpSpPr>
      <p:grpSpPr>
        <a:xfrm>
          <a:off x="0" y="0"/>
          <a:ext cx="0" cy="0"/>
          <a:chOff x="0" y="0"/>
          <a:chExt cx="0" cy="0"/>
        </a:xfrm>
      </p:grpSpPr>
      <p:pic>
        <p:nvPicPr>
          <p:cNvPr id="9" name="תמונה 8">
            <a:extLst>
              <a:ext uri="{FF2B5EF4-FFF2-40B4-BE49-F238E27FC236}">
                <a16:creationId xmlns:a16="http://schemas.microsoft.com/office/drawing/2014/main" id="{00A9FC20-B1A5-B007-B4F9-B25D07451CC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76000" y="118160"/>
            <a:ext cx="5040000" cy="6720000"/>
          </a:xfrm>
          <a:prstGeom prst="rect">
            <a:avLst/>
          </a:prstGeom>
        </p:spPr>
      </p:pic>
    </p:spTree>
    <p:extLst>
      <p:ext uri="{BB962C8B-B14F-4D97-AF65-F5344CB8AC3E}">
        <p14:creationId xmlns:p14="http://schemas.microsoft.com/office/powerpoint/2010/main" val="29865666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3C8D9-411E-9846-D153-D49129FDEC48}"/>
            </a:ext>
          </a:extLst>
        </p:cNvPr>
        <p:cNvGrpSpPr/>
        <p:nvPr/>
      </p:nvGrpSpPr>
      <p:grpSpPr>
        <a:xfrm>
          <a:off x="0" y="0"/>
          <a:ext cx="0" cy="0"/>
          <a:chOff x="0" y="0"/>
          <a:chExt cx="0" cy="0"/>
        </a:xfrm>
      </p:grpSpPr>
      <p:pic>
        <p:nvPicPr>
          <p:cNvPr id="15" name="תמונה 14">
            <a:extLst>
              <a:ext uri="{FF2B5EF4-FFF2-40B4-BE49-F238E27FC236}">
                <a16:creationId xmlns:a16="http://schemas.microsoft.com/office/drawing/2014/main" id="{1CF506BB-8B13-1A14-BDC0-3E91F1B1CA6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76000" y="69000"/>
            <a:ext cx="5040000" cy="6720000"/>
          </a:xfrm>
          <a:prstGeom prst="rect">
            <a:avLst/>
          </a:prstGeom>
        </p:spPr>
      </p:pic>
    </p:spTree>
    <p:extLst>
      <p:ext uri="{BB962C8B-B14F-4D97-AF65-F5344CB8AC3E}">
        <p14:creationId xmlns:p14="http://schemas.microsoft.com/office/powerpoint/2010/main" val="20451215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תמונה 10">
            <a:extLst>
              <a:ext uri="{FF2B5EF4-FFF2-40B4-BE49-F238E27FC236}">
                <a16:creationId xmlns:a16="http://schemas.microsoft.com/office/drawing/2014/main" id="{90A71A28-6E67-472D-266E-8B2360EDE65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76000" y="69000"/>
            <a:ext cx="5040000" cy="6720000"/>
          </a:xfrm>
          <a:prstGeom prst="rect">
            <a:avLst/>
          </a:prstGeom>
        </p:spPr>
      </p:pic>
    </p:spTree>
    <p:extLst>
      <p:ext uri="{BB962C8B-B14F-4D97-AF65-F5344CB8AC3E}">
        <p14:creationId xmlns:p14="http://schemas.microsoft.com/office/powerpoint/2010/main" val="9083710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7E268-6E70-01FC-1D4C-8BA04C3F367B}"/>
            </a:ext>
          </a:extLst>
        </p:cNvPr>
        <p:cNvGrpSpPr/>
        <p:nvPr/>
      </p:nvGrpSpPr>
      <p:grpSpPr>
        <a:xfrm>
          <a:off x="0" y="0"/>
          <a:ext cx="0" cy="0"/>
          <a:chOff x="0" y="0"/>
          <a:chExt cx="0" cy="0"/>
        </a:xfrm>
      </p:grpSpPr>
      <p:pic>
        <p:nvPicPr>
          <p:cNvPr id="13" name="תמונה 12">
            <a:extLst>
              <a:ext uri="{FF2B5EF4-FFF2-40B4-BE49-F238E27FC236}">
                <a16:creationId xmlns:a16="http://schemas.microsoft.com/office/drawing/2014/main" id="{C9CADA9A-D65B-F5AC-9011-25E9F73D7FB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76000" y="69000"/>
            <a:ext cx="5040000" cy="6720000"/>
          </a:xfrm>
          <a:prstGeom prst="rect">
            <a:avLst/>
          </a:prstGeom>
        </p:spPr>
      </p:pic>
    </p:spTree>
    <p:extLst>
      <p:ext uri="{BB962C8B-B14F-4D97-AF65-F5344CB8AC3E}">
        <p14:creationId xmlns:p14="http://schemas.microsoft.com/office/powerpoint/2010/main" val="40255338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a:extLst>
            <a:ext uri="{FF2B5EF4-FFF2-40B4-BE49-F238E27FC236}">
              <a16:creationId xmlns:a16="http://schemas.microsoft.com/office/drawing/2014/main" id="{4EC47AEC-3533-0C92-B12A-A7981645B12F}"/>
            </a:ext>
          </a:extLst>
        </p:cNvPr>
        <p:cNvGrpSpPr/>
        <p:nvPr/>
      </p:nvGrpSpPr>
      <p:grpSpPr>
        <a:xfrm>
          <a:off x="0" y="0"/>
          <a:ext cx="0" cy="0"/>
          <a:chOff x="0" y="0"/>
          <a:chExt cx="0" cy="0"/>
        </a:xfrm>
      </p:grpSpPr>
      <p:sp>
        <p:nvSpPr>
          <p:cNvPr id="4" name="כותרת 3">
            <a:extLst>
              <a:ext uri="{FF2B5EF4-FFF2-40B4-BE49-F238E27FC236}">
                <a16:creationId xmlns:a16="http://schemas.microsoft.com/office/drawing/2014/main" id="{C9A41B13-7669-76EA-6AC2-47310884014A}"/>
              </a:ext>
            </a:extLst>
          </p:cNvPr>
          <p:cNvSpPr>
            <a:spLocks noGrp="1"/>
          </p:cNvSpPr>
          <p:nvPr>
            <p:ph type="title"/>
          </p:nvPr>
        </p:nvSpPr>
        <p:spPr>
          <a:xfrm>
            <a:off x="-560438" y="133980"/>
            <a:ext cx="13480026" cy="1077218"/>
          </a:xfrm>
          <a:prstGeom prst="rect">
            <a:avLst/>
          </a:prstGeom>
          <a:noFill/>
        </p:spPr>
        <p:txBody>
          <a:bodyPr wrap="square" lIns="91440" tIns="45720" rIns="91440" bIns="45720">
            <a:spAutoFit/>
          </a:bodyPr>
          <a:lstStyle/>
          <a:p>
            <a:pPr indent="228600" algn="ctr" rtl="1">
              <a:buNone/>
            </a:pPr>
            <a:r>
              <a:rPr lang="he-IL" sz="70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David" panose="020E0502060401010101" pitchFamily="34" charset="-79"/>
                <a:ea typeface="+mn-ea"/>
                <a:cs typeface="David" panose="020E0502060401010101" pitchFamily="34" charset="-79"/>
              </a:rPr>
              <a:t>שיפוץ וצביעת השטחים המשותפים</a:t>
            </a:r>
            <a:endParaRPr lang="he-IL" sz="70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5" name="תיבת טקסט 4">
            <a:extLst>
              <a:ext uri="{FF2B5EF4-FFF2-40B4-BE49-F238E27FC236}">
                <a16:creationId xmlns:a16="http://schemas.microsoft.com/office/drawing/2014/main" id="{DD3AF13D-2999-8E6F-C904-ABE9CD2D95C9}"/>
              </a:ext>
            </a:extLst>
          </p:cNvPr>
          <p:cNvSpPr txBox="1"/>
          <p:nvPr/>
        </p:nvSpPr>
        <p:spPr>
          <a:xfrm>
            <a:off x="353963" y="1348800"/>
            <a:ext cx="11968722" cy="5509200"/>
          </a:xfrm>
          <a:prstGeom prst="rect">
            <a:avLst/>
          </a:prstGeom>
          <a:noFill/>
        </p:spPr>
        <p:txBody>
          <a:bodyPr wrap="square">
            <a:spAutoFit/>
          </a:bodyPr>
          <a:lstStyle/>
          <a:p>
            <a:pPr marL="1200150" indent="-742950" algn="just">
              <a:buAutoNum type="arabicPeriod"/>
            </a:pPr>
            <a:r>
              <a:rPr lang="he-IL" sz="3200" b="1" dirty="0">
                <a:solidFill>
                  <a:srgbClr val="222222"/>
                </a:solidFill>
                <a:latin typeface="David" panose="020E0502060401010101" pitchFamily="34" charset="-79"/>
                <a:cs typeface="David" panose="020E0502060401010101" pitchFamily="34" charset="-79"/>
              </a:rPr>
              <a:t>עפ"י החלטת האסיפה כללית מיום 19/12/23, דמי ועד הבית עלו ל- 2 ₪ למ"ר על מנת לבצע את עבודות השיפוץ הנרחבות.</a:t>
            </a:r>
          </a:p>
          <a:p>
            <a:pPr marL="1200150" indent="-742950" algn="just">
              <a:buAutoNum type="arabicPeriod"/>
            </a:pPr>
            <a:r>
              <a:rPr lang="he-IL" sz="3200" b="1" dirty="0">
                <a:solidFill>
                  <a:srgbClr val="222222"/>
                </a:solidFill>
                <a:latin typeface="David" panose="020E0502060401010101" pitchFamily="34" charset="-79"/>
                <a:cs typeface="David" panose="020E0502060401010101" pitchFamily="34" charset="-79"/>
              </a:rPr>
              <a:t>בוצעו תיקוני שפכטל וצביעה של כל מסדרונות הבניינים, דלתות, מעברים, תקרות, קירות, מקלטים, חדרי אשפה, ארונות פח, דלתות פח </a:t>
            </a:r>
            <a:r>
              <a:rPr lang="he-IL" sz="3200" b="1" dirty="0" err="1">
                <a:solidFill>
                  <a:srgbClr val="222222"/>
                </a:solidFill>
                <a:latin typeface="David" panose="020E0502060401010101" pitchFamily="34" charset="-79"/>
                <a:cs typeface="David" panose="020E0502060401010101" pitchFamily="34" charset="-79"/>
              </a:rPr>
              <a:t>וכו</a:t>
            </a:r>
            <a:r>
              <a:rPr lang="he-IL" sz="3200" b="1" dirty="0">
                <a:solidFill>
                  <a:srgbClr val="222222"/>
                </a:solidFill>
                <a:latin typeface="David" panose="020E0502060401010101" pitchFamily="34" charset="-79"/>
                <a:cs typeface="David" panose="020E0502060401010101" pitchFamily="34" charset="-79"/>
              </a:rPr>
              <a:t>'. </a:t>
            </a:r>
          </a:p>
          <a:p>
            <a:pPr marL="1200150" indent="-742950" algn="just">
              <a:buAutoNum type="arabicPeriod"/>
            </a:pPr>
            <a:r>
              <a:rPr lang="he-IL" sz="3200" b="1" dirty="0">
                <a:solidFill>
                  <a:srgbClr val="222222"/>
                </a:solidFill>
                <a:latin typeface="David" panose="020E0502060401010101" pitchFamily="34" charset="-79"/>
                <a:cs typeface="David" panose="020E0502060401010101" pitchFamily="34" charset="-79"/>
              </a:rPr>
              <a:t>נותר להחליף 1300 מגשי התקרה הישנים (שהחלפתם אושרה על ידי האסיפה הכללית ביום 19/12/23), מסוגים שונים והפגומים, החלפת 220 מכסי </a:t>
            </a:r>
            <a:r>
              <a:rPr lang="he-IL" sz="3200" b="1" dirty="0" err="1">
                <a:solidFill>
                  <a:srgbClr val="222222"/>
                </a:solidFill>
                <a:latin typeface="David" panose="020E0502060401010101" pitchFamily="34" charset="-79"/>
                <a:cs typeface="David" panose="020E0502060401010101" pitchFamily="34" charset="-79"/>
              </a:rPr>
              <a:t>המתזים</a:t>
            </a:r>
            <a:r>
              <a:rPr lang="he-IL" sz="3200" b="1" dirty="0">
                <a:solidFill>
                  <a:srgbClr val="222222"/>
                </a:solidFill>
                <a:latin typeface="David" panose="020E0502060401010101" pitchFamily="34" charset="-79"/>
                <a:cs typeface="David" panose="020E0502060401010101" pitchFamily="34" charset="-79"/>
              </a:rPr>
              <a:t>, חיזוק וצביעת מעקות פלדה בירידה מהמדורגים לרחוב הנרייטה סולד, עלות של כ- 70,000 ₪.</a:t>
            </a:r>
          </a:p>
          <a:p>
            <a:pPr marL="1200150" indent="-742950" algn="just">
              <a:buAutoNum type="arabicPeriod"/>
            </a:pPr>
            <a:r>
              <a:rPr lang="he-IL" sz="3200" b="1" dirty="0">
                <a:solidFill>
                  <a:srgbClr val="222222"/>
                </a:solidFill>
                <a:latin typeface="David" panose="020E0502060401010101" pitchFamily="34" charset="-79"/>
                <a:cs typeface="David" panose="020E0502060401010101" pitchFamily="34" charset="-79"/>
              </a:rPr>
              <a:t>חשוב להבהיר שכל תקציב ועד הבית בכל השנים 2019-2022 נותב לצורך מימון המזגנים של בעלי הדירות במדורגים.</a:t>
            </a:r>
          </a:p>
        </p:txBody>
      </p:sp>
    </p:spTree>
    <p:extLst>
      <p:ext uri="{BB962C8B-B14F-4D97-AF65-F5344CB8AC3E}">
        <p14:creationId xmlns:p14="http://schemas.microsoft.com/office/powerpoint/2010/main" val="1303302623"/>
      </p:ext>
    </p:extLst>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66600-CCEB-E31F-A9A5-420450A49960}"/>
            </a:ext>
          </a:extLst>
        </p:cNvPr>
        <p:cNvGrpSpPr/>
        <p:nvPr/>
      </p:nvGrpSpPr>
      <p:grpSpPr>
        <a:xfrm>
          <a:off x="0" y="0"/>
          <a:ext cx="0" cy="0"/>
          <a:chOff x="0" y="0"/>
          <a:chExt cx="0" cy="0"/>
        </a:xfrm>
      </p:grpSpPr>
      <p:pic>
        <p:nvPicPr>
          <p:cNvPr id="24" name="תמונה 23">
            <a:extLst>
              <a:ext uri="{FF2B5EF4-FFF2-40B4-BE49-F238E27FC236}">
                <a16:creationId xmlns:a16="http://schemas.microsoft.com/office/drawing/2014/main" id="{288FB770-8CD7-D9C1-E046-3E02C6FD1E4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76000" y="69000"/>
            <a:ext cx="5040000" cy="6720000"/>
          </a:xfrm>
          <a:prstGeom prst="rect">
            <a:avLst/>
          </a:prstGeom>
        </p:spPr>
      </p:pic>
    </p:spTree>
    <p:extLst>
      <p:ext uri="{BB962C8B-B14F-4D97-AF65-F5344CB8AC3E}">
        <p14:creationId xmlns:p14="http://schemas.microsoft.com/office/powerpoint/2010/main" val="18890760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44941-F6CA-1086-1D1F-68B54625E9AC}"/>
            </a:ext>
          </a:extLst>
        </p:cNvPr>
        <p:cNvGrpSpPr/>
        <p:nvPr/>
      </p:nvGrpSpPr>
      <p:grpSpPr>
        <a:xfrm>
          <a:off x="0" y="0"/>
          <a:ext cx="0" cy="0"/>
          <a:chOff x="0" y="0"/>
          <a:chExt cx="0" cy="0"/>
        </a:xfrm>
      </p:grpSpPr>
      <p:pic>
        <p:nvPicPr>
          <p:cNvPr id="12" name="תמונה 11">
            <a:extLst>
              <a:ext uri="{FF2B5EF4-FFF2-40B4-BE49-F238E27FC236}">
                <a16:creationId xmlns:a16="http://schemas.microsoft.com/office/drawing/2014/main" id="{FA77284B-0572-DD4F-B10F-8F90C6E7BEF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76000" y="69000"/>
            <a:ext cx="5040000" cy="6720000"/>
          </a:xfrm>
          <a:prstGeom prst="rect">
            <a:avLst/>
          </a:prstGeom>
        </p:spPr>
      </p:pic>
    </p:spTree>
    <p:extLst>
      <p:ext uri="{BB962C8B-B14F-4D97-AF65-F5344CB8AC3E}">
        <p14:creationId xmlns:p14="http://schemas.microsoft.com/office/powerpoint/2010/main" val="3635123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69AA5-36B6-A133-64F2-AEFDF727A0A4}"/>
            </a:ext>
          </a:extLst>
        </p:cNvPr>
        <p:cNvGrpSpPr/>
        <p:nvPr/>
      </p:nvGrpSpPr>
      <p:grpSpPr>
        <a:xfrm>
          <a:off x="0" y="0"/>
          <a:ext cx="0" cy="0"/>
          <a:chOff x="0" y="0"/>
          <a:chExt cx="0" cy="0"/>
        </a:xfrm>
      </p:grpSpPr>
      <p:pic>
        <p:nvPicPr>
          <p:cNvPr id="5" name="תמונה 4">
            <a:extLst>
              <a:ext uri="{FF2B5EF4-FFF2-40B4-BE49-F238E27FC236}">
                <a16:creationId xmlns:a16="http://schemas.microsoft.com/office/drawing/2014/main" id="{3F1EF7AE-4058-28E1-FF0A-4C0CABCFB95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76000" y="69000"/>
            <a:ext cx="5040000" cy="6720000"/>
          </a:xfrm>
          <a:prstGeom prst="rect">
            <a:avLst/>
          </a:prstGeom>
        </p:spPr>
      </p:pic>
    </p:spTree>
    <p:extLst>
      <p:ext uri="{BB962C8B-B14F-4D97-AF65-F5344CB8AC3E}">
        <p14:creationId xmlns:p14="http://schemas.microsoft.com/office/powerpoint/2010/main" val="14293975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4D6D9-55DD-1624-E441-814806718369}"/>
            </a:ext>
          </a:extLst>
        </p:cNvPr>
        <p:cNvGrpSpPr/>
        <p:nvPr/>
      </p:nvGrpSpPr>
      <p:grpSpPr>
        <a:xfrm>
          <a:off x="0" y="0"/>
          <a:ext cx="0" cy="0"/>
          <a:chOff x="0" y="0"/>
          <a:chExt cx="0" cy="0"/>
        </a:xfrm>
      </p:grpSpPr>
      <p:pic>
        <p:nvPicPr>
          <p:cNvPr id="22" name="תמונה 21">
            <a:extLst>
              <a:ext uri="{FF2B5EF4-FFF2-40B4-BE49-F238E27FC236}">
                <a16:creationId xmlns:a16="http://schemas.microsoft.com/office/drawing/2014/main" id="{D2A52B3B-C6D4-E13C-3FE4-975713E85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76000" y="69000"/>
            <a:ext cx="5040000" cy="6720000"/>
          </a:xfrm>
          <a:prstGeom prst="rect">
            <a:avLst/>
          </a:prstGeom>
        </p:spPr>
      </p:pic>
    </p:spTree>
    <p:extLst>
      <p:ext uri="{BB962C8B-B14F-4D97-AF65-F5344CB8AC3E}">
        <p14:creationId xmlns:p14="http://schemas.microsoft.com/office/powerpoint/2010/main" val="25372118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A2C46-DCCE-D4DC-66A1-EF2AAD622596}"/>
            </a:ext>
          </a:extLst>
        </p:cNvPr>
        <p:cNvGrpSpPr/>
        <p:nvPr/>
      </p:nvGrpSpPr>
      <p:grpSpPr>
        <a:xfrm>
          <a:off x="0" y="0"/>
          <a:ext cx="0" cy="0"/>
          <a:chOff x="0" y="0"/>
          <a:chExt cx="0" cy="0"/>
        </a:xfrm>
      </p:grpSpPr>
      <p:pic>
        <p:nvPicPr>
          <p:cNvPr id="20" name="תמונה 19">
            <a:extLst>
              <a:ext uri="{FF2B5EF4-FFF2-40B4-BE49-F238E27FC236}">
                <a16:creationId xmlns:a16="http://schemas.microsoft.com/office/drawing/2014/main" id="{61585EB7-CA15-96DA-2D1D-91ECD96EAFD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76000" y="69000"/>
            <a:ext cx="5040000" cy="6720000"/>
          </a:xfrm>
          <a:prstGeom prst="rect">
            <a:avLst/>
          </a:prstGeom>
        </p:spPr>
      </p:pic>
    </p:spTree>
    <p:extLst>
      <p:ext uri="{BB962C8B-B14F-4D97-AF65-F5344CB8AC3E}">
        <p14:creationId xmlns:p14="http://schemas.microsoft.com/office/powerpoint/2010/main" val="16723670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5B3B2-1479-1157-71B5-FDCD9E86DE3F}"/>
            </a:ext>
          </a:extLst>
        </p:cNvPr>
        <p:cNvGrpSpPr/>
        <p:nvPr/>
      </p:nvGrpSpPr>
      <p:grpSpPr>
        <a:xfrm>
          <a:off x="0" y="0"/>
          <a:ext cx="0" cy="0"/>
          <a:chOff x="0" y="0"/>
          <a:chExt cx="0" cy="0"/>
        </a:xfrm>
      </p:grpSpPr>
      <p:pic>
        <p:nvPicPr>
          <p:cNvPr id="8" name="תמונה 7">
            <a:extLst>
              <a:ext uri="{FF2B5EF4-FFF2-40B4-BE49-F238E27FC236}">
                <a16:creationId xmlns:a16="http://schemas.microsoft.com/office/drawing/2014/main" id="{5959FA53-3690-B95E-F1A5-44FA0D9819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76000" y="69000"/>
            <a:ext cx="5040000" cy="6720000"/>
          </a:xfrm>
          <a:prstGeom prst="rect">
            <a:avLst/>
          </a:prstGeom>
        </p:spPr>
      </p:pic>
    </p:spTree>
    <p:extLst>
      <p:ext uri="{BB962C8B-B14F-4D97-AF65-F5344CB8AC3E}">
        <p14:creationId xmlns:p14="http://schemas.microsoft.com/office/powerpoint/2010/main" val="1561954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1C7E9-2797-932A-1786-177E0970CBEB}"/>
            </a:ext>
          </a:extLst>
        </p:cNvPr>
        <p:cNvGrpSpPr/>
        <p:nvPr/>
      </p:nvGrpSpPr>
      <p:grpSpPr>
        <a:xfrm>
          <a:off x="0" y="0"/>
          <a:ext cx="0" cy="0"/>
          <a:chOff x="0" y="0"/>
          <a:chExt cx="0" cy="0"/>
        </a:xfrm>
      </p:grpSpPr>
      <p:pic>
        <p:nvPicPr>
          <p:cNvPr id="3" name="תמונה 2">
            <a:extLst>
              <a:ext uri="{FF2B5EF4-FFF2-40B4-BE49-F238E27FC236}">
                <a16:creationId xmlns:a16="http://schemas.microsoft.com/office/drawing/2014/main" id="{36DAF55F-19D4-7D4F-499A-FDE5E57C382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76000" y="69000"/>
            <a:ext cx="5040000" cy="6720000"/>
          </a:xfrm>
          <a:prstGeom prst="rect">
            <a:avLst/>
          </a:prstGeom>
        </p:spPr>
      </p:pic>
    </p:spTree>
    <p:extLst>
      <p:ext uri="{BB962C8B-B14F-4D97-AF65-F5344CB8AC3E}">
        <p14:creationId xmlns:p14="http://schemas.microsoft.com/office/powerpoint/2010/main" val="42921422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E62BC-4AC6-0DAA-276B-C1A733E9C5E4}"/>
            </a:ext>
          </a:extLst>
        </p:cNvPr>
        <p:cNvGrpSpPr/>
        <p:nvPr/>
      </p:nvGrpSpPr>
      <p:grpSpPr>
        <a:xfrm>
          <a:off x="0" y="0"/>
          <a:ext cx="0" cy="0"/>
          <a:chOff x="0" y="0"/>
          <a:chExt cx="0" cy="0"/>
        </a:xfrm>
      </p:grpSpPr>
      <p:pic>
        <p:nvPicPr>
          <p:cNvPr id="16" name="תמונה 15">
            <a:extLst>
              <a:ext uri="{FF2B5EF4-FFF2-40B4-BE49-F238E27FC236}">
                <a16:creationId xmlns:a16="http://schemas.microsoft.com/office/drawing/2014/main" id="{7C05F777-4633-29B1-39FE-13F94B3C937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76000" y="69000"/>
            <a:ext cx="5040000" cy="6720000"/>
          </a:xfrm>
          <a:prstGeom prst="rect">
            <a:avLst/>
          </a:prstGeom>
        </p:spPr>
      </p:pic>
    </p:spTree>
    <p:extLst>
      <p:ext uri="{BB962C8B-B14F-4D97-AF65-F5344CB8AC3E}">
        <p14:creationId xmlns:p14="http://schemas.microsoft.com/office/powerpoint/2010/main" val="19241963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14D3A-92BF-FC1A-AE5A-984A3C072D5C}"/>
            </a:ext>
          </a:extLst>
        </p:cNvPr>
        <p:cNvGrpSpPr/>
        <p:nvPr/>
      </p:nvGrpSpPr>
      <p:grpSpPr>
        <a:xfrm>
          <a:off x="0" y="0"/>
          <a:ext cx="0" cy="0"/>
          <a:chOff x="0" y="0"/>
          <a:chExt cx="0" cy="0"/>
        </a:xfrm>
      </p:grpSpPr>
      <p:sp>
        <p:nvSpPr>
          <p:cNvPr id="4" name="כותרת 3">
            <a:extLst>
              <a:ext uri="{FF2B5EF4-FFF2-40B4-BE49-F238E27FC236}">
                <a16:creationId xmlns:a16="http://schemas.microsoft.com/office/drawing/2014/main" id="{91FF0477-6F43-67FB-5626-0ADAD0D8C48E}"/>
              </a:ext>
            </a:extLst>
          </p:cNvPr>
          <p:cNvSpPr>
            <a:spLocks noGrp="1"/>
          </p:cNvSpPr>
          <p:nvPr>
            <p:ph type="title"/>
          </p:nvPr>
        </p:nvSpPr>
        <p:spPr>
          <a:xfrm>
            <a:off x="255638" y="1495778"/>
            <a:ext cx="11680723" cy="3866443"/>
          </a:xfrm>
          <a:prstGeom prst="rect">
            <a:avLst/>
          </a:prstGeom>
          <a:noFill/>
        </p:spPr>
        <p:txBody>
          <a:bodyPr wrap="square" lIns="91440" tIns="45720" rIns="91440" bIns="45720">
            <a:spAutoFit/>
          </a:bodyPr>
          <a:lstStyle/>
          <a:p>
            <a:pPr algn="ctr" rtl="1">
              <a:buNone/>
            </a:pPr>
            <a:r>
              <a:rPr lang="he-IL" sz="90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David" panose="020E0502060401010101" pitchFamily="34" charset="-79"/>
                <a:ea typeface="+mn-ea"/>
                <a:cs typeface="David" panose="020E0502060401010101" pitchFamily="34" charset="-79"/>
              </a:rPr>
              <a:t>פרויקט הרחקת יונים, כולל התקנת דוקרנים, רשתות בחניון וכו׳</a:t>
            </a:r>
          </a:p>
        </p:txBody>
      </p:sp>
    </p:spTree>
    <p:extLst>
      <p:ext uri="{BB962C8B-B14F-4D97-AF65-F5344CB8AC3E}">
        <p14:creationId xmlns:p14="http://schemas.microsoft.com/office/powerpoint/2010/main" val="16009342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78FA9-126B-BD65-8FB1-1BE5525900A9}"/>
            </a:ext>
          </a:extLst>
        </p:cNvPr>
        <p:cNvGrpSpPr/>
        <p:nvPr/>
      </p:nvGrpSpPr>
      <p:grpSpPr>
        <a:xfrm>
          <a:off x="0" y="0"/>
          <a:ext cx="0" cy="0"/>
          <a:chOff x="0" y="0"/>
          <a:chExt cx="0" cy="0"/>
        </a:xfrm>
      </p:grpSpPr>
      <p:pic>
        <p:nvPicPr>
          <p:cNvPr id="4" name="תמונה 3">
            <a:extLst>
              <a:ext uri="{FF2B5EF4-FFF2-40B4-BE49-F238E27FC236}">
                <a16:creationId xmlns:a16="http://schemas.microsoft.com/office/drawing/2014/main" id="{71DE874F-17D4-A909-C870-6DBEA95832DB}"/>
              </a:ext>
            </a:extLst>
          </p:cNvPr>
          <p:cNvPicPr preferRelativeResize="0">
            <a:picLocks/>
          </p:cNvPicPr>
          <p:nvPr/>
        </p:nvPicPr>
        <p:blipFill>
          <a:blip r:embed="rId2" cstate="screen">
            <a:extLst>
              <a:ext uri="{28A0092B-C50C-407E-A947-70E740481C1C}">
                <a14:useLocalDpi xmlns:a14="http://schemas.microsoft.com/office/drawing/2010/main" val="0"/>
              </a:ext>
            </a:extLst>
          </a:blip>
          <a:stretch>
            <a:fillRect/>
          </a:stretch>
        </p:blipFill>
        <p:spPr>
          <a:xfrm>
            <a:off x="3576000" y="68400"/>
            <a:ext cx="5040000" cy="6721200"/>
          </a:xfrm>
          <a:prstGeom prst="rect">
            <a:avLst/>
          </a:prstGeom>
        </p:spPr>
      </p:pic>
    </p:spTree>
    <p:extLst>
      <p:ext uri="{BB962C8B-B14F-4D97-AF65-F5344CB8AC3E}">
        <p14:creationId xmlns:p14="http://schemas.microsoft.com/office/powerpoint/2010/main" val="36339302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DD280-C2C7-2C08-04C9-05B68E6B6590}"/>
            </a:ext>
          </a:extLst>
        </p:cNvPr>
        <p:cNvGrpSpPr/>
        <p:nvPr/>
      </p:nvGrpSpPr>
      <p:grpSpPr>
        <a:xfrm>
          <a:off x="0" y="0"/>
          <a:ext cx="0" cy="0"/>
          <a:chOff x="0" y="0"/>
          <a:chExt cx="0" cy="0"/>
        </a:xfrm>
      </p:grpSpPr>
      <p:pic>
        <p:nvPicPr>
          <p:cNvPr id="32" name="תמונה 31">
            <a:extLst>
              <a:ext uri="{FF2B5EF4-FFF2-40B4-BE49-F238E27FC236}">
                <a16:creationId xmlns:a16="http://schemas.microsoft.com/office/drawing/2014/main" id="{1B619345-620A-F57A-D63F-B269EF4245A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76000" y="69000"/>
            <a:ext cx="5040000" cy="6720000"/>
          </a:xfrm>
          <a:prstGeom prst="rect">
            <a:avLst/>
          </a:prstGeom>
        </p:spPr>
      </p:pic>
    </p:spTree>
    <p:extLst>
      <p:ext uri="{BB962C8B-B14F-4D97-AF65-F5344CB8AC3E}">
        <p14:creationId xmlns:p14="http://schemas.microsoft.com/office/powerpoint/2010/main" val="39042797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B12A7-36F0-0EA4-3EBF-C91AB524917D}"/>
            </a:ext>
          </a:extLst>
        </p:cNvPr>
        <p:cNvGrpSpPr/>
        <p:nvPr/>
      </p:nvGrpSpPr>
      <p:grpSpPr>
        <a:xfrm>
          <a:off x="0" y="0"/>
          <a:ext cx="0" cy="0"/>
          <a:chOff x="0" y="0"/>
          <a:chExt cx="0" cy="0"/>
        </a:xfrm>
      </p:grpSpPr>
      <p:pic>
        <p:nvPicPr>
          <p:cNvPr id="28" name="תמונה 27">
            <a:extLst>
              <a:ext uri="{FF2B5EF4-FFF2-40B4-BE49-F238E27FC236}">
                <a16:creationId xmlns:a16="http://schemas.microsoft.com/office/drawing/2014/main" id="{3DFA31DC-C0CA-68A0-B25E-E099E5544A1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76000" y="69000"/>
            <a:ext cx="5040000" cy="6720000"/>
          </a:xfrm>
          <a:prstGeom prst="rect">
            <a:avLst/>
          </a:prstGeom>
        </p:spPr>
      </p:pic>
    </p:spTree>
    <p:extLst>
      <p:ext uri="{BB962C8B-B14F-4D97-AF65-F5344CB8AC3E}">
        <p14:creationId xmlns:p14="http://schemas.microsoft.com/office/powerpoint/2010/main" val="32753695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8E603-BBB9-5A75-34B5-0C72BA0733C7}"/>
            </a:ext>
          </a:extLst>
        </p:cNvPr>
        <p:cNvGrpSpPr/>
        <p:nvPr/>
      </p:nvGrpSpPr>
      <p:grpSpPr>
        <a:xfrm>
          <a:off x="0" y="0"/>
          <a:ext cx="0" cy="0"/>
          <a:chOff x="0" y="0"/>
          <a:chExt cx="0" cy="0"/>
        </a:xfrm>
      </p:grpSpPr>
      <p:pic>
        <p:nvPicPr>
          <p:cNvPr id="30" name="תמונה 29">
            <a:extLst>
              <a:ext uri="{FF2B5EF4-FFF2-40B4-BE49-F238E27FC236}">
                <a16:creationId xmlns:a16="http://schemas.microsoft.com/office/drawing/2014/main" id="{7CA9B484-791B-1CF2-E402-D03F065E12C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76000" y="69000"/>
            <a:ext cx="5040000" cy="6720000"/>
          </a:xfrm>
          <a:prstGeom prst="rect">
            <a:avLst/>
          </a:prstGeom>
        </p:spPr>
      </p:pic>
    </p:spTree>
    <p:extLst>
      <p:ext uri="{BB962C8B-B14F-4D97-AF65-F5344CB8AC3E}">
        <p14:creationId xmlns:p14="http://schemas.microsoft.com/office/powerpoint/2010/main" val="9351641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0980F-B9BF-71C1-5D82-F0D181566FD1}"/>
            </a:ext>
          </a:extLst>
        </p:cNvPr>
        <p:cNvGrpSpPr/>
        <p:nvPr/>
      </p:nvGrpSpPr>
      <p:grpSpPr>
        <a:xfrm>
          <a:off x="0" y="0"/>
          <a:ext cx="0" cy="0"/>
          <a:chOff x="0" y="0"/>
          <a:chExt cx="0" cy="0"/>
        </a:xfrm>
      </p:grpSpPr>
      <p:sp>
        <p:nvSpPr>
          <p:cNvPr id="4" name="כותרת 3">
            <a:extLst>
              <a:ext uri="{FF2B5EF4-FFF2-40B4-BE49-F238E27FC236}">
                <a16:creationId xmlns:a16="http://schemas.microsoft.com/office/drawing/2014/main" id="{79A8ECB7-01E4-A66E-7704-1C81CC8261B5}"/>
              </a:ext>
            </a:extLst>
          </p:cNvPr>
          <p:cNvSpPr>
            <a:spLocks noGrp="1"/>
          </p:cNvSpPr>
          <p:nvPr>
            <p:ph type="title"/>
          </p:nvPr>
        </p:nvSpPr>
        <p:spPr>
          <a:xfrm>
            <a:off x="4878135" y="2119025"/>
            <a:ext cx="7832093" cy="2619948"/>
          </a:xfrm>
          <a:prstGeom prst="rect">
            <a:avLst/>
          </a:prstGeom>
          <a:noFill/>
        </p:spPr>
        <p:txBody>
          <a:bodyPr wrap="square" lIns="91440" tIns="45720" rIns="91440" bIns="45720">
            <a:spAutoFit/>
          </a:bodyPr>
          <a:lstStyle/>
          <a:p>
            <a:pPr algn="ctr"/>
            <a:r>
              <a:rPr lang="he-IL" sz="90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David" panose="020E0502060401010101" pitchFamily="34" charset="-79"/>
                <a:ea typeface="+mn-ea"/>
                <a:cs typeface="David" panose="020E0502060401010101" pitchFamily="34" charset="-79"/>
              </a:rPr>
              <a:t>התקנת </a:t>
            </a:r>
            <a:r>
              <a:rPr lang="he-IL" sz="9000" b="1" u="sng" dirty="0" err="1">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David" panose="020E0502060401010101" pitchFamily="34" charset="-79"/>
                <a:ea typeface="+mn-ea"/>
                <a:cs typeface="David" panose="020E0502060401010101" pitchFamily="34" charset="-79"/>
              </a:rPr>
              <a:t>דיפיברילטור</a:t>
            </a:r>
            <a:endParaRPr lang="he-IL" sz="90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David" panose="020E0502060401010101" pitchFamily="34" charset="-79"/>
              <a:ea typeface="+mn-ea"/>
              <a:cs typeface="David" panose="020E0502060401010101" pitchFamily="34" charset="-79"/>
            </a:endParaRPr>
          </a:p>
        </p:txBody>
      </p:sp>
      <p:pic>
        <p:nvPicPr>
          <p:cNvPr id="3" name="תמונה 2">
            <a:extLst>
              <a:ext uri="{FF2B5EF4-FFF2-40B4-BE49-F238E27FC236}">
                <a16:creationId xmlns:a16="http://schemas.microsoft.com/office/drawing/2014/main" id="{2281983D-EF88-53AC-631A-EB97E775805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8832" y="257190"/>
            <a:ext cx="4757714" cy="6343617"/>
          </a:xfrm>
          <a:prstGeom prst="rect">
            <a:avLst/>
          </a:prstGeom>
        </p:spPr>
      </p:pic>
    </p:spTree>
    <p:extLst>
      <p:ext uri="{BB962C8B-B14F-4D97-AF65-F5344CB8AC3E}">
        <p14:creationId xmlns:p14="http://schemas.microsoft.com/office/powerpoint/2010/main" val="17823486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3F845-8DA0-326A-570F-84E7CF2104B0}"/>
            </a:ext>
          </a:extLst>
        </p:cNvPr>
        <p:cNvGrpSpPr/>
        <p:nvPr/>
      </p:nvGrpSpPr>
      <p:grpSpPr>
        <a:xfrm>
          <a:off x="0" y="0"/>
          <a:ext cx="0" cy="0"/>
          <a:chOff x="0" y="0"/>
          <a:chExt cx="0" cy="0"/>
        </a:xfrm>
      </p:grpSpPr>
      <p:sp>
        <p:nvSpPr>
          <p:cNvPr id="4" name="כותרת 3">
            <a:extLst>
              <a:ext uri="{FF2B5EF4-FFF2-40B4-BE49-F238E27FC236}">
                <a16:creationId xmlns:a16="http://schemas.microsoft.com/office/drawing/2014/main" id="{7F2333C9-846E-24C0-93CD-6C9A5E193BF2}"/>
              </a:ext>
            </a:extLst>
          </p:cNvPr>
          <p:cNvSpPr>
            <a:spLocks noGrp="1"/>
          </p:cNvSpPr>
          <p:nvPr>
            <p:ph type="title"/>
          </p:nvPr>
        </p:nvSpPr>
        <p:spPr>
          <a:xfrm>
            <a:off x="5938036" y="1705451"/>
            <a:ext cx="5968178" cy="3447098"/>
          </a:xfrm>
          <a:prstGeom prst="rect">
            <a:avLst/>
          </a:prstGeom>
          <a:noFill/>
        </p:spPr>
        <p:txBody>
          <a:bodyPr wrap="square" lIns="91440" tIns="45720" rIns="91440" bIns="45720">
            <a:spAutoFit/>
          </a:bodyPr>
          <a:lstStyle/>
          <a:p>
            <a:pPr algn="ctr"/>
            <a:r>
              <a:rPr lang="he-IL" sz="80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David" panose="020E0502060401010101" pitchFamily="34" charset="-79"/>
                <a:ea typeface="+mn-ea"/>
                <a:cs typeface="David" panose="020E0502060401010101" pitchFamily="34" charset="-79"/>
              </a:rPr>
              <a:t>תיבות דואר – </a:t>
            </a:r>
            <a:br>
              <a:rPr lang="he-IL" sz="80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David" panose="020E0502060401010101" pitchFamily="34" charset="-79"/>
                <a:ea typeface="+mn-ea"/>
                <a:cs typeface="David" panose="020E0502060401010101" pitchFamily="34" charset="-79"/>
              </a:rPr>
            </a:br>
            <a:r>
              <a:rPr lang="he-IL" sz="8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David" panose="020E0502060401010101" pitchFamily="34" charset="-79"/>
                <a:ea typeface="+mn-ea"/>
                <a:cs typeface="David" panose="020E0502060401010101" pitchFamily="34" charset="-79"/>
              </a:rPr>
              <a:t>שיקום ושיפור הנראות</a:t>
            </a:r>
          </a:p>
        </p:txBody>
      </p:sp>
      <p:pic>
        <p:nvPicPr>
          <p:cNvPr id="5" name="תמונה 4">
            <a:extLst>
              <a:ext uri="{FF2B5EF4-FFF2-40B4-BE49-F238E27FC236}">
                <a16:creationId xmlns:a16="http://schemas.microsoft.com/office/drawing/2014/main" id="{C56010D3-035E-55D0-C29F-FCF8C5C64F8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63346" y="282679"/>
            <a:ext cx="4719482" cy="6292642"/>
          </a:xfrm>
          <a:prstGeom prst="rect">
            <a:avLst/>
          </a:prstGeom>
        </p:spPr>
      </p:pic>
    </p:spTree>
    <p:extLst>
      <p:ext uri="{BB962C8B-B14F-4D97-AF65-F5344CB8AC3E}">
        <p14:creationId xmlns:p14="http://schemas.microsoft.com/office/powerpoint/2010/main" val="14788994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2C37C-950C-3EC6-A5A4-238C2E213EDF}"/>
            </a:ext>
          </a:extLst>
        </p:cNvPr>
        <p:cNvGrpSpPr/>
        <p:nvPr/>
      </p:nvGrpSpPr>
      <p:grpSpPr>
        <a:xfrm>
          <a:off x="0" y="0"/>
          <a:ext cx="0" cy="0"/>
          <a:chOff x="0" y="0"/>
          <a:chExt cx="0" cy="0"/>
        </a:xfrm>
      </p:grpSpPr>
      <p:sp>
        <p:nvSpPr>
          <p:cNvPr id="4" name="כותרת 3">
            <a:extLst>
              <a:ext uri="{FF2B5EF4-FFF2-40B4-BE49-F238E27FC236}">
                <a16:creationId xmlns:a16="http://schemas.microsoft.com/office/drawing/2014/main" id="{33BE951E-4FF9-234D-B3D0-8373A5E06F49}"/>
              </a:ext>
            </a:extLst>
          </p:cNvPr>
          <p:cNvSpPr>
            <a:spLocks noGrp="1"/>
          </p:cNvSpPr>
          <p:nvPr>
            <p:ph type="title"/>
          </p:nvPr>
        </p:nvSpPr>
        <p:spPr>
          <a:xfrm>
            <a:off x="255636" y="1961318"/>
            <a:ext cx="11680723" cy="3997248"/>
          </a:xfrm>
          <a:prstGeom prst="rect">
            <a:avLst/>
          </a:prstGeom>
          <a:noFill/>
        </p:spPr>
        <p:txBody>
          <a:bodyPr wrap="square" lIns="91440" tIns="45720" rIns="91440" bIns="45720">
            <a:spAutoFit/>
          </a:bodyPr>
          <a:lstStyle/>
          <a:p>
            <a:pPr algn="ctr" rtl="1">
              <a:buNone/>
            </a:pPr>
            <a:r>
              <a:rPr lang="he-IL" sz="7000" b="1" dirty="0">
                <a:latin typeface="David" panose="020E0502060401010101" pitchFamily="34" charset="-79"/>
                <a:ea typeface="+mn-ea"/>
                <a:cs typeface="David" panose="020E0502060401010101" pitchFamily="34" charset="-79"/>
              </a:rPr>
              <a:t>הליך שהיה תקוע שנים רבות </a:t>
            </a:r>
            <a:br>
              <a:rPr lang="he-IL" sz="7000" b="1" dirty="0">
                <a:latin typeface="David" panose="020E0502060401010101" pitchFamily="34" charset="-79"/>
                <a:ea typeface="+mn-ea"/>
                <a:cs typeface="David" panose="020E0502060401010101" pitchFamily="34" charset="-79"/>
              </a:rPr>
            </a:br>
            <a:r>
              <a:rPr lang="he-IL" sz="7000" b="1" dirty="0">
                <a:latin typeface="David" panose="020E0502060401010101" pitchFamily="34" charset="-79"/>
                <a:ea typeface="+mn-ea"/>
                <a:cs typeface="David" panose="020E0502060401010101" pitchFamily="34" charset="-79"/>
              </a:rPr>
              <a:t>פגישות ושיחות רבות עם משרד עורכי הדין אטיאס </a:t>
            </a:r>
            <a:r>
              <a:rPr lang="he-IL" sz="7000" b="1" dirty="0" err="1">
                <a:latin typeface="David" panose="020E0502060401010101" pitchFamily="34" charset="-79"/>
                <a:ea typeface="+mn-ea"/>
                <a:cs typeface="David" panose="020E0502060401010101" pitchFamily="34" charset="-79"/>
              </a:rPr>
              <a:t>גראור</a:t>
            </a:r>
            <a:br>
              <a:rPr lang="he-IL" sz="7000" b="1" dirty="0">
                <a:latin typeface="David" panose="020E0502060401010101" pitchFamily="34" charset="-79"/>
                <a:ea typeface="+mn-ea"/>
                <a:cs typeface="David" panose="020E0502060401010101" pitchFamily="34" charset="-79"/>
              </a:rPr>
            </a:br>
            <a:r>
              <a:rPr lang="he-IL" sz="7000" b="1" dirty="0">
                <a:latin typeface="David" panose="020E0502060401010101" pitchFamily="34" charset="-79"/>
                <a:ea typeface="+mn-ea"/>
                <a:cs typeface="David" panose="020E0502060401010101" pitchFamily="34" charset="-79"/>
              </a:rPr>
              <a:t> עד שהתיק הופקד לרישום</a:t>
            </a:r>
          </a:p>
        </p:txBody>
      </p:sp>
      <p:sp>
        <p:nvSpPr>
          <p:cNvPr id="3" name="תיבת טקסט 2">
            <a:extLst>
              <a:ext uri="{FF2B5EF4-FFF2-40B4-BE49-F238E27FC236}">
                <a16:creationId xmlns:a16="http://schemas.microsoft.com/office/drawing/2014/main" id="{1E36A053-18B8-A080-1BE0-4F77E44BCD49}"/>
              </a:ext>
            </a:extLst>
          </p:cNvPr>
          <p:cNvSpPr txBox="1"/>
          <p:nvPr/>
        </p:nvSpPr>
        <p:spPr>
          <a:xfrm>
            <a:off x="668592" y="188961"/>
            <a:ext cx="10854813" cy="1477328"/>
          </a:xfrm>
          <a:prstGeom prst="rect">
            <a:avLst/>
          </a:prstGeom>
          <a:noFill/>
        </p:spPr>
        <p:txBody>
          <a:bodyPr wrap="square">
            <a:spAutoFit/>
          </a:bodyPr>
          <a:lstStyle/>
          <a:p>
            <a:pPr algn="ctr"/>
            <a:r>
              <a:rPr lang="he-IL" sz="90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David" panose="020E0502060401010101" pitchFamily="34" charset="-79"/>
                <a:ea typeface="+mn-ea"/>
                <a:cs typeface="David" panose="020E0502060401010101" pitchFamily="34" charset="-79"/>
              </a:rPr>
              <a:t>קידום רישום בית משותף</a:t>
            </a:r>
            <a:endParaRPr lang="he-IL" sz="9000" dirty="0"/>
          </a:p>
        </p:txBody>
      </p:sp>
    </p:spTree>
    <p:extLst>
      <p:ext uri="{BB962C8B-B14F-4D97-AF65-F5344CB8AC3E}">
        <p14:creationId xmlns:p14="http://schemas.microsoft.com/office/powerpoint/2010/main" val="31920448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6119B-585D-3FAE-574C-50EB34D0BDDE}"/>
            </a:ext>
          </a:extLst>
        </p:cNvPr>
        <p:cNvGrpSpPr/>
        <p:nvPr/>
      </p:nvGrpSpPr>
      <p:grpSpPr>
        <a:xfrm>
          <a:off x="0" y="0"/>
          <a:ext cx="0" cy="0"/>
          <a:chOff x="0" y="0"/>
          <a:chExt cx="0" cy="0"/>
        </a:xfrm>
      </p:grpSpPr>
      <p:sp>
        <p:nvSpPr>
          <p:cNvPr id="4" name="כותרת 3">
            <a:extLst>
              <a:ext uri="{FF2B5EF4-FFF2-40B4-BE49-F238E27FC236}">
                <a16:creationId xmlns:a16="http://schemas.microsoft.com/office/drawing/2014/main" id="{F747D08E-003F-A320-DAEF-4128638AD005}"/>
              </a:ext>
            </a:extLst>
          </p:cNvPr>
          <p:cNvSpPr>
            <a:spLocks noGrp="1"/>
          </p:cNvSpPr>
          <p:nvPr>
            <p:ph type="title"/>
          </p:nvPr>
        </p:nvSpPr>
        <p:spPr>
          <a:xfrm>
            <a:off x="255636" y="264543"/>
            <a:ext cx="11680723" cy="1373453"/>
          </a:xfrm>
          <a:prstGeom prst="rect">
            <a:avLst/>
          </a:prstGeom>
          <a:noFill/>
        </p:spPr>
        <p:txBody>
          <a:bodyPr wrap="square" lIns="91440" tIns="45720" rIns="91440" bIns="45720">
            <a:spAutoFit/>
          </a:bodyPr>
          <a:lstStyle/>
          <a:p>
            <a:pPr algn="ctr" rtl="1">
              <a:buNone/>
            </a:pPr>
            <a:r>
              <a:rPr lang="he-IL" sz="90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David" panose="020E0502060401010101" pitchFamily="34" charset="-79"/>
                <a:ea typeface="+mn-ea"/>
                <a:cs typeface="David" panose="020E0502060401010101" pitchFamily="34" charset="-79"/>
              </a:rPr>
              <a:t>גביית תשלומי ועד בית</a:t>
            </a:r>
            <a:endParaRPr lang="he-IL" sz="9000" b="1" dirty="0">
              <a:latin typeface="David" panose="020E0502060401010101" pitchFamily="34" charset="-79"/>
              <a:ea typeface="+mn-ea"/>
              <a:cs typeface="David" panose="020E0502060401010101" pitchFamily="34" charset="-79"/>
            </a:endParaRPr>
          </a:p>
        </p:txBody>
      </p:sp>
      <p:sp>
        <p:nvSpPr>
          <p:cNvPr id="2" name="כותרת 3">
            <a:extLst>
              <a:ext uri="{FF2B5EF4-FFF2-40B4-BE49-F238E27FC236}">
                <a16:creationId xmlns:a16="http://schemas.microsoft.com/office/drawing/2014/main" id="{CD341D1B-CF1D-7418-4875-D0EC38E8275F}"/>
              </a:ext>
            </a:extLst>
          </p:cNvPr>
          <p:cNvSpPr txBox="1">
            <a:spLocks/>
          </p:cNvSpPr>
          <p:nvPr/>
        </p:nvSpPr>
        <p:spPr>
          <a:xfrm>
            <a:off x="255636" y="1916918"/>
            <a:ext cx="11680723" cy="3997248"/>
          </a:xfrm>
          <a:prstGeom prst="rect">
            <a:avLst/>
          </a:prstGeom>
          <a:noFill/>
        </p:spPr>
        <p:txBody>
          <a:bodyPr vert="horz" wrap="square" lIns="91440" tIns="45720" rIns="91440" bIns="45720" rtlCol="1" anchor="ctr">
            <a:sp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pPr algn="ctr"/>
            <a:r>
              <a:rPr lang="he-IL" sz="7000" b="1" dirty="0">
                <a:latin typeface="David" panose="020E0502060401010101" pitchFamily="34" charset="-79"/>
                <a:ea typeface="+mn-ea"/>
                <a:cs typeface="David" panose="020E0502060401010101" pitchFamily="34" charset="-79"/>
              </a:rPr>
              <a:t>הגשת תביעות כנגד סרבני תשלום ועד בית.</a:t>
            </a:r>
            <a:br>
              <a:rPr lang="he-IL" sz="7000" b="1" dirty="0">
                <a:latin typeface="David" panose="020E0502060401010101" pitchFamily="34" charset="-79"/>
                <a:ea typeface="+mn-ea"/>
                <a:cs typeface="David" panose="020E0502060401010101" pitchFamily="34" charset="-79"/>
              </a:rPr>
            </a:br>
            <a:r>
              <a:rPr lang="he-IL" sz="7000" b="1" dirty="0">
                <a:latin typeface="David" panose="020E0502060401010101" pitchFamily="34" charset="-79"/>
                <a:ea typeface="+mn-ea"/>
                <a:cs typeface="David" panose="020E0502060401010101" pitchFamily="34" charset="-79"/>
              </a:rPr>
              <a:t>נכון להיום, כל הדיירים משלמים באופן סדיר</a:t>
            </a:r>
          </a:p>
        </p:txBody>
      </p:sp>
    </p:spTree>
    <p:extLst>
      <p:ext uri="{BB962C8B-B14F-4D97-AF65-F5344CB8AC3E}">
        <p14:creationId xmlns:p14="http://schemas.microsoft.com/office/powerpoint/2010/main" val="2483640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a:extLst>
            <a:ext uri="{FF2B5EF4-FFF2-40B4-BE49-F238E27FC236}">
              <a16:creationId xmlns:a16="http://schemas.microsoft.com/office/drawing/2014/main" id="{BBEBDFC1-E295-E494-9B23-E0D1688E7357}"/>
            </a:ext>
          </a:extLst>
        </p:cNvPr>
        <p:cNvGrpSpPr/>
        <p:nvPr/>
      </p:nvGrpSpPr>
      <p:grpSpPr>
        <a:xfrm>
          <a:off x="0" y="0"/>
          <a:ext cx="0" cy="0"/>
          <a:chOff x="0" y="0"/>
          <a:chExt cx="0" cy="0"/>
        </a:xfrm>
      </p:grpSpPr>
      <p:sp>
        <p:nvSpPr>
          <p:cNvPr id="4" name="כותרת 3">
            <a:extLst>
              <a:ext uri="{FF2B5EF4-FFF2-40B4-BE49-F238E27FC236}">
                <a16:creationId xmlns:a16="http://schemas.microsoft.com/office/drawing/2014/main" id="{098F6C51-5FE7-7DD8-E34D-9D3DDE93DF2F}"/>
              </a:ext>
            </a:extLst>
          </p:cNvPr>
          <p:cNvSpPr>
            <a:spLocks noGrp="1"/>
          </p:cNvSpPr>
          <p:nvPr>
            <p:ph type="title"/>
          </p:nvPr>
        </p:nvSpPr>
        <p:spPr>
          <a:xfrm>
            <a:off x="213850" y="2037314"/>
            <a:ext cx="11764297" cy="4593565"/>
          </a:xfrm>
          <a:prstGeom prst="rect">
            <a:avLst/>
          </a:prstGeom>
          <a:noFill/>
        </p:spPr>
        <p:txBody>
          <a:bodyPr wrap="square" lIns="91440" tIns="45720" rIns="91440" bIns="45720">
            <a:spAutoFit/>
          </a:bodyPr>
          <a:lstStyle/>
          <a:p>
            <a:pPr rtl="1"/>
            <a:r>
              <a:rPr lang="he-IL" sz="3600" b="1" dirty="0">
                <a:latin typeface="David" panose="020E0502060401010101" pitchFamily="34" charset="-79"/>
                <a:ea typeface="+mn-ea"/>
                <a:cs typeface="David" panose="020E0502060401010101" pitchFamily="34" charset="-79"/>
              </a:rPr>
              <a:t>דיירי יחידות הדיור אינם משלמים דמי ניהול וועד בית, צורכים את כל המשאבים של הבית המשותף וגורמים לנזקים רבים.</a:t>
            </a:r>
            <a:br>
              <a:rPr lang="he-IL" sz="3600" b="1" dirty="0">
                <a:latin typeface="David" panose="020E0502060401010101" pitchFamily="34" charset="-79"/>
                <a:ea typeface="+mn-ea"/>
                <a:cs typeface="David" panose="020E0502060401010101" pitchFamily="34" charset="-79"/>
              </a:rPr>
            </a:br>
            <a:r>
              <a:rPr lang="he-IL" sz="3600" b="1" dirty="0">
                <a:latin typeface="David" panose="020E0502060401010101" pitchFamily="34" charset="-79"/>
                <a:ea typeface="+mn-ea"/>
                <a:cs typeface="David" panose="020E0502060401010101" pitchFamily="34" charset="-79"/>
              </a:rPr>
              <a:t>הוקמו 7 יחידות דיור במקום מחסנים. </a:t>
            </a:r>
            <a:br>
              <a:rPr lang="he-IL" sz="3600" b="1" dirty="0">
                <a:latin typeface="David" panose="020E0502060401010101" pitchFamily="34" charset="-79"/>
                <a:ea typeface="+mn-ea"/>
                <a:cs typeface="David" panose="020E0502060401010101" pitchFamily="34" charset="-79"/>
              </a:rPr>
            </a:br>
            <a:r>
              <a:rPr lang="he-IL" sz="3600" b="1" dirty="0">
                <a:latin typeface="David" panose="020E0502060401010101" pitchFamily="34" charset="-79"/>
                <a:ea typeface="+mn-ea"/>
                <a:cs typeface="David" panose="020E0502060401010101" pitchFamily="34" charset="-79"/>
              </a:rPr>
              <a:t>נכון להיום יש 5 יחידות דיור פעילות. </a:t>
            </a:r>
            <a:br>
              <a:rPr lang="he-IL" sz="3600" b="1" dirty="0">
                <a:latin typeface="David" panose="020E0502060401010101" pitchFamily="34" charset="-79"/>
                <a:ea typeface="+mn-ea"/>
                <a:cs typeface="David" panose="020E0502060401010101" pitchFamily="34" charset="-79"/>
              </a:rPr>
            </a:br>
            <a:r>
              <a:rPr lang="he-IL" sz="3600" b="1" dirty="0">
                <a:latin typeface="David" panose="020E0502060401010101" pitchFamily="34" charset="-79"/>
                <a:ea typeface="+mn-ea"/>
                <a:cs typeface="David" panose="020E0502060401010101" pitchFamily="34" charset="-79"/>
              </a:rPr>
              <a:t>ההליך מצוי בעיצומו ומטרת הועד היא מלחמת חורמה בעברייני הרכוש המשותף על מנת למגר את הפגיעות ברכוש המשותף ולסגור את כל יחידות הדיור שהוקמו שלא כדין.</a:t>
            </a:r>
            <a:br>
              <a:rPr lang="he-IL" sz="3600" b="1" dirty="0">
                <a:latin typeface="David" panose="020E0502060401010101" pitchFamily="34" charset="-79"/>
                <a:ea typeface="+mn-ea"/>
                <a:cs typeface="David" panose="020E0502060401010101" pitchFamily="34" charset="-79"/>
              </a:rPr>
            </a:br>
            <a:r>
              <a:rPr lang="he-IL" sz="3600" b="1" dirty="0">
                <a:latin typeface="David" panose="020E0502060401010101" pitchFamily="34" charset="-79"/>
                <a:ea typeface="+mn-ea"/>
                <a:cs typeface="David" panose="020E0502060401010101" pitchFamily="34" charset="-79"/>
              </a:rPr>
              <a:t>הוגשה חוות דעת מומחה בית משפט על פיה נקבעו הממצאים של כל הנזקים לרכוש המשותף.</a:t>
            </a:r>
          </a:p>
        </p:txBody>
      </p:sp>
      <p:sp>
        <p:nvSpPr>
          <p:cNvPr id="3" name="תיבת טקסט 2">
            <a:extLst>
              <a:ext uri="{FF2B5EF4-FFF2-40B4-BE49-F238E27FC236}">
                <a16:creationId xmlns:a16="http://schemas.microsoft.com/office/drawing/2014/main" id="{79920FC0-497B-A298-436A-C487CAFE6269}"/>
              </a:ext>
            </a:extLst>
          </p:cNvPr>
          <p:cNvSpPr txBox="1"/>
          <p:nvPr/>
        </p:nvSpPr>
        <p:spPr>
          <a:xfrm>
            <a:off x="290051" y="98322"/>
            <a:ext cx="11611897" cy="1938992"/>
          </a:xfrm>
          <a:prstGeom prst="rect">
            <a:avLst/>
          </a:prstGeom>
          <a:noFill/>
        </p:spPr>
        <p:txBody>
          <a:bodyPr wrap="square">
            <a:spAutoFit/>
          </a:bodyPr>
          <a:lstStyle/>
          <a:p>
            <a:pPr algn="ctr"/>
            <a:r>
              <a:rPr lang="he-IL" sz="60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David" panose="020E0502060401010101" pitchFamily="34" charset="-79"/>
                <a:ea typeface="+mn-ea"/>
                <a:cs typeface="David" panose="020E0502060401010101" pitchFamily="34" charset="-79"/>
              </a:rPr>
              <a:t>הגשת תביעה כנגד דיירים שפגעו ברכוש המשותף והקימו יחידות דיור במחסנים</a:t>
            </a:r>
            <a:endParaRPr lang="he-IL" sz="6000" dirty="0"/>
          </a:p>
        </p:txBody>
      </p:sp>
    </p:spTree>
    <p:extLst>
      <p:ext uri="{BB962C8B-B14F-4D97-AF65-F5344CB8AC3E}">
        <p14:creationId xmlns:p14="http://schemas.microsoft.com/office/powerpoint/2010/main" val="674392025"/>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57</TotalTime>
  <Words>376</Words>
  <Application>Microsoft Office PowerPoint</Application>
  <PresentationFormat>מסך רחב</PresentationFormat>
  <Paragraphs>34</Paragraphs>
  <Slides>42</Slides>
  <Notes>0</Notes>
  <HiddenSlides>0</HiddenSlides>
  <MMClips>0</MMClips>
  <ScaleCrop>false</ScaleCrop>
  <HeadingPairs>
    <vt:vector size="6" baseType="variant">
      <vt:variant>
        <vt:lpstr>גופנים בשימוש</vt:lpstr>
      </vt:variant>
      <vt:variant>
        <vt:i4>4</vt:i4>
      </vt:variant>
      <vt:variant>
        <vt:lpstr>ערכת נושא</vt:lpstr>
      </vt:variant>
      <vt:variant>
        <vt:i4>1</vt:i4>
      </vt:variant>
      <vt:variant>
        <vt:lpstr>כותרות שקופיות</vt:lpstr>
      </vt:variant>
      <vt:variant>
        <vt:i4>42</vt:i4>
      </vt:variant>
    </vt:vector>
  </HeadingPairs>
  <TitlesOfParts>
    <vt:vector size="47" baseType="lpstr">
      <vt:lpstr>Arial</vt:lpstr>
      <vt:lpstr>Calibri</vt:lpstr>
      <vt:lpstr>Calibri Light</vt:lpstr>
      <vt:lpstr>David</vt:lpstr>
      <vt:lpstr>ערכת נושא Office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החלפת מערכת אינטרקום  בכל הכניסות ובכל הדירות </vt:lpstr>
      <vt:lpstr>החלפת דלת כניסה במגדל</vt:lpstr>
      <vt:lpstr>עבודות שיפוצים ותחזוקה</vt:lpstr>
      <vt:lpstr>מצגת של PowerPoint‏</vt:lpstr>
      <vt:lpstr>מצגת של PowerPoint‏</vt:lpstr>
      <vt:lpstr>מצגת של PowerPoint‏</vt:lpstr>
      <vt:lpstr>מצגת של PowerPoint‏</vt:lpstr>
      <vt:lpstr>מצגת של PowerPoint‏</vt:lpstr>
      <vt:lpstr>מצגת של PowerPoint‏</vt:lpstr>
      <vt:lpstr>גופי תאורה</vt:lpstr>
      <vt:lpstr>מצגת של PowerPoint‏</vt:lpstr>
      <vt:lpstr>מצגת של PowerPoint‏</vt:lpstr>
      <vt:lpstr>מצגת של PowerPoint‏</vt:lpstr>
      <vt:lpstr>מצגת של PowerPoint‏</vt:lpstr>
      <vt:lpstr>מצגת של PowerPoint‏</vt:lpstr>
      <vt:lpstr>מצגת של PowerPoint‏</vt:lpstr>
      <vt:lpstr>שיפוץ וצביעת השטחים המשותפים</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פרויקט הרחקת יונים, כולל התקנת דוקרנים, רשתות בחניון וכו׳</vt:lpstr>
      <vt:lpstr>מצגת של PowerPoint‏</vt:lpstr>
      <vt:lpstr>מצגת של PowerPoint‏</vt:lpstr>
      <vt:lpstr>מצגת של PowerPoint‏</vt:lpstr>
      <vt:lpstr>מצגת של PowerPoint‏</vt:lpstr>
      <vt:lpstr>התקנת דיפיברילטור</vt:lpstr>
      <vt:lpstr>תיבות דואר –  שיקום ושיפור הנראות</vt:lpstr>
      <vt:lpstr>הליך שהיה תקוע שנים רבות  פגישות ושיחות רבות עם משרד עורכי הדין אטיאס גראור  עד שהתיק הופקד לרישום</vt:lpstr>
      <vt:lpstr>גביית תשלומי ועד בית</vt:lpstr>
      <vt:lpstr>דיירי יחידות הדיור אינם משלמים דמי ניהול וועד בית, צורכים את כל המשאבים של הבית המשותף וגורמים לנזקים רבים. הוקמו 7 יחידות דיור במקום מחסנים.  נכון להיום יש 5 יחידות דיור פעילות.  ההליך מצוי בעיצומו ומטרת הועד היא מלחמת חורמה בעברייני הרכוש המשותף על מנת למגר את הפגיעות ברכוש המשותף ולסגור את כל יחידות הדיור שהוקמו שלא כדין. הוגשה חוות דעת מומחה בית משפט על פיה נקבעו הממצאים של כל הנזקים לרכוש המשותף.</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Sivan Waisman</dc:creator>
  <cp:lastModifiedBy>Sivan Waisman</cp:lastModifiedBy>
  <cp:revision>12</cp:revision>
  <dcterms:created xsi:type="dcterms:W3CDTF">2025-03-30T09:09:45Z</dcterms:created>
  <dcterms:modified xsi:type="dcterms:W3CDTF">2025-03-31T08:21:29Z</dcterms:modified>
</cp:coreProperties>
</file>